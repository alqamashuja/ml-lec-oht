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39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397" r:id="rId28"/>
    <p:sldId id="398" r:id="rId29"/>
    <p:sldId id="399" r:id="rId30"/>
    <p:sldId id="400" r:id="rId31"/>
    <p:sldId id="401" r:id="rId32"/>
    <p:sldId id="402" r:id="rId33"/>
    <p:sldId id="403" r:id="rId34"/>
    <p:sldId id="404" r:id="rId35"/>
    <p:sldId id="405" r:id="rId36"/>
    <p:sldId id="406" r:id="rId37"/>
    <p:sldId id="407" r:id="rId38"/>
    <p:sldId id="408" r:id="rId39"/>
    <p:sldId id="409" r:id="rId40"/>
    <p:sldId id="410" r:id="rId41"/>
    <p:sldId id="411" r:id="rId42"/>
    <p:sldId id="412" r:id="rId43"/>
    <p:sldId id="422" r:id="rId44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06" d="100"/>
          <a:sy n="206" d="100"/>
        </p:scale>
        <p:origin x="99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2B232-80AD-4595-8E92-44B22082848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9BACC-4F3D-46A7-9BF5-E1F75C530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2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“This is the average loss over the training data. We call it the empirical risk.”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9BACC-4F3D-46A7-9BF5-E1F75C5308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73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D22A-C804-09D8-DB30-4623EA6A4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725" y="787545"/>
            <a:ext cx="4324350" cy="873188"/>
          </a:xfrm>
        </p:spPr>
        <p:txBody>
          <a:bodyPr anchor="b"/>
          <a:lstStyle>
            <a:lvl1pPr algn="ctr">
              <a:defRPr sz="28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A56539-D7FD-FA2F-FDAC-0F41AAF95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725" y="1704297"/>
            <a:ext cx="4324350" cy="174663"/>
          </a:xfrm>
        </p:spPr>
        <p:txBody>
          <a:bodyPr/>
          <a:lstStyle>
            <a:lvl1pPr marL="0" indent="0" algn="ctr">
              <a:buNone/>
              <a:defRPr sz="1135"/>
            </a:lvl1pPr>
            <a:lvl2pPr marL="216210" indent="0" algn="ctr">
              <a:buNone/>
              <a:defRPr sz="946"/>
            </a:lvl2pPr>
            <a:lvl3pPr marL="432420" indent="0" algn="ctr">
              <a:buNone/>
              <a:defRPr sz="851"/>
            </a:lvl3pPr>
            <a:lvl4pPr marL="648630" indent="0" algn="ctr">
              <a:buNone/>
              <a:defRPr sz="757"/>
            </a:lvl4pPr>
            <a:lvl5pPr marL="864840" indent="0" algn="ctr">
              <a:buNone/>
              <a:defRPr sz="757"/>
            </a:lvl5pPr>
            <a:lvl6pPr marL="1081049" indent="0" algn="ctr">
              <a:buNone/>
              <a:defRPr sz="757"/>
            </a:lvl6pPr>
            <a:lvl7pPr marL="1297259" indent="0" algn="ctr">
              <a:buNone/>
              <a:defRPr sz="757"/>
            </a:lvl7pPr>
            <a:lvl8pPr marL="1513469" indent="0" algn="ctr">
              <a:buNone/>
              <a:defRPr sz="757"/>
            </a:lvl8pPr>
            <a:lvl9pPr marL="1729679" indent="0" algn="ctr">
              <a:buNone/>
              <a:defRPr sz="75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5537E-BD0F-B1ED-40A3-E9BE41D873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8290" y="3017710"/>
            <a:ext cx="1326134" cy="276999"/>
          </a:xfrm>
        </p:spPr>
        <p:txBody>
          <a:bodyPr/>
          <a:lstStyle/>
          <a:p>
            <a:fld id="{7BB7CD0B-0148-8342-B448-B3C3F8752F2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63405-512E-79DD-6152-565E6456D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0372" y="3017710"/>
            <a:ext cx="1845056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852F6-6653-FE20-5121-57A03D7B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0169" y="3031743"/>
            <a:ext cx="153035" cy="92333"/>
          </a:xfrm>
        </p:spPr>
        <p:txBody>
          <a:bodyPr/>
          <a:lstStyle/>
          <a:p>
            <a:fld id="{B0E9C15C-7517-D749-BD8B-A6AECE06D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9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305" y="71378"/>
            <a:ext cx="145669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6324" y="872942"/>
            <a:ext cx="5253151" cy="1642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70169" y="3031743"/>
            <a:ext cx="153035" cy="122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F9590-EEE7-9E6F-E0C7-37B3966E3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077" y="364872"/>
            <a:ext cx="4021646" cy="289979"/>
          </a:xfrm>
        </p:spPr>
        <p:txBody>
          <a:bodyPr>
            <a:noAutofit/>
          </a:bodyPr>
          <a:lstStyle/>
          <a:p>
            <a:r>
              <a:rPr lang="en-US" sz="2081" dirty="0"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87BC7-2BD9-D62C-77D2-FBF7EE964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267" y="712666"/>
            <a:ext cx="3243263" cy="351241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CS-871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Lecture-4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D9AB25-7DD6-22B8-0178-687DE6B92230}"/>
              </a:ext>
            </a:extLst>
          </p:cNvPr>
          <p:cNvSpPr txBox="1">
            <a:spLocks/>
          </p:cNvSpPr>
          <p:nvPr/>
        </p:nvSpPr>
        <p:spPr>
          <a:xfrm>
            <a:off x="1237616" y="1159020"/>
            <a:ext cx="3243263" cy="351241"/>
          </a:xfrm>
          <a:prstGeom prst="rect">
            <a:avLst/>
          </a:prstGeom>
        </p:spPr>
        <p:txBody>
          <a:bodyPr vert="horz" lIns="32433" tIns="16216" rIns="32433" bIns="16216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5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</a:p>
          <a:p>
            <a:r>
              <a:rPr lang="en-US" sz="851" b="1" dirty="0">
                <a:latin typeface="Arial" panose="020B0604020202020204" pitchFamily="34" charset="0"/>
                <a:cs typeface="Arial" panose="020B0604020202020204" pitchFamily="34" charset="0"/>
              </a:rPr>
              <a:t>Dr. Ihsan Ullah Khalil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AEEF5C0-26AC-C13C-8772-04AAB518DD12}"/>
              </a:ext>
            </a:extLst>
          </p:cNvPr>
          <p:cNvSpPr txBox="1">
            <a:spLocks/>
          </p:cNvSpPr>
          <p:nvPr/>
        </p:nvSpPr>
        <p:spPr>
          <a:xfrm>
            <a:off x="101600" y="1652183"/>
            <a:ext cx="5562599" cy="880001"/>
          </a:xfrm>
          <a:prstGeom prst="rect">
            <a:avLst/>
          </a:prstGeom>
        </p:spPr>
        <p:txBody>
          <a:bodyPr vert="horz" lIns="32433" tIns="16216" rIns="32433" bIns="16216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Graduate course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 students of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Artificial Intelligence</a:t>
            </a:r>
            <a:br>
              <a:rPr lang="en-US" sz="1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Electrical Engineering</a:t>
            </a:r>
            <a:br>
              <a:rPr lang="en-US" sz="1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Security &amp; Data Sciences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8747A-BB95-8871-5E42-C6ABA1D6537F}"/>
              </a:ext>
            </a:extLst>
          </p:cNvPr>
          <p:cNvSpPr txBox="1"/>
          <p:nvPr/>
        </p:nvSpPr>
        <p:spPr>
          <a:xfrm>
            <a:off x="139700" y="2506091"/>
            <a:ext cx="5702300" cy="68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Department of Electronics and Power Engineering</a:t>
            </a:r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Pakistan Navy Engineering College, Karachi</a:t>
            </a:r>
          </a:p>
          <a:p>
            <a:pPr algn="ctr">
              <a:lnSpc>
                <a:spcPct val="110000"/>
              </a:lnSpc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National University of Sciences and Technology, NUST</a:t>
            </a:r>
          </a:p>
        </p:txBody>
      </p:sp>
    </p:spTree>
    <p:extLst>
      <p:ext uri="{BB962C8B-B14F-4D97-AF65-F5344CB8AC3E}">
        <p14:creationId xmlns:p14="http://schemas.microsoft.com/office/powerpoint/2010/main" val="3729864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892300" y="1089025"/>
            <a:ext cx="2133600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chemeClr val="tx1"/>
                </a:solidFill>
                <a:latin typeface="Arial"/>
                <a:cs typeface="Arial"/>
              </a:rPr>
              <a:t>Constant</a:t>
            </a:r>
            <a:r>
              <a:rPr b="1" spc="-45" dirty="0">
                <a:solidFill>
                  <a:schemeClr val="tx1"/>
                </a:solidFill>
                <a:latin typeface="Arial"/>
                <a:cs typeface="Arial"/>
              </a:rPr>
              <a:t> predictors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4" y="71378"/>
            <a:ext cx="17609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Constant predictors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93535" y="663925"/>
                <a:ext cx="5253151" cy="19170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200" dirty="0"/>
                  <a:t>► we explore the simplest possible predictor, which is </a:t>
                </a:r>
                <a:r>
                  <a:rPr lang="en-US" sz="1200" i="1" dirty="0"/>
                  <a:t>constant</a:t>
                </a:r>
                <a:endParaRPr lang="en-US" sz="1200" dirty="0"/>
              </a:p>
              <a:p>
                <a:pPr>
                  <a:lnSpc>
                    <a:spcPct val="150000"/>
                  </a:lnSpc>
                </a:pPr>
                <a:r>
                  <a:rPr lang="en-US" sz="1200" dirty="0"/>
                  <a:t>►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200" b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1200" dirty="0"/>
              </a:p>
              <a:p>
                <a:pPr>
                  <a:lnSpc>
                    <a:spcPct val="150000"/>
                  </a:lnSpc>
                </a:pPr>
                <a:r>
                  <a:rPr lang="en-US" sz="1200" dirty="0"/>
                  <a:t>► a linear regression model with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2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200" dirty="0"/>
              </a:p>
              <a:p>
                <a:pPr>
                  <a:lnSpc>
                    <a:spcPct val="150000"/>
                  </a:lnSpc>
                </a:pPr>
                <a:r>
                  <a:rPr lang="en-US" sz="1200" dirty="0"/>
                  <a:t>► doesn’t depend on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200" dirty="0"/>
                  <a:t>, which in fact we don’t even need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200" dirty="0"/>
                  <a:t>► we’ll use ERM to fit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200" dirty="0"/>
                  <a:t>to data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200" dirty="0"/>
                  <a:t>► we don’t need regularization since the predictor is (completely) insensitive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200" dirty="0"/>
                  <a:t>► different losses lead to different predictors</a:t>
                </a:r>
              </a:p>
            </p:txBody>
          </p:sp>
        </mc:Choice>
        <mc:Fallback xmlns="">
          <p:sp>
            <p:nvSpPr>
              <p:cNvPr id="3" name="object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3535" y="663925"/>
                <a:ext cx="5253151" cy="1917000"/>
              </a:xfrm>
              <a:prstGeom prst="rect">
                <a:avLst/>
              </a:prstGeom>
              <a:blipFill>
                <a:blip r:embed="rId2"/>
                <a:stretch>
                  <a:fillRect l="-1858" b="-3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1378"/>
            <a:ext cx="8465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chemeClr val="tx1"/>
                </a:solidFill>
                <a:latin typeface="Arial"/>
                <a:cs typeface="Arial"/>
              </a:rPr>
              <a:t>Losses</a:t>
            </a:r>
            <a:endParaRPr sz="12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BC5A54-7696-83A9-732F-0821DF5490D3}"/>
                  </a:ext>
                </a:extLst>
              </p:cNvPr>
              <p:cNvSpPr txBox="1"/>
              <p:nvPr/>
            </p:nvSpPr>
            <p:spPr>
              <a:xfrm>
                <a:off x="215900" y="403225"/>
                <a:ext cx="5638800" cy="2766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we are given data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100" i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100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100" b="1" i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en-US" sz="1100" b="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we have a </a:t>
                </a:r>
                <a:r>
                  <a:rPr lang="en-US" sz="1100" i="1" dirty="0"/>
                  <a:t>loss</a:t>
                </a:r>
                <a:r>
                  <a:rPr lang="en-US" sz="1100" dirty="0"/>
                  <a:t>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</a:rPr>
                      <m:t>ℓ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100" b="1" i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sz="1100" b="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100" b="1" i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sz="1100" b="0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100" b="1" i="0">
                        <a:latin typeface="Cambria Math" panose="02040503050406030204" pitchFamily="18" charset="0"/>
                      </a:rPr>
                      <m:t>𝐑</m:t>
                    </m:r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sepChr m:val=",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1100" dirty="0"/>
                  <a:t>quantifies how badly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100" dirty="0"/>
                  <a:t>approximates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typical losses for scalar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100" dirty="0"/>
                  <a:t>(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100" dirty="0"/>
                  <a:t>):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  ► </a:t>
                </a:r>
                <a:r>
                  <a:rPr lang="en-US" sz="1100" i="1" dirty="0"/>
                  <a:t>quadratic loss:</a:t>
                </a:r>
                <a:r>
                  <a:rPr lang="en-US" sz="11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sepChr m:val=",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1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11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  ► </a:t>
                </a:r>
                <a:r>
                  <a:rPr lang="en-US" sz="1100" i="1" dirty="0"/>
                  <a:t>absolute loss:</a:t>
                </a:r>
                <a:r>
                  <a:rPr lang="en-US" sz="11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sepChr m:val=",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100" i="0">
                        <a:latin typeface="Cambria Math" panose="02040503050406030204" pitchFamily="18" charset="0"/>
                      </a:rPr>
                      <m:t>=∣</m:t>
                    </m:r>
                    <m:acc>
                      <m:accPr>
                        <m:chr m:val="̂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1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  ► </a:t>
                </a:r>
                <a:r>
                  <a:rPr lang="en-US" sz="1100" i="1" dirty="0"/>
                  <a:t>fractional loss:</a:t>
                </a:r>
                <a:r>
                  <a:rPr lang="en-US" sz="1100" dirty="0"/>
                  <a:t>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1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&gt;0,</m:t>
                    </m:r>
                  </m:oMath>
                </a14:m>
                <a:endParaRPr lang="en-US" sz="11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sepChr m:val=",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00" i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sepChr m:val=","/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mbria Math" panose="02040503050406030204" pitchFamily="18" charset="0"/>
                                </a:rPr>
                                <m:t>  </m:t>
                              </m:r>
                              <m:f>
                                <m:fPr>
                                  <m:ctrlPr>
                                    <a:rPr lang="en-US" sz="10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0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acc>
                                    <m:accPr>
                                      <m:chr m:val="̂"/>
                                      <m:ctrlPr>
                                        <a:rPr lang="en-US" sz="1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000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den>
                              </m:f>
                              <m:r>
                                <a:rPr lang="en-US" sz="1000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  <m:r>
                        <a:rPr lang="en-US" sz="1000" b="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000" b="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00" b="0" i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en-US" sz="1000" b="0" i="1">
                              <a:latin typeface="Cambria Math" panose="02040503050406030204" pitchFamily="18" charset="0"/>
                            </a:rPr>
                            <m:t> </m:t>
                          </m:r>
                        </m:e>
                      </m:func>
                      <m:d>
                        <m:dPr>
                          <m:ctrlPr>
                            <a:rPr lang="en-US" sz="1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∣"/>
                              <m:endChr m:val="∣"/>
                              <m:ctrlPr>
                                <a:rPr lang="en-US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1000" b="0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000" b="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000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func>
                              <m:r>
                                <a:rPr lang="en-US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1000" b="0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000" b="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10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func>
                            </m:e>
                          </m:d>
                        </m:e>
                      </m:d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00" b="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  (often scaled by 100 to become </a:t>
                </a:r>
                <a:r>
                  <a:rPr lang="en-US" sz="1000" i="1" dirty="0"/>
                  <a:t>percentage error</a:t>
                </a:r>
                <a:r>
                  <a:rPr lang="en-US" sz="1000" dirty="0"/>
                  <a:t>)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typical loss for vector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000" dirty="0"/>
                  <a:t>(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000" dirty="0"/>
                  <a:t>): </a:t>
                </a:r>
                <a:r>
                  <a:rPr lang="en-US" sz="1000" i="1" dirty="0"/>
                  <a:t>quadratic loss</a:t>
                </a:r>
                <a:r>
                  <a:rPr lang="en-US" sz="1000" dirty="0"/>
                  <a:t>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sepChr m:val=",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=∥</m:t>
                      </m:r>
                      <m:acc>
                        <m:accPr>
                          <m:chr m:val="̂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0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𝑦</m:t>
                      </m:r>
                      <m:sSubSup>
                        <m:sSubSup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BC5A54-7696-83A9-732F-0821DF549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403225"/>
                <a:ext cx="5638800" cy="27663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296F93C-67A2-E27E-A037-DFF889785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8" y="0"/>
            <a:ext cx="5748662" cy="324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131305" y="71378"/>
            <a:ext cx="6941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chemeClr val="tx1"/>
                </a:solidFill>
                <a:latin typeface="Arial"/>
                <a:cs typeface="Arial"/>
              </a:rPr>
              <a:t>ERM</a:t>
            </a:r>
            <a:endParaRPr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2FAECD-5CAD-33ED-D029-EE1CDB292964}"/>
                  </a:ext>
                </a:extLst>
              </p:cNvPr>
              <p:cNvSpPr txBox="1"/>
              <p:nvPr/>
            </p:nvSpPr>
            <p:spPr>
              <a:xfrm>
                <a:off x="215900" y="708025"/>
                <a:ext cx="5486400" cy="1538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we choose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to minimize empirical risk,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1100" i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sSup>
                            <m:sSup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we’ll be able to solve this minimization problem for the losses above, and others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we’ll recover some reasonable choices of a constant approximation of the data, such as mean and median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2FAECD-5CAD-33ED-D029-EE1CDB292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708025"/>
                <a:ext cx="5486400" cy="1538755"/>
              </a:xfrm>
              <a:prstGeom prst="rect">
                <a:avLst/>
              </a:prstGeom>
              <a:blipFill>
                <a:blip r:embed="rId3"/>
                <a:stretch>
                  <a:fillRect t="-1778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997C572-C8C8-BA6C-B0D2-1CDE48AEC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" y="0"/>
            <a:ext cx="5748662" cy="32448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71E6A7-DBEC-4D6C-74D6-6A2F20933E0B}"/>
              </a:ext>
            </a:extLst>
          </p:cNvPr>
          <p:cNvSpPr/>
          <p:nvPr/>
        </p:nvSpPr>
        <p:spPr>
          <a:xfrm>
            <a:off x="2806700" y="631825"/>
            <a:ext cx="11430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D81FCD-2356-17F3-1DCA-FB1553A643D7}"/>
              </a:ext>
            </a:extLst>
          </p:cNvPr>
          <p:cNvCxnSpPr/>
          <p:nvPr/>
        </p:nvCxnSpPr>
        <p:spPr>
          <a:xfrm flipH="1" flipV="1">
            <a:off x="2120900" y="479425"/>
            <a:ext cx="685800" cy="457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4566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Convexity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8500" y="2093157"/>
            <a:ext cx="1032510" cy="769620"/>
            <a:chOff x="1198500" y="2093157"/>
            <a:chExt cx="1032510" cy="769620"/>
          </a:xfrm>
        </p:grpSpPr>
        <p:sp>
          <p:nvSpPr>
            <p:cNvPr id="5" name="object 5"/>
            <p:cNvSpPr/>
            <p:nvPr/>
          </p:nvSpPr>
          <p:spPr>
            <a:xfrm>
              <a:off x="1198500" y="2093157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1032290" y="0"/>
                  </a:moveTo>
                  <a:lnTo>
                    <a:pt x="0" y="0"/>
                  </a:lnTo>
                  <a:lnTo>
                    <a:pt x="0" y="769223"/>
                  </a:lnTo>
                  <a:lnTo>
                    <a:pt x="1032290" y="769223"/>
                  </a:lnTo>
                  <a:lnTo>
                    <a:pt x="1032290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8500" y="2093157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46922" y="769223"/>
                  </a:moveTo>
                  <a:lnTo>
                    <a:pt x="46922" y="0"/>
                  </a:lnTo>
                </a:path>
                <a:path w="1032510" h="769619">
                  <a:moveTo>
                    <a:pt x="234611" y="769223"/>
                  </a:moveTo>
                  <a:lnTo>
                    <a:pt x="234611" y="0"/>
                  </a:lnTo>
                </a:path>
                <a:path w="1032510" h="769619">
                  <a:moveTo>
                    <a:pt x="422300" y="769223"/>
                  </a:moveTo>
                  <a:lnTo>
                    <a:pt x="422300" y="0"/>
                  </a:lnTo>
                </a:path>
                <a:path w="1032510" h="769619">
                  <a:moveTo>
                    <a:pt x="609990" y="769223"/>
                  </a:moveTo>
                  <a:lnTo>
                    <a:pt x="609990" y="0"/>
                  </a:lnTo>
                </a:path>
                <a:path w="1032510" h="769619">
                  <a:moveTo>
                    <a:pt x="797679" y="769223"/>
                  </a:moveTo>
                  <a:lnTo>
                    <a:pt x="797679" y="0"/>
                  </a:lnTo>
                </a:path>
                <a:path w="1032510" h="769619">
                  <a:moveTo>
                    <a:pt x="985368" y="769223"/>
                  </a:moveTo>
                  <a:lnTo>
                    <a:pt x="985368" y="0"/>
                  </a:lnTo>
                </a:path>
                <a:path w="1032510" h="769619">
                  <a:moveTo>
                    <a:pt x="0" y="734329"/>
                  </a:moveTo>
                  <a:lnTo>
                    <a:pt x="1032290" y="734329"/>
                  </a:lnTo>
                </a:path>
                <a:path w="1032510" h="769619">
                  <a:moveTo>
                    <a:pt x="0" y="594456"/>
                  </a:moveTo>
                  <a:lnTo>
                    <a:pt x="1032290" y="594456"/>
                  </a:lnTo>
                </a:path>
                <a:path w="1032510" h="769619">
                  <a:moveTo>
                    <a:pt x="0" y="454583"/>
                  </a:moveTo>
                  <a:lnTo>
                    <a:pt x="1032290" y="454583"/>
                  </a:lnTo>
                </a:path>
                <a:path w="1032510" h="769619">
                  <a:moveTo>
                    <a:pt x="0" y="314710"/>
                  </a:moveTo>
                  <a:lnTo>
                    <a:pt x="1032290" y="314710"/>
                  </a:lnTo>
                </a:path>
                <a:path w="1032510" h="769619">
                  <a:moveTo>
                    <a:pt x="0" y="174837"/>
                  </a:moveTo>
                  <a:lnTo>
                    <a:pt x="1032290" y="174837"/>
                  </a:lnTo>
                </a:path>
                <a:path w="1032510" h="769619">
                  <a:moveTo>
                    <a:pt x="0" y="34964"/>
                  </a:moveTo>
                  <a:lnTo>
                    <a:pt x="1032290" y="34964"/>
                  </a:lnTo>
                </a:path>
              </a:pathLst>
            </a:custGeom>
            <a:ln w="4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45422" y="2128122"/>
              <a:ext cx="938530" cy="699770"/>
            </a:xfrm>
            <a:custGeom>
              <a:avLst/>
              <a:gdLst/>
              <a:ahLst/>
              <a:cxnLst/>
              <a:rect l="l" t="t" r="r" b="b"/>
              <a:pathLst>
                <a:path w="938530" h="699769">
                  <a:moveTo>
                    <a:pt x="0" y="0"/>
                  </a:moveTo>
                  <a:lnTo>
                    <a:pt x="18958" y="55372"/>
                  </a:lnTo>
                  <a:lnTo>
                    <a:pt x="37917" y="108461"/>
                  </a:lnTo>
                  <a:lnTo>
                    <a:pt x="56875" y="159267"/>
                  </a:lnTo>
                  <a:lnTo>
                    <a:pt x="75834" y="207790"/>
                  </a:lnTo>
                  <a:lnTo>
                    <a:pt x="94792" y="254029"/>
                  </a:lnTo>
                  <a:lnTo>
                    <a:pt x="113751" y="297984"/>
                  </a:lnTo>
                  <a:lnTo>
                    <a:pt x="132709" y="339657"/>
                  </a:lnTo>
                  <a:lnTo>
                    <a:pt x="151668" y="379045"/>
                  </a:lnTo>
                  <a:lnTo>
                    <a:pt x="170626" y="416151"/>
                  </a:lnTo>
                  <a:lnTo>
                    <a:pt x="189585" y="450973"/>
                  </a:lnTo>
                  <a:lnTo>
                    <a:pt x="218022" y="498924"/>
                  </a:lnTo>
                  <a:lnTo>
                    <a:pt x="246460" y="541738"/>
                  </a:lnTo>
                  <a:lnTo>
                    <a:pt x="274898" y="579414"/>
                  </a:lnTo>
                  <a:lnTo>
                    <a:pt x="303336" y="611953"/>
                  </a:lnTo>
                  <a:lnTo>
                    <a:pt x="331773" y="639354"/>
                  </a:lnTo>
                  <a:lnTo>
                    <a:pt x="369690" y="667896"/>
                  </a:lnTo>
                  <a:lnTo>
                    <a:pt x="407607" y="687305"/>
                  </a:lnTo>
                  <a:lnTo>
                    <a:pt x="445524" y="697581"/>
                  </a:lnTo>
                  <a:lnTo>
                    <a:pt x="464483" y="699293"/>
                  </a:lnTo>
                  <a:lnTo>
                    <a:pt x="473962" y="699293"/>
                  </a:lnTo>
                  <a:lnTo>
                    <a:pt x="511879" y="693585"/>
                  </a:lnTo>
                  <a:lnTo>
                    <a:pt x="549796" y="678743"/>
                  </a:lnTo>
                  <a:lnTo>
                    <a:pt x="587713" y="654767"/>
                  </a:lnTo>
                  <a:lnTo>
                    <a:pt x="625630" y="621657"/>
                  </a:lnTo>
                  <a:lnTo>
                    <a:pt x="654068" y="590831"/>
                  </a:lnTo>
                  <a:lnTo>
                    <a:pt x="682506" y="554868"/>
                  </a:lnTo>
                  <a:lnTo>
                    <a:pt x="710944" y="513766"/>
                  </a:lnTo>
                  <a:lnTo>
                    <a:pt x="739381" y="467527"/>
                  </a:lnTo>
                  <a:lnTo>
                    <a:pt x="758340" y="433847"/>
                  </a:lnTo>
                  <a:lnTo>
                    <a:pt x="777298" y="397883"/>
                  </a:lnTo>
                  <a:lnTo>
                    <a:pt x="796257" y="359636"/>
                  </a:lnTo>
                  <a:lnTo>
                    <a:pt x="815215" y="319106"/>
                  </a:lnTo>
                  <a:lnTo>
                    <a:pt x="834174" y="276292"/>
                  </a:lnTo>
                  <a:lnTo>
                    <a:pt x="853132" y="231195"/>
                  </a:lnTo>
                  <a:lnTo>
                    <a:pt x="872091" y="183814"/>
                  </a:lnTo>
                  <a:lnTo>
                    <a:pt x="891049" y="134150"/>
                  </a:lnTo>
                  <a:lnTo>
                    <a:pt x="910008" y="82202"/>
                  </a:lnTo>
                  <a:lnTo>
                    <a:pt x="928967" y="27971"/>
                  </a:lnTo>
                  <a:lnTo>
                    <a:pt x="938446" y="0"/>
                  </a:lnTo>
                </a:path>
              </a:pathLst>
            </a:custGeom>
            <a:ln w="9249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00564" y="2867011"/>
            <a:ext cx="653415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r>
              <a:rPr sz="350" spc="395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r>
              <a:rPr sz="350" spc="400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r>
              <a:rPr sz="350" spc="395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1321" y="2867011"/>
            <a:ext cx="277495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r>
              <a:rPr sz="350" spc="400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9109" y="2783195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9109" y="2643321"/>
            <a:ext cx="89535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9109" y="2503448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9109" y="2363575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9109" y="2223702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9109" y="2083829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00390" y="2113109"/>
            <a:ext cx="356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40" dirty="0">
                <a:latin typeface="Arial MT"/>
                <a:cs typeface="Arial MT"/>
              </a:rPr>
              <a:t>convex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18498" y="2088532"/>
            <a:ext cx="1032510" cy="774065"/>
            <a:chOff x="3418498" y="2088532"/>
            <a:chExt cx="1032510" cy="774065"/>
          </a:xfrm>
        </p:grpSpPr>
        <p:sp>
          <p:nvSpPr>
            <p:cNvPr id="18" name="object 18"/>
            <p:cNvSpPr/>
            <p:nvPr/>
          </p:nvSpPr>
          <p:spPr>
            <a:xfrm>
              <a:off x="3418498" y="2093157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1032290" y="0"/>
                  </a:moveTo>
                  <a:lnTo>
                    <a:pt x="0" y="0"/>
                  </a:lnTo>
                  <a:lnTo>
                    <a:pt x="0" y="769223"/>
                  </a:lnTo>
                  <a:lnTo>
                    <a:pt x="1032290" y="769223"/>
                  </a:lnTo>
                  <a:lnTo>
                    <a:pt x="1032290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18498" y="2093157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46922" y="769223"/>
                  </a:moveTo>
                  <a:lnTo>
                    <a:pt x="46922" y="0"/>
                  </a:lnTo>
                </a:path>
                <a:path w="1032510" h="769619">
                  <a:moveTo>
                    <a:pt x="234611" y="769223"/>
                  </a:moveTo>
                  <a:lnTo>
                    <a:pt x="234611" y="0"/>
                  </a:lnTo>
                </a:path>
                <a:path w="1032510" h="769619">
                  <a:moveTo>
                    <a:pt x="422300" y="769223"/>
                  </a:moveTo>
                  <a:lnTo>
                    <a:pt x="422300" y="0"/>
                  </a:lnTo>
                </a:path>
                <a:path w="1032510" h="769619">
                  <a:moveTo>
                    <a:pt x="609990" y="769223"/>
                  </a:moveTo>
                  <a:lnTo>
                    <a:pt x="609990" y="0"/>
                  </a:lnTo>
                </a:path>
                <a:path w="1032510" h="769619">
                  <a:moveTo>
                    <a:pt x="797679" y="769223"/>
                  </a:moveTo>
                  <a:lnTo>
                    <a:pt x="797679" y="0"/>
                  </a:lnTo>
                </a:path>
                <a:path w="1032510" h="769619">
                  <a:moveTo>
                    <a:pt x="985368" y="769223"/>
                  </a:moveTo>
                  <a:lnTo>
                    <a:pt x="985368" y="0"/>
                  </a:lnTo>
                </a:path>
                <a:path w="1032510" h="769619">
                  <a:moveTo>
                    <a:pt x="0" y="615378"/>
                  </a:moveTo>
                  <a:lnTo>
                    <a:pt x="1032290" y="615378"/>
                  </a:lnTo>
                </a:path>
                <a:path w="1032510" h="769619">
                  <a:moveTo>
                    <a:pt x="0" y="461533"/>
                  </a:moveTo>
                  <a:lnTo>
                    <a:pt x="1032290" y="461533"/>
                  </a:lnTo>
                </a:path>
                <a:path w="1032510" h="769619">
                  <a:moveTo>
                    <a:pt x="0" y="307689"/>
                  </a:moveTo>
                  <a:lnTo>
                    <a:pt x="1032290" y="307689"/>
                  </a:lnTo>
                </a:path>
                <a:path w="1032510" h="769619">
                  <a:moveTo>
                    <a:pt x="0" y="153844"/>
                  </a:moveTo>
                  <a:lnTo>
                    <a:pt x="1032290" y="153844"/>
                  </a:lnTo>
                </a:path>
              </a:pathLst>
            </a:custGeom>
            <a:ln w="4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70675" y="2093157"/>
              <a:ext cx="876300" cy="728345"/>
            </a:xfrm>
            <a:custGeom>
              <a:avLst/>
              <a:gdLst/>
              <a:ahLst/>
              <a:cxnLst/>
              <a:rect l="l" t="t" r="r" b="b"/>
              <a:pathLst>
                <a:path w="876300" h="728344">
                  <a:moveTo>
                    <a:pt x="0" y="0"/>
                  </a:moveTo>
                  <a:lnTo>
                    <a:pt x="4225" y="39177"/>
                  </a:lnTo>
                  <a:lnTo>
                    <a:pt x="13704" y="120217"/>
                  </a:lnTo>
                  <a:lnTo>
                    <a:pt x="23183" y="194709"/>
                  </a:lnTo>
                  <a:lnTo>
                    <a:pt x="32662" y="262955"/>
                  </a:lnTo>
                  <a:lnTo>
                    <a:pt x="42142" y="325250"/>
                  </a:lnTo>
                  <a:lnTo>
                    <a:pt x="51621" y="381881"/>
                  </a:lnTo>
                  <a:lnTo>
                    <a:pt x="61100" y="433131"/>
                  </a:lnTo>
                  <a:lnTo>
                    <a:pt x="70579" y="479275"/>
                  </a:lnTo>
                  <a:lnTo>
                    <a:pt x="80059" y="520582"/>
                  </a:lnTo>
                  <a:lnTo>
                    <a:pt x="99017" y="589730"/>
                  </a:lnTo>
                  <a:lnTo>
                    <a:pt x="117976" y="642599"/>
                  </a:lnTo>
                  <a:lnTo>
                    <a:pt x="136934" y="681110"/>
                  </a:lnTo>
                  <a:lnTo>
                    <a:pt x="165372" y="715910"/>
                  </a:lnTo>
                  <a:lnTo>
                    <a:pt x="193810" y="728183"/>
                  </a:lnTo>
                  <a:lnTo>
                    <a:pt x="203289" y="728181"/>
                  </a:lnTo>
                  <a:lnTo>
                    <a:pt x="241206" y="712440"/>
                  </a:lnTo>
                  <a:lnTo>
                    <a:pt x="279123" y="679144"/>
                  </a:lnTo>
                  <a:lnTo>
                    <a:pt x="307561" y="648015"/>
                  </a:lnTo>
                  <a:lnTo>
                    <a:pt x="326519" y="626108"/>
                  </a:lnTo>
                  <a:lnTo>
                    <a:pt x="335999" y="615116"/>
                  </a:lnTo>
                  <a:lnTo>
                    <a:pt x="364436" y="583041"/>
                  </a:lnTo>
                  <a:lnTo>
                    <a:pt x="392874" y="553867"/>
                  </a:lnTo>
                  <a:lnTo>
                    <a:pt x="430791" y="522095"/>
                  </a:lnTo>
                  <a:lnTo>
                    <a:pt x="468708" y="500442"/>
                  </a:lnTo>
                  <a:lnTo>
                    <a:pt x="506625" y="489523"/>
                  </a:lnTo>
                  <a:lnTo>
                    <a:pt x="535063" y="487822"/>
                  </a:lnTo>
                  <a:lnTo>
                    <a:pt x="544542" y="488312"/>
                  </a:lnTo>
                  <a:lnTo>
                    <a:pt x="582459" y="494145"/>
                  </a:lnTo>
                  <a:lnTo>
                    <a:pt x="610897" y="500614"/>
                  </a:lnTo>
                  <a:lnTo>
                    <a:pt x="620376" y="502717"/>
                  </a:lnTo>
                  <a:lnTo>
                    <a:pt x="629856" y="504627"/>
                  </a:lnTo>
                  <a:lnTo>
                    <a:pt x="639335" y="506236"/>
                  </a:lnTo>
                  <a:lnTo>
                    <a:pt x="648814" y="507428"/>
                  </a:lnTo>
                  <a:lnTo>
                    <a:pt x="658293" y="508082"/>
                  </a:lnTo>
                  <a:lnTo>
                    <a:pt x="667773" y="508070"/>
                  </a:lnTo>
                  <a:lnTo>
                    <a:pt x="705690" y="498569"/>
                  </a:lnTo>
                  <a:lnTo>
                    <a:pt x="743607" y="466489"/>
                  </a:lnTo>
                  <a:lnTo>
                    <a:pt x="772044" y="420892"/>
                  </a:lnTo>
                  <a:lnTo>
                    <a:pt x="791003" y="377306"/>
                  </a:lnTo>
                  <a:lnTo>
                    <a:pt x="809961" y="321182"/>
                  </a:lnTo>
                  <a:lnTo>
                    <a:pt x="828920" y="250702"/>
                  </a:lnTo>
                  <a:lnTo>
                    <a:pt x="838399" y="209481"/>
                  </a:lnTo>
                  <a:lnTo>
                    <a:pt x="847878" y="163942"/>
                  </a:lnTo>
                  <a:lnTo>
                    <a:pt x="857358" y="113829"/>
                  </a:lnTo>
                  <a:lnTo>
                    <a:pt x="866837" y="58879"/>
                  </a:lnTo>
                  <a:lnTo>
                    <a:pt x="876131" y="0"/>
                  </a:lnTo>
                </a:path>
              </a:pathLst>
            </a:custGeom>
            <a:ln w="9249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420562" y="2867011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3608252" y="2867011"/>
            <a:ext cx="84074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r>
              <a:rPr sz="350" spc="400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r>
              <a:rPr sz="350" spc="395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r>
              <a:rPr sz="350" spc="400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r>
              <a:rPr sz="350" spc="400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09108" y="2818088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09108" y="2664243"/>
            <a:ext cx="89535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09108" y="2510399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09108" y="2356554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09108" y="2202709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09108" y="2048865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30701" y="2113109"/>
            <a:ext cx="5359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40" dirty="0">
                <a:latin typeface="Arial MT"/>
                <a:cs typeface="Arial MT"/>
              </a:rPr>
              <a:t>nonconvex</a:t>
            </a:r>
            <a:endParaRPr sz="900">
              <a:latin typeface="Arial MT"/>
              <a:cs typeface="Arial M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2EFDD3A-832A-E91B-B8D4-331751AD4FBE}"/>
                  </a:ext>
                </a:extLst>
              </p:cNvPr>
              <p:cNvSpPr txBox="1"/>
              <p:nvPr/>
            </p:nvSpPr>
            <p:spPr>
              <a:xfrm>
                <a:off x="240960" y="352472"/>
                <a:ext cx="5282244" cy="1589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a function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1100" b="1" i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en-US" sz="1100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1100" b="0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100" b="1" i="0">
                        <a:latin typeface="Cambria Math" panose="02040503050406030204" pitchFamily="18" charset="0"/>
                      </a:rPr>
                      <m:t>𝐑</m:t>
                    </m:r>
                  </m:oMath>
                </a14:m>
                <a:r>
                  <a:rPr lang="en-US" sz="1100" dirty="0"/>
                  <a:t> is </a:t>
                </a:r>
                <a:r>
                  <a:rPr lang="en-US" sz="1100" i="1" dirty="0"/>
                  <a:t>convex</a:t>
                </a:r>
                <a:r>
                  <a:rPr lang="en-US" sz="1100" dirty="0"/>
                  <a:t> if it for all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100" b="1" i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en-US" sz="1100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100" dirty="0"/>
                  <a:t>and all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en-US" sz="110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1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10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11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this means the function ‘curves upward’ or has positive curvature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in terms of derivatives, convexity can be expressed as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  ► (if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1100" dirty="0"/>
                  <a:t> exists)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1100" dirty="0"/>
                  <a:t>is nondecreasing (as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1100" dirty="0"/>
                  <a:t> increases)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  ► (if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1100" dirty="0"/>
                  <a:t> exists)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100" i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100" dirty="0"/>
                  <a:t> for all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2EFDD3A-832A-E91B-B8D4-331751AD4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60" y="352472"/>
                <a:ext cx="5282244" cy="1589025"/>
              </a:xfrm>
              <a:prstGeom prst="rect">
                <a:avLst/>
              </a:prstGeom>
              <a:blipFill>
                <a:blip r:embed="rId2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B21812B7-09CF-4CF4-F110-2B911DE7A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654"/>
            <a:ext cx="5765800" cy="31475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39141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Minimizing convex functions — optimality conditions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7817A36-DCD1-9F80-F945-E2690CA6B159}"/>
                  </a:ext>
                </a:extLst>
              </p:cNvPr>
              <p:cNvSpPr txBox="1"/>
              <p:nvPr/>
            </p:nvSpPr>
            <p:spPr>
              <a:xfrm>
                <a:off x="107950" y="350795"/>
                <a:ext cx="5549900" cy="2899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1000" b="1" dirty="0"/>
                  <a:t>for a convex function</a:t>
                </a:r>
                <a:r>
                  <a:rPr lang="en-US" sz="1000" dirty="0"/>
                  <a:t>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sz="10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if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000" dirty="0"/>
                  <a:t> is differentiable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000" dirty="0"/>
                  <a:t>,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minimizes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000" dirty="0"/>
                  <a:t> if and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00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0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b="1" dirty="0"/>
                  <a:t>for convex</a:t>
                </a:r>
                <a:r>
                  <a:rPr lang="en-US" sz="1000" dirty="0"/>
                  <a:t>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000" b="1" i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00" b="1" i="0">
                        <a:latin typeface="Cambria Math" panose="02040503050406030204" pitchFamily="18" charset="0"/>
                      </a:rPr>
                      <m:t>𝐑</m:t>
                    </m:r>
                  </m:oMath>
                </a14:m>
                <a:r>
                  <a:rPr lang="en-US" sz="1000" i="1" dirty="0"/>
                  <a:t>(i.e.,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000" i="1" dirty="0"/>
                  <a:t>)</a:t>
                </a:r>
                <a:endParaRPr lang="en-US" sz="10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1000" dirty="0"/>
                  <a:t> minimizes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000" dirty="0"/>
                  <a:t> if and only if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000" i="0">
                        <a:latin typeface="Cambria Math" panose="02040503050406030204" pitchFamily="18" charset="0"/>
                      </a:rPr>
                      <m:t>≤0,</m:t>
                    </m:r>
                    <m:r>
                      <m:rPr>
                        <m:nor/>
                      </m:rPr>
                      <a:rPr lang="en-US" sz="1000" b="0" i="1">
                        <a:latin typeface="Cambria Math" panose="02040503050406030204" pitchFamily="18" charset="0"/>
                      </a:rPr>
                      <m:t>  </m:t>
                    </m:r>
                    <m:sSubSup>
                      <m:sSubSupPr>
                        <m:ctrlPr>
                          <a:rPr lang="en-US" sz="1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000" b="0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en-US" sz="1000" b="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000" b="0" i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10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1000" dirty="0"/>
                  <a:t> is the </a:t>
                </a:r>
                <a:r>
                  <a:rPr lang="en-US" sz="1000" i="1" dirty="0"/>
                  <a:t>righthand derivative</a:t>
                </a:r>
                <a:r>
                  <a:rPr lang="en-US" sz="1000" dirty="0"/>
                  <a:t>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000" i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→0,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mbria Math" panose="02040503050406030204" pitchFamily="18" charset="0"/>
                            </a:rPr>
                            <m:t>  </m:t>
                          </m:r>
                          <m:r>
                            <a:rPr lang="en-US" sz="1000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&gt;0</m:t>
                          </m:r>
                        </m:lim>
                      </m:limLow>
                      <m:f>
                        <m:fPr>
                          <m:ctrlPr>
                            <a:rPr lang="en-US" sz="1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000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0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num>
                        <m:den>
                          <m:r>
                            <a:rPr lang="en-US" sz="10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1000" b="0" dirty="0"/>
              </a:p>
              <a:p>
                <a:pPr>
                  <a:buNone/>
                </a:pPr>
                <a:r>
                  <a:rPr lang="en-US" sz="1000" dirty="0"/>
                  <a:t>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1000" dirty="0"/>
                  <a:t> is the </a:t>
                </a:r>
                <a:r>
                  <a:rPr lang="en-US" sz="1000" i="1" dirty="0"/>
                  <a:t>lefthand derivative</a:t>
                </a:r>
                <a:r>
                  <a:rPr lang="en-US" sz="1000" dirty="0"/>
                  <a:t>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000" i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→0,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mbria Math" panose="02040503050406030204" pitchFamily="18" charset="0"/>
                            </a:rPr>
                            <m:t>  </m:t>
                          </m:r>
                          <m:r>
                            <a:rPr lang="en-US" sz="1000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&lt;0</m:t>
                          </m:r>
                        </m:lim>
                      </m:limLow>
                      <m:f>
                        <m:fPr>
                          <m:ctrlPr>
                            <a:rPr lang="en-US" sz="1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000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0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num>
                        <m:den>
                          <m:r>
                            <a:rPr lang="en-US" sz="10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1000" b="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these both exist, even if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000" dirty="0"/>
                  <a:t> is not differentiable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1000" dirty="0"/>
                  <a:t> exists, then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 sz="10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simple example: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000" dirty="0"/>
                  <a:t> minimizes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000" i="0">
                        <a:latin typeface="Cambria Math" panose="02040503050406030204" pitchFamily="18" charset="0"/>
                      </a:rPr>
                      <m:t>=∣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1000" dirty="0"/>
                  <a:t>,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00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000" i="0">
                        <a:latin typeface="Cambria Math" panose="02040503050406030204" pitchFamily="18" charset="0"/>
                      </a:rPr>
                      <m:t>=−1,</m:t>
                    </m:r>
                    <m:r>
                      <m:rPr>
                        <m:nor/>
                      </m:rPr>
                      <a:rPr lang="en-US" sz="1000" b="0" i="1">
                        <a:latin typeface="Cambria Math" panose="02040503050406030204" pitchFamily="18" charset="0"/>
                      </a:rPr>
                      <m:t>  </m:t>
                    </m:r>
                    <m:sSubSup>
                      <m:sSubSupPr>
                        <m:ctrlPr>
                          <a:rPr lang="en-US" sz="1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000" b="0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en-US" sz="1000" b="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000" b="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000" b="0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7817A36-DCD1-9F80-F945-E2690CA6B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" y="350795"/>
                <a:ext cx="5549900" cy="28994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FE34FA2-2DFD-1BCD-1CAE-853E31F59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30" y="0"/>
            <a:ext cx="5143539" cy="324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4566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ERM and convexity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1136A9-D6D6-401F-746B-1887A476E02E}"/>
                  </a:ext>
                </a:extLst>
              </p:cNvPr>
              <p:cNvSpPr txBox="1"/>
              <p:nvPr/>
            </p:nvSpPr>
            <p:spPr>
              <a:xfrm>
                <a:off x="146582" y="784225"/>
                <a:ext cx="5479517" cy="13305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for the loss functions listed in previous slides (and many others),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sepChr m:val=",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1100" dirty="0"/>
                  <a:t> is a convex function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an average of convex functions is convex, so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100" dirty="0"/>
                  <a:t>is convex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so the optimality conditions above tell us when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minimizes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for scalar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100" dirty="0"/>
                  <a:t>,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minimizes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100" dirty="0"/>
                  <a:t> 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100" i="0">
                        <a:latin typeface="Cambria Math" panose="02040503050406030204" pitchFamily="18" charset="0"/>
                      </a:rPr>
                      <m:t>≤0,</m:t>
                    </m:r>
                    <m:r>
                      <m:rPr>
                        <m:nor/>
                      </m:rPr>
                      <a:rPr lang="en-US" sz="1100" b="0" i="1">
                        <a:latin typeface="Cambria Math" panose="02040503050406030204" pitchFamily="18" charset="0"/>
                      </a:rPr>
                      <m:t>  </m:t>
                    </m:r>
                    <m:sSubSup>
                      <m:sSubSupPr>
                        <m:ctrlPr>
                          <a:rPr lang="en-US" sz="1100" b="0" i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b="0" i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100" b="0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en-US" sz="1100" b="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1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100" b="0" i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1136A9-D6D6-401F-746B-1887A476E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82" y="784225"/>
                <a:ext cx="5479517" cy="1330557"/>
              </a:xfrm>
              <a:prstGeom prst="rect">
                <a:avLst/>
              </a:prstGeom>
              <a:blipFill>
                <a:blip r:embed="rId2"/>
                <a:stretch>
                  <a:fillRect b="-2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2197100" y="1089025"/>
            <a:ext cx="15240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dirty="0">
                <a:solidFill>
                  <a:schemeClr val="tx1"/>
                </a:solidFill>
                <a:latin typeface="Arial MT"/>
                <a:cs typeface="Arial MT"/>
              </a:rPr>
              <a:t>Square loss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89125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ERM with square loss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4B33409-E12A-A50E-6D94-169D5D05E495}"/>
                  </a:ext>
                </a:extLst>
              </p:cNvPr>
              <p:cNvSpPr txBox="1"/>
              <p:nvPr/>
            </p:nvSpPr>
            <p:spPr>
              <a:xfrm>
                <a:off x="242596" y="351243"/>
                <a:ext cx="5383504" cy="2720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for square loss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sepChr m:val=",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100" i="0">
                        <a:latin typeface="Cambria Math" panose="02040503050406030204" pitchFamily="18" charset="0"/>
                      </a:rPr>
                      <m:t>=∥</m:t>
                    </m:r>
                    <m:acc>
                      <m:accPr>
                        <m:chr m:val="̂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1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  <m:sSubSup>
                      <m:sSubSupPr>
                        <m:ctrlPr>
                          <a:rPr lang="en-US" sz="1100" i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100" dirty="0"/>
                  <a:t>, empirical risk is </a:t>
                </a:r>
                <a:r>
                  <a:rPr lang="en-US" sz="1100" i="1" dirty="0"/>
                  <a:t>mean-square error</a:t>
                </a:r>
                <a:r>
                  <a:rPr lang="en-US" sz="1100" dirty="0"/>
                  <a:t> (MSE)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</m:nary>
                      <m:r>
                        <a:rPr lang="en-US" sz="11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100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Sup>
                        <m:sSubSupPr>
                          <m:ctrlPr>
                            <a:rPr lang="en-US" sz="1100" i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a simple least squares problem, with solution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(which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10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100" dirty="0"/>
                  <a:t>)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</a:t>
                </a:r>
                <a:r>
                  <a:rPr lang="en-US" sz="1100" i="1" dirty="0"/>
                  <a:t>i.e.</a:t>
                </a:r>
                <a:r>
                  <a:rPr lang="en-US" sz="1100" dirty="0"/>
                  <a:t>, best constant predictor with square loss is the </a:t>
                </a:r>
                <a:r>
                  <a:rPr lang="en-US" sz="1100" i="1" dirty="0"/>
                  <a:t>average</a:t>
                </a:r>
                <a:r>
                  <a:rPr lang="en-US" sz="1100" dirty="0"/>
                  <a:t> or </a:t>
                </a:r>
                <a:r>
                  <a:rPr lang="en-US" sz="1100" i="1" dirty="0"/>
                  <a:t>mean</a:t>
                </a:r>
                <a:r>
                  <a:rPr lang="en-US" sz="1100" dirty="0"/>
                  <a:t> of the data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</a:t>
                </a:r>
                <a:r>
                  <a:rPr lang="en-US" sz="1100" dirty="0">
                    <a:highlight>
                      <a:srgbClr val="FFFF00"/>
                    </a:highlight>
                  </a:rPr>
                  <a:t> with this best predictor, mean square error is the </a:t>
                </a:r>
                <a:r>
                  <a:rPr lang="en-US" sz="1100" i="1" dirty="0">
                    <a:highlight>
                      <a:srgbClr val="FFFF00"/>
                    </a:highlight>
                  </a:rPr>
                  <a:t>variance</a:t>
                </a:r>
                <a:r>
                  <a:rPr lang="en-US" sz="1100" dirty="0">
                    <a:highlight>
                      <a:srgbClr val="FFFF00"/>
                    </a:highlight>
                  </a:rPr>
                  <a:t> of the data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4B33409-E12A-A50E-6D94-169D5D05E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96" y="351243"/>
                <a:ext cx="5383504" cy="2720425"/>
              </a:xfrm>
              <a:prstGeom prst="rect">
                <a:avLst/>
              </a:prstGeom>
              <a:blipFill>
                <a:blip r:embed="rId2"/>
                <a:stretch>
                  <a:fillRect b="-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2273300" y="1165225"/>
            <a:ext cx="16002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dirty="0">
                <a:solidFill>
                  <a:schemeClr val="tx1"/>
                </a:solidFill>
                <a:latin typeface="Arial MT"/>
                <a:cs typeface="Arial MT"/>
              </a:rPr>
              <a:t>Absolute loss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9895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ERM with absolute loss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C06127-7FD7-17F9-0847-225697F053E8}"/>
                  </a:ext>
                </a:extLst>
              </p:cNvPr>
              <p:cNvSpPr txBox="1"/>
              <p:nvPr/>
            </p:nvSpPr>
            <p:spPr>
              <a:xfrm>
                <a:off x="215900" y="668093"/>
                <a:ext cx="5307304" cy="1708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100" dirty="0"/>
                  <a:t>► for absolute loss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sepChr m:val=",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100" i="0">
                        <a:latin typeface="Cambria Math" panose="02040503050406030204" pitchFamily="18" charset="0"/>
                      </a:rPr>
                      <m:t>=∣</m:t>
                    </m:r>
                    <m:acc>
                      <m:accPr>
                        <m:chr m:val="̂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1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1100" dirty="0"/>
                  <a:t>, empirical risk is </a:t>
                </a:r>
                <a:r>
                  <a:rPr lang="en-US" sz="1100" i="1" dirty="0"/>
                  <a:t>mean-absolute error</a:t>
                </a:r>
                <a:endParaRPr lang="en-US" sz="11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nary>
                      <m:r>
                        <a:rPr lang="en-US" sz="11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100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1100" i="0">
                          <a:latin typeface="Cambria Math" panose="02040503050406030204" pitchFamily="18" charset="0"/>
                        </a:rPr>
                        <m:t>∣</m:t>
                      </m:r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100" dirty="0"/>
                  <a:t> is convex and piecewise linear, with kink points at the data values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100" i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we’ll see that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is optimal if and only if it is a </a:t>
                </a:r>
                <a:r>
                  <a:rPr lang="en-US" sz="1100" i="1" dirty="0"/>
                  <a:t>median</a:t>
                </a:r>
                <a:r>
                  <a:rPr lang="en-US" sz="1100" dirty="0"/>
                  <a:t> of the data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another reasonable constant approximation of the data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C06127-7FD7-17F9-0847-225697F05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668093"/>
                <a:ext cx="5307304" cy="1708032"/>
              </a:xfrm>
              <a:prstGeom prst="rect">
                <a:avLst/>
              </a:prstGeom>
              <a:blipFill>
                <a:blip r:embed="rId2"/>
                <a:stretch>
                  <a:fillRect t="-21071"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ABB557F-261B-6FB6-4ABB-A22D33130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466"/>
            <a:ext cx="5765800" cy="27759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854561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ERM with absolute loss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0786" y="632553"/>
            <a:ext cx="1858645" cy="1846580"/>
            <a:chOff x="1980786" y="632553"/>
            <a:chExt cx="1858645" cy="1846580"/>
          </a:xfrm>
        </p:grpSpPr>
        <p:sp>
          <p:nvSpPr>
            <p:cNvPr id="4" name="object 4"/>
            <p:cNvSpPr/>
            <p:nvPr/>
          </p:nvSpPr>
          <p:spPr>
            <a:xfrm>
              <a:off x="1985866" y="637633"/>
              <a:ext cx="1848485" cy="1836420"/>
            </a:xfrm>
            <a:custGeom>
              <a:avLst/>
              <a:gdLst/>
              <a:ahLst/>
              <a:cxnLst/>
              <a:rect l="l" t="t" r="r" b="b"/>
              <a:pathLst>
                <a:path w="1848485" h="1836420">
                  <a:moveTo>
                    <a:pt x="1847986" y="0"/>
                  </a:moveTo>
                  <a:lnTo>
                    <a:pt x="0" y="0"/>
                  </a:lnTo>
                  <a:lnTo>
                    <a:pt x="0" y="1836064"/>
                  </a:lnTo>
                  <a:lnTo>
                    <a:pt x="1847986" y="1836064"/>
                  </a:lnTo>
                  <a:lnTo>
                    <a:pt x="1847986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5866" y="637633"/>
              <a:ext cx="1848485" cy="1836420"/>
            </a:xfrm>
            <a:custGeom>
              <a:avLst/>
              <a:gdLst/>
              <a:ahLst/>
              <a:cxnLst/>
              <a:rect l="l" t="t" r="r" b="b"/>
              <a:pathLst>
                <a:path w="1848485" h="1836420">
                  <a:moveTo>
                    <a:pt x="103713" y="1836064"/>
                  </a:moveTo>
                  <a:lnTo>
                    <a:pt x="103713" y="0"/>
                  </a:lnTo>
                </a:path>
                <a:path w="1848485" h="1836420">
                  <a:moveTo>
                    <a:pt x="339426" y="1836064"/>
                  </a:moveTo>
                  <a:lnTo>
                    <a:pt x="339426" y="0"/>
                  </a:lnTo>
                </a:path>
                <a:path w="1848485" h="1836420">
                  <a:moveTo>
                    <a:pt x="575138" y="1836064"/>
                  </a:moveTo>
                  <a:lnTo>
                    <a:pt x="575138" y="0"/>
                  </a:lnTo>
                </a:path>
                <a:path w="1848485" h="1836420">
                  <a:moveTo>
                    <a:pt x="810851" y="1836064"/>
                  </a:moveTo>
                  <a:lnTo>
                    <a:pt x="810851" y="0"/>
                  </a:lnTo>
                </a:path>
                <a:path w="1848485" h="1836420">
                  <a:moveTo>
                    <a:pt x="1046563" y="1836064"/>
                  </a:moveTo>
                  <a:lnTo>
                    <a:pt x="1046563" y="0"/>
                  </a:lnTo>
                </a:path>
                <a:path w="1848485" h="1836420">
                  <a:moveTo>
                    <a:pt x="1282276" y="1836064"/>
                  </a:moveTo>
                  <a:lnTo>
                    <a:pt x="1282276" y="0"/>
                  </a:lnTo>
                </a:path>
                <a:path w="1848485" h="1836420">
                  <a:moveTo>
                    <a:pt x="1517989" y="1836064"/>
                  </a:moveTo>
                  <a:lnTo>
                    <a:pt x="1517989" y="0"/>
                  </a:lnTo>
                </a:path>
                <a:path w="1848485" h="1836420">
                  <a:moveTo>
                    <a:pt x="1753701" y="1836064"/>
                  </a:moveTo>
                  <a:lnTo>
                    <a:pt x="1753701" y="0"/>
                  </a:lnTo>
                </a:path>
                <a:path w="1848485" h="1836420">
                  <a:moveTo>
                    <a:pt x="0" y="1743862"/>
                  </a:moveTo>
                  <a:lnTo>
                    <a:pt x="1847986" y="1743862"/>
                  </a:lnTo>
                </a:path>
                <a:path w="1848485" h="1836420">
                  <a:moveTo>
                    <a:pt x="0" y="1506903"/>
                  </a:moveTo>
                  <a:lnTo>
                    <a:pt x="1847986" y="1506903"/>
                  </a:lnTo>
                </a:path>
                <a:path w="1848485" h="1836420">
                  <a:moveTo>
                    <a:pt x="0" y="1269944"/>
                  </a:moveTo>
                  <a:lnTo>
                    <a:pt x="1847986" y="1269944"/>
                  </a:lnTo>
                </a:path>
                <a:path w="1848485" h="1836420">
                  <a:moveTo>
                    <a:pt x="0" y="1032985"/>
                  </a:moveTo>
                  <a:lnTo>
                    <a:pt x="1847986" y="1032985"/>
                  </a:lnTo>
                </a:path>
                <a:path w="1848485" h="1836420">
                  <a:moveTo>
                    <a:pt x="0" y="796026"/>
                  </a:moveTo>
                  <a:lnTo>
                    <a:pt x="1847986" y="796026"/>
                  </a:lnTo>
                </a:path>
                <a:path w="1848485" h="1836420">
                  <a:moveTo>
                    <a:pt x="0" y="559068"/>
                  </a:moveTo>
                  <a:lnTo>
                    <a:pt x="1847986" y="559068"/>
                  </a:lnTo>
                </a:path>
                <a:path w="1848485" h="1836420">
                  <a:moveTo>
                    <a:pt x="0" y="322109"/>
                  </a:moveTo>
                  <a:lnTo>
                    <a:pt x="1847986" y="322109"/>
                  </a:lnTo>
                </a:path>
                <a:path w="1848485" h="1836420">
                  <a:moveTo>
                    <a:pt x="0" y="85150"/>
                  </a:moveTo>
                  <a:lnTo>
                    <a:pt x="1847986" y="85150"/>
                  </a:lnTo>
                </a:path>
              </a:pathLst>
            </a:custGeom>
            <a:ln w="551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60832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24442" y="0"/>
                  </a:moveTo>
                  <a:lnTo>
                    <a:pt x="14195" y="0"/>
                  </a:lnTo>
                  <a:lnTo>
                    <a:pt x="9281" y="2035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lnTo>
                    <a:pt x="24442" y="38637"/>
                  </a:lnTo>
                  <a:lnTo>
                    <a:pt x="29356" y="36602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29356" y="2035"/>
                  </a:lnTo>
                  <a:lnTo>
                    <a:pt x="2444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60832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19318" y="38637"/>
                  </a:moveTo>
                  <a:lnTo>
                    <a:pt x="24442" y="38637"/>
                  </a:lnTo>
                  <a:lnTo>
                    <a:pt x="29356" y="36602"/>
                  </a:lnTo>
                  <a:lnTo>
                    <a:pt x="32979" y="32979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9318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32979" y="5658"/>
                  </a:lnTo>
                  <a:lnTo>
                    <a:pt x="29356" y="2035"/>
                  </a:lnTo>
                  <a:lnTo>
                    <a:pt x="24442" y="0"/>
                  </a:lnTo>
                  <a:lnTo>
                    <a:pt x="19318" y="0"/>
                  </a:lnTo>
                  <a:lnTo>
                    <a:pt x="14195" y="0"/>
                  </a:lnTo>
                  <a:lnTo>
                    <a:pt x="9281" y="2035"/>
                  </a:lnTo>
                  <a:lnTo>
                    <a:pt x="5658" y="5658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19318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5658" y="32979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5974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24442" y="0"/>
                  </a:moveTo>
                  <a:lnTo>
                    <a:pt x="14195" y="0"/>
                  </a:lnTo>
                  <a:lnTo>
                    <a:pt x="9281" y="2035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lnTo>
                    <a:pt x="24442" y="38637"/>
                  </a:lnTo>
                  <a:lnTo>
                    <a:pt x="29356" y="36602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29356" y="2035"/>
                  </a:lnTo>
                  <a:lnTo>
                    <a:pt x="2444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5974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19318" y="38637"/>
                  </a:moveTo>
                  <a:lnTo>
                    <a:pt x="24442" y="38637"/>
                  </a:lnTo>
                  <a:lnTo>
                    <a:pt x="29356" y="36602"/>
                  </a:lnTo>
                  <a:lnTo>
                    <a:pt x="32979" y="32979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9318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32979" y="5658"/>
                  </a:lnTo>
                  <a:lnTo>
                    <a:pt x="29356" y="2035"/>
                  </a:lnTo>
                  <a:lnTo>
                    <a:pt x="24442" y="0"/>
                  </a:lnTo>
                  <a:lnTo>
                    <a:pt x="19318" y="0"/>
                  </a:lnTo>
                  <a:lnTo>
                    <a:pt x="14195" y="0"/>
                  </a:lnTo>
                  <a:lnTo>
                    <a:pt x="9281" y="2035"/>
                  </a:lnTo>
                  <a:lnTo>
                    <a:pt x="5658" y="5658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19318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5658" y="32979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94544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24442" y="0"/>
                  </a:moveTo>
                  <a:lnTo>
                    <a:pt x="14195" y="0"/>
                  </a:lnTo>
                  <a:lnTo>
                    <a:pt x="9281" y="2035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lnTo>
                    <a:pt x="24442" y="38637"/>
                  </a:lnTo>
                  <a:lnTo>
                    <a:pt x="29356" y="36602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29356" y="2035"/>
                  </a:lnTo>
                  <a:lnTo>
                    <a:pt x="2444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94544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19318" y="38637"/>
                  </a:moveTo>
                  <a:lnTo>
                    <a:pt x="24442" y="38637"/>
                  </a:lnTo>
                  <a:lnTo>
                    <a:pt x="29356" y="36602"/>
                  </a:lnTo>
                  <a:lnTo>
                    <a:pt x="32979" y="32979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9318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32979" y="5658"/>
                  </a:lnTo>
                  <a:lnTo>
                    <a:pt x="29356" y="2035"/>
                  </a:lnTo>
                  <a:lnTo>
                    <a:pt x="24442" y="0"/>
                  </a:lnTo>
                  <a:lnTo>
                    <a:pt x="19318" y="0"/>
                  </a:lnTo>
                  <a:lnTo>
                    <a:pt x="14195" y="0"/>
                  </a:lnTo>
                  <a:lnTo>
                    <a:pt x="9281" y="2035"/>
                  </a:lnTo>
                  <a:lnTo>
                    <a:pt x="5658" y="5658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19318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5658" y="32979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65969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24442" y="0"/>
                  </a:moveTo>
                  <a:lnTo>
                    <a:pt x="14195" y="0"/>
                  </a:lnTo>
                  <a:lnTo>
                    <a:pt x="9281" y="2035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lnTo>
                    <a:pt x="24442" y="38637"/>
                  </a:lnTo>
                  <a:lnTo>
                    <a:pt x="29356" y="36602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29356" y="2035"/>
                  </a:lnTo>
                  <a:lnTo>
                    <a:pt x="2444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65969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19318" y="38637"/>
                  </a:moveTo>
                  <a:lnTo>
                    <a:pt x="24442" y="38637"/>
                  </a:lnTo>
                  <a:lnTo>
                    <a:pt x="29356" y="36602"/>
                  </a:lnTo>
                  <a:lnTo>
                    <a:pt x="32979" y="32979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9318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32979" y="5658"/>
                  </a:lnTo>
                  <a:lnTo>
                    <a:pt x="29356" y="2035"/>
                  </a:lnTo>
                  <a:lnTo>
                    <a:pt x="24442" y="0"/>
                  </a:lnTo>
                  <a:lnTo>
                    <a:pt x="19318" y="0"/>
                  </a:lnTo>
                  <a:lnTo>
                    <a:pt x="14195" y="0"/>
                  </a:lnTo>
                  <a:lnTo>
                    <a:pt x="9281" y="2035"/>
                  </a:lnTo>
                  <a:lnTo>
                    <a:pt x="5658" y="5658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19318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5658" y="32979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0254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24442" y="0"/>
                  </a:moveTo>
                  <a:lnTo>
                    <a:pt x="14195" y="0"/>
                  </a:lnTo>
                  <a:lnTo>
                    <a:pt x="9281" y="2035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lnTo>
                    <a:pt x="24442" y="38637"/>
                  </a:lnTo>
                  <a:lnTo>
                    <a:pt x="29356" y="36602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29356" y="2035"/>
                  </a:lnTo>
                  <a:lnTo>
                    <a:pt x="2444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0254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19318" y="38637"/>
                  </a:moveTo>
                  <a:lnTo>
                    <a:pt x="24442" y="38637"/>
                  </a:lnTo>
                  <a:lnTo>
                    <a:pt x="29356" y="36602"/>
                  </a:lnTo>
                  <a:lnTo>
                    <a:pt x="32979" y="32979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9318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32979" y="5658"/>
                  </a:lnTo>
                  <a:lnTo>
                    <a:pt x="29356" y="2035"/>
                  </a:lnTo>
                  <a:lnTo>
                    <a:pt x="24442" y="0"/>
                  </a:lnTo>
                  <a:lnTo>
                    <a:pt x="19318" y="0"/>
                  </a:lnTo>
                  <a:lnTo>
                    <a:pt x="14195" y="0"/>
                  </a:lnTo>
                  <a:lnTo>
                    <a:pt x="9281" y="2035"/>
                  </a:lnTo>
                  <a:lnTo>
                    <a:pt x="5658" y="5658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19318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5658" y="32979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84537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24442" y="0"/>
                  </a:moveTo>
                  <a:lnTo>
                    <a:pt x="14195" y="0"/>
                  </a:lnTo>
                  <a:lnTo>
                    <a:pt x="9281" y="2035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lnTo>
                    <a:pt x="24442" y="38637"/>
                  </a:lnTo>
                  <a:lnTo>
                    <a:pt x="29356" y="36602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29356" y="2035"/>
                  </a:lnTo>
                  <a:lnTo>
                    <a:pt x="2444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84537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19318" y="38637"/>
                  </a:moveTo>
                  <a:lnTo>
                    <a:pt x="24442" y="38637"/>
                  </a:lnTo>
                  <a:lnTo>
                    <a:pt x="29356" y="36602"/>
                  </a:lnTo>
                  <a:lnTo>
                    <a:pt x="32979" y="32979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9318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32979" y="5658"/>
                  </a:lnTo>
                  <a:lnTo>
                    <a:pt x="29356" y="2035"/>
                  </a:lnTo>
                  <a:lnTo>
                    <a:pt x="24442" y="0"/>
                  </a:lnTo>
                  <a:lnTo>
                    <a:pt x="19318" y="0"/>
                  </a:lnTo>
                  <a:lnTo>
                    <a:pt x="14195" y="0"/>
                  </a:lnTo>
                  <a:lnTo>
                    <a:pt x="9281" y="2035"/>
                  </a:lnTo>
                  <a:lnTo>
                    <a:pt x="5658" y="5658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19318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5658" y="32979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20249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24442" y="0"/>
                  </a:moveTo>
                  <a:lnTo>
                    <a:pt x="14195" y="0"/>
                  </a:lnTo>
                  <a:lnTo>
                    <a:pt x="9281" y="2035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lnTo>
                    <a:pt x="24442" y="38637"/>
                  </a:lnTo>
                  <a:lnTo>
                    <a:pt x="29356" y="36602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29356" y="2035"/>
                  </a:lnTo>
                  <a:lnTo>
                    <a:pt x="2444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20249" y="236217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19318" y="38637"/>
                  </a:moveTo>
                  <a:lnTo>
                    <a:pt x="24442" y="38637"/>
                  </a:lnTo>
                  <a:lnTo>
                    <a:pt x="29356" y="36602"/>
                  </a:lnTo>
                  <a:lnTo>
                    <a:pt x="32979" y="32979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9318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32979" y="5658"/>
                  </a:lnTo>
                  <a:lnTo>
                    <a:pt x="29356" y="2035"/>
                  </a:lnTo>
                  <a:lnTo>
                    <a:pt x="24442" y="0"/>
                  </a:lnTo>
                  <a:lnTo>
                    <a:pt x="19318" y="0"/>
                  </a:lnTo>
                  <a:lnTo>
                    <a:pt x="14195" y="0"/>
                  </a:lnTo>
                  <a:lnTo>
                    <a:pt x="9281" y="2035"/>
                  </a:lnTo>
                  <a:lnTo>
                    <a:pt x="5658" y="5658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19318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5658" y="32979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85866" y="1195009"/>
              <a:ext cx="1848485" cy="575945"/>
            </a:xfrm>
            <a:custGeom>
              <a:avLst/>
              <a:gdLst/>
              <a:ahLst/>
              <a:cxnLst/>
              <a:rect l="l" t="t" r="r" b="b"/>
              <a:pathLst>
                <a:path w="1848485" h="575944">
                  <a:moveTo>
                    <a:pt x="0" y="50776"/>
                  </a:moveTo>
                  <a:lnTo>
                    <a:pt x="95776" y="170594"/>
                  </a:lnTo>
                  <a:lnTo>
                    <a:pt x="340785" y="390021"/>
                  </a:lnTo>
                  <a:lnTo>
                    <a:pt x="527882" y="490782"/>
                  </a:lnTo>
                  <a:lnTo>
                    <a:pt x="1000082" y="575353"/>
                  </a:lnTo>
                  <a:lnTo>
                    <a:pt x="1093631" y="558559"/>
                  </a:lnTo>
                  <a:lnTo>
                    <a:pt x="1151542" y="527398"/>
                  </a:lnTo>
                  <a:lnTo>
                    <a:pt x="1519055" y="329092"/>
                  </a:lnTo>
                  <a:lnTo>
                    <a:pt x="1755155" y="116653"/>
                  </a:lnTo>
                  <a:lnTo>
                    <a:pt x="1847986" y="0"/>
                  </a:lnTo>
                </a:path>
              </a:pathLst>
            </a:custGeom>
            <a:ln w="9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85288" y="637633"/>
              <a:ext cx="0" cy="1836420"/>
            </a:xfrm>
            <a:custGeom>
              <a:avLst/>
              <a:gdLst/>
              <a:ahLst/>
              <a:cxnLst/>
              <a:rect l="l" t="t" r="r" b="b"/>
              <a:pathLst>
                <a:path h="1836420">
                  <a:moveTo>
                    <a:pt x="0" y="1836064"/>
                  </a:moveTo>
                  <a:lnTo>
                    <a:pt x="0" y="0"/>
                  </a:lnTo>
                </a:path>
              </a:pathLst>
            </a:custGeom>
            <a:ln w="965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07414" y="707492"/>
              <a:ext cx="110489" cy="0"/>
            </a:xfrm>
            <a:custGeom>
              <a:avLst/>
              <a:gdLst/>
              <a:ahLst/>
              <a:cxnLst/>
              <a:rect l="l" t="t" r="r" b="b"/>
              <a:pathLst>
                <a:path w="110489">
                  <a:moveTo>
                    <a:pt x="0" y="0"/>
                  </a:moveTo>
                  <a:lnTo>
                    <a:pt x="110393" y="0"/>
                  </a:lnTo>
                </a:path>
              </a:pathLst>
            </a:custGeom>
            <a:ln w="9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023149" y="2481681"/>
            <a:ext cx="1546860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8285" algn="l"/>
                <a:tab pos="483870" algn="l"/>
                <a:tab pos="719455" algn="l"/>
                <a:tab pos="955040" algn="l"/>
                <a:tab pos="1190625" algn="l"/>
                <a:tab pos="1426845" algn="l"/>
              </a:tabLst>
            </a:pPr>
            <a:r>
              <a:rPr sz="450" spc="-20" dirty="0">
                <a:solidFill>
                  <a:srgbClr val="262626"/>
                </a:solidFill>
                <a:latin typeface="Arial MT"/>
                <a:cs typeface="Arial MT"/>
              </a:rPr>
              <a:t>0.25</a:t>
            </a:r>
            <a:r>
              <a:rPr sz="4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450" spc="-20" dirty="0">
                <a:solidFill>
                  <a:srgbClr val="262626"/>
                </a:solidFill>
                <a:latin typeface="Arial MT"/>
                <a:cs typeface="Arial MT"/>
              </a:rPr>
              <a:t>0.50</a:t>
            </a:r>
            <a:r>
              <a:rPr sz="4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450" spc="-20" dirty="0">
                <a:solidFill>
                  <a:srgbClr val="262626"/>
                </a:solidFill>
                <a:latin typeface="Arial MT"/>
                <a:cs typeface="Arial MT"/>
              </a:rPr>
              <a:t>0.75</a:t>
            </a:r>
            <a:r>
              <a:rPr sz="4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45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45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.00</a:t>
            </a:r>
            <a:r>
              <a:rPr sz="4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45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45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.25</a:t>
            </a:r>
            <a:r>
              <a:rPr sz="4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45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45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.50</a:t>
            </a:r>
            <a:r>
              <a:rPr sz="4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45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45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.75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73137" y="2481681"/>
            <a:ext cx="133350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spc="-20" dirty="0">
                <a:solidFill>
                  <a:srgbClr val="262626"/>
                </a:solidFill>
                <a:latin typeface="Arial MT"/>
                <a:cs typeface="Arial MT"/>
              </a:rPr>
              <a:t>2.00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89834" y="2577207"/>
            <a:ext cx="36830" cy="52069"/>
          </a:xfrm>
          <a:custGeom>
            <a:avLst/>
            <a:gdLst/>
            <a:ahLst/>
            <a:cxnLst/>
            <a:rect l="l" t="t" r="r" b="b"/>
            <a:pathLst>
              <a:path w="36830" h="52069">
                <a:moveTo>
                  <a:pt x="28415" y="0"/>
                </a:moveTo>
                <a:lnTo>
                  <a:pt x="18016" y="0"/>
                </a:lnTo>
                <a:lnTo>
                  <a:pt x="13512" y="2318"/>
                </a:lnTo>
                <a:lnTo>
                  <a:pt x="5828" y="11458"/>
                </a:lnTo>
                <a:lnTo>
                  <a:pt x="3179" y="17751"/>
                </a:lnTo>
                <a:lnTo>
                  <a:pt x="0" y="33912"/>
                </a:lnTo>
                <a:lnTo>
                  <a:pt x="200" y="38681"/>
                </a:lnTo>
                <a:lnTo>
                  <a:pt x="264" y="40205"/>
                </a:lnTo>
                <a:lnTo>
                  <a:pt x="2318" y="44709"/>
                </a:lnTo>
                <a:lnTo>
                  <a:pt x="4371" y="49279"/>
                </a:lnTo>
                <a:lnTo>
                  <a:pt x="8014" y="51531"/>
                </a:lnTo>
                <a:lnTo>
                  <a:pt x="18347" y="51531"/>
                </a:lnTo>
                <a:lnTo>
                  <a:pt x="22917" y="49279"/>
                </a:lnTo>
                <a:lnTo>
                  <a:pt x="25089" y="46696"/>
                </a:lnTo>
                <a:lnTo>
                  <a:pt x="10928" y="46696"/>
                </a:lnTo>
                <a:lnTo>
                  <a:pt x="8743" y="45040"/>
                </a:lnTo>
                <a:lnTo>
                  <a:pt x="7550" y="41662"/>
                </a:lnTo>
                <a:lnTo>
                  <a:pt x="6623" y="38946"/>
                </a:lnTo>
                <a:lnTo>
                  <a:pt x="6689" y="33912"/>
                </a:lnTo>
                <a:lnTo>
                  <a:pt x="7550" y="27885"/>
                </a:lnTo>
                <a:lnTo>
                  <a:pt x="34436" y="27885"/>
                </a:lnTo>
                <a:lnTo>
                  <a:pt x="35517" y="22387"/>
                </a:lnTo>
                <a:lnTo>
                  <a:pt x="8676" y="22387"/>
                </a:lnTo>
                <a:lnTo>
                  <a:pt x="10134" y="16823"/>
                </a:lnTo>
                <a:lnTo>
                  <a:pt x="11790" y="12651"/>
                </a:lnTo>
                <a:lnTo>
                  <a:pt x="13664" y="10001"/>
                </a:lnTo>
                <a:lnTo>
                  <a:pt x="16095" y="6623"/>
                </a:lnTo>
                <a:lnTo>
                  <a:pt x="19009" y="4901"/>
                </a:lnTo>
                <a:lnTo>
                  <a:pt x="33190" y="4901"/>
                </a:lnTo>
                <a:lnTo>
                  <a:pt x="31992" y="2318"/>
                </a:lnTo>
                <a:lnTo>
                  <a:pt x="28415" y="0"/>
                </a:lnTo>
                <a:close/>
              </a:path>
              <a:path w="36830" h="52069">
                <a:moveTo>
                  <a:pt x="34436" y="27885"/>
                </a:moveTo>
                <a:lnTo>
                  <a:pt x="28084" y="27885"/>
                </a:lnTo>
                <a:lnTo>
                  <a:pt x="26673" y="33912"/>
                </a:lnTo>
                <a:lnTo>
                  <a:pt x="26626" y="34111"/>
                </a:lnTo>
                <a:lnTo>
                  <a:pt x="24838" y="38681"/>
                </a:lnTo>
                <a:lnTo>
                  <a:pt x="22718" y="41662"/>
                </a:lnTo>
                <a:lnTo>
                  <a:pt x="20202" y="45040"/>
                </a:lnTo>
                <a:lnTo>
                  <a:pt x="17353" y="46696"/>
                </a:lnTo>
                <a:lnTo>
                  <a:pt x="25089" y="46696"/>
                </a:lnTo>
                <a:lnTo>
                  <a:pt x="26759" y="44709"/>
                </a:lnTo>
                <a:lnTo>
                  <a:pt x="30601" y="40205"/>
                </a:lnTo>
                <a:lnTo>
                  <a:pt x="33055" y="34376"/>
                </a:lnTo>
                <a:lnTo>
                  <a:pt x="33166" y="34111"/>
                </a:lnTo>
                <a:lnTo>
                  <a:pt x="33250" y="33912"/>
                </a:lnTo>
                <a:lnTo>
                  <a:pt x="34436" y="27885"/>
                </a:lnTo>
                <a:close/>
              </a:path>
              <a:path w="36830" h="52069">
                <a:moveTo>
                  <a:pt x="33190" y="4901"/>
                </a:moveTo>
                <a:lnTo>
                  <a:pt x="25434" y="4901"/>
                </a:lnTo>
                <a:lnTo>
                  <a:pt x="27620" y="6623"/>
                </a:lnTo>
                <a:lnTo>
                  <a:pt x="28812" y="10001"/>
                </a:lnTo>
                <a:lnTo>
                  <a:pt x="29541" y="12187"/>
                </a:lnTo>
                <a:lnTo>
                  <a:pt x="29480" y="17751"/>
                </a:lnTo>
                <a:lnTo>
                  <a:pt x="29077" y="22387"/>
                </a:lnTo>
                <a:lnTo>
                  <a:pt x="35517" y="22387"/>
                </a:lnTo>
                <a:lnTo>
                  <a:pt x="36429" y="17751"/>
                </a:lnTo>
                <a:lnTo>
                  <a:pt x="36215" y="12651"/>
                </a:lnTo>
                <a:lnTo>
                  <a:pt x="36164" y="11458"/>
                </a:lnTo>
                <a:lnTo>
                  <a:pt x="34111" y="6888"/>
                </a:lnTo>
                <a:lnTo>
                  <a:pt x="33190" y="4901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857770" y="909338"/>
            <a:ext cx="102870" cy="1516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45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.2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45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45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57770" y="672379"/>
            <a:ext cx="10223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45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.4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7911" y="1480835"/>
            <a:ext cx="84455" cy="11366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595"/>
              </a:lnSpc>
            </a:pPr>
            <a:r>
              <a:rPr sz="500" dirty="0">
                <a:solidFill>
                  <a:srgbClr val="262626"/>
                </a:solidFill>
                <a:latin typeface="Arial MT"/>
                <a:cs typeface="Arial MT"/>
              </a:rPr>
              <a:t>(</a:t>
            </a:r>
            <a:r>
              <a:rPr sz="500" spc="21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60" dirty="0">
                <a:solidFill>
                  <a:srgbClr val="262626"/>
                </a:solidFill>
                <a:latin typeface="Arial MT"/>
                <a:cs typeface="Arial MT"/>
              </a:rPr>
              <a:t>)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80006" y="1517205"/>
            <a:ext cx="52069" cy="108585"/>
          </a:xfrm>
          <a:custGeom>
            <a:avLst/>
            <a:gdLst/>
            <a:ahLst/>
            <a:cxnLst/>
            <a:rect l="l" t="t" r="r" b="b"/>
            <a:pathLst>
              <a:path w="52069" h="108585">
                <a:moveTo>
                  <a:pt x="51269" y="78828"/>
                </a:moveTo>
                <a:lnTo>
                  <a:pt x="48425" y="72732"/>
                </a:lnTo>
                <a:lnTo>
                  <a:pt x="42595" y="66967"/>
                </a:lnTo>
                <a:lnTo>
                  <a:pt x="41402" y="68097"/>
                </a:lnTo>
                <a:lnTo>
                  <a:pt x="45110" y="72009"/>
                </a:lnTo>
                <a:lnTo>
                  <a:pt x="46901" y="75844"/>
                </a:lnTo>
                <a:lnTo>
                  <a:pt x="46901" y="81407"/>
                </a:lnTo>
                <a:lnTo>
                  <a:pt x="46367" y="83197"/>
                </a:lnTo>
                <a:lnTo>
                  <a:pt x="45237" y="84785"/>
                </a:lnTo>
                <a:lnTo>
                  <a:pt x="44183" y="86372"/>
                </a:lnTo>
                <a:lnTo>
                  <a:pt x="43586" y="88366"/>
                </a:lnTo>
                <a:lnTo>
                  <a:pt x="43586" y="94322"/>
                </a:lnTo>
                <a:lnTo>
                  <a:pt x="44119" y="96837"/>
                </a:lnTo>
                <a:lnTo>
                  <a:pt x="45046" y="98234"/>
                </a:lnTo>
                <a:lnTo>
                  <a:pt x="44780" y="98234"/>
                </a:lnTo>
                <a:lnTo>
                  <a:pt x="24180" y="91084"/>
                </a:lnTo>
                <a:lnTo>
                  <a:pt x="21259" y="90424"/>
                </a:lnTo>
                <a:lnTo>
                  <a:pt x="18478" y="89623"/>
                </a:lnTo>
                <a:lnTo>
                  <a:pt x="15697" y="88900"/>
                </a:lnTo>
                <a:lnTo>
                  <a:pt x="13449" y="87769"/>
                </a:lnTo>
                <a:lnTo>
                  <a:pt x="10007" y="84848"/>
                </a:lnTo>
                <a:lnTo>
                  <a:pt x="9144" y="82994"/>
                </a:lnTo>
                <a:lnTo>
                  <a:pt x="9144" y="78168"/>
                </a:lnTo>
                <a:lnTo>
                  <a:pt x="10007" y="76835"/>
                </a:lnTo>
                <a:lnTo>
                  <a:pt x="11988" y="76835"/>
                </a:lnTo>
                <a:lnTo>
                  <a:pt x="12255" y="77038"/>
                </a:lnTo>
                <a:lnTo>
                  <a:pt x="12522" y="77368"/>
                </a:lnTo>
                <a:lnTo>
                  <a:pt x="12788" y="77762"/>
                </a:lnTo>
                <a:lnTo>
                  <a:pt x="13055" y="78092"/>
                </a:lnTo>
                <a:lnTo>
                  <a:pt x="13309" y="78892"/>
                </a:lnTo>
                <a:lnTo>
                  <a:pt x="13652" y="79286"/>
                </a:lnTo>
                <a:lnTo>
                  <a:pt x="14109" y="79616"/>
                </a:lnTo>
                <a:lnTo>
                  <a:pt x="14643" y="80022"/>
                </a:lnTo>
                <a:lnTo>
                  <a:pt x="15240" y="80149"/>
                </a:lnTo>
                <a:lnTo>
                  <a:pt x="16827" y="80149"/>
                </a:lnTo>
                <a:lnTo>
                  <a:pt x="17614" y="79883"/>
                </a:lnTo>
                <a:lnTo>
                  <a:pt x="18288" y="79222"/>
                </a:lnTo>
                <a:lnTo>
                  <a:pt x="18948" y="78625"/>
                </a:lnTo>
                <a:lnTo>
                  <a:pt x="19278" y="77838"/>
                </a:lnTo>
                <a:lnTo>
                  <a:pt x="19278" y="75387"/>
                </a:lnTo>
                <a:lnTo>
                  <a:pt x="18808" y="74129"/>
                </a:lnTo>
                <a:lnTo>
                  <a:pt x="17754" y="73063"/>
                </a:lnTo>
                <a:lnTo>
                  <a:pt x="16764" y="72009"/>
                </a:lnTo>
                <a:lnTo>
                  <a:pt x="15430" y="71475"/>
                </a:lnTo>
                <a:lnTo>
                  <a:pt x="11798" y="71475"/>
                </a:lnTo>
                <a:lnTo>
                  <a:pt x="10071" y="72009"/>
                </a:lnTo>
                <a:lnTo>
                  <a:pt x="8610" y="73063"/>
                </a:lnTo>
                <a:lnTo>
                  <a:pt x="7226" y="74129"/>
                </a:lnTo>
                <a:lnTo>
                  <a:pt x="6489" y="75717"/>
                </a:lnTo>
                <a:lnTo>
                  <a:pt x="6489" y="79692"/>
                </a:lnTo>
                <a:lnTo>
                  <a:pt x="6896" y="81546"/>
                </a:lnTo>
                <a:lnTo>
                  <a:pt x="7556" y="83464"/>
                </a:lnTo>
                <a:lnTo>
                  <a:pt x="8216" y="85445"/>
                </a:lnTo>
                <a:lnTo>
                  <a:pt x="24307" y="98031"/>
                </a:lnTo>
                <a:lnTo>
                  <a:pt x="43116" y="102666"/>
                </a:lnTo>
                <a:lnTo>
                  <a:pt x="47231" y="103733"/>
                </a:lnTo>
                <a:lnTo>
                  <a:pt x="49276" y="105448"/>
                </a:lnTo>
                <a:lnTo>
                  <a:pt x="49276" y="107835"/>
                </a:lnTo>
                <a:lnTo>
                  <a:pt x="50876" y="108229"/>
                </a:lnTo>
                <a:lnTo>
                  <a:pt x="50876" y="107238"/>
                </a:lnTo>
                <a:lnTo>
                  <a:pt x="50673" y="105587"/>
                </a:lnTo>
                <a:lnTo>
                  <a:pt x="50279" y="103263"/>
                </a:lnTo>
                <a:lnTo>
                  <a:pt x="49872" y="101015"/>
                </a:lnTo>
                <a:lnTo>
                  <a:pt x="49618" y="99364"/>
                </a:lnTo>
                <a:lnTo>
                  <a:pt x="49618" y="96647"/>
                </a:lnTo>
                <a:lnTo>
                  <a:pt x="49949" y="94259"/>
                </a:lnTo>
                <a:lnTo>
                  <a:pt x="50609" y="91084"/>
                </a:lnTo>
                <a:lnTo>
                  <a:pt x="51003" y="88963"/>
                </a:lnTo>
                <a:lnTo>
                  <a:pt x="51269" y="87045"/>
                </a:lnTo>
                <a:lnTo>
                  <a:pt x="51269" y="78828"/>
                </a:lnTo>
                <a:close/>
              </a:path>
              <a:path w="52069" h="108585">
                <a:moveTo>
                  <a:pt x="51536" y="18084"/>
                </a:moveTo>
                <a:lnTo>
                  <a:pt x="49276" y="13512"/>
                </a:lnTo>
                <a:lnTo>
                  <a:pt x="46697" y="11341"/>
                </a:lnTo>
                <a:lnTo>
                  <a:pt x="46697" y="19075"/>
                </a:lnTo>
                <a:lnTo>
                  <a:pt x="46697" y="25501"/>
                </a:lnTo>
                <a:lnTo>
                  <a:pt x="45046" y="27686"/>
                </a:lnTo>
                <a:lnTo>
                  <a:pt x="41668" y="28879"/>
                </a:lnTo>
                <a:lnTo>
                  <a:pt x="38950" y="29806"/>
                </a:lnTo>
                <a:lnTo>
                  <a:pt x="33909" y="29730"/>
                </a:lnTo>
                <a:lnTo>
                  <a:pt x="27889" y="28879"/>
                </a:lnTo>
                <a:lnTo>
                  <a:pt x="27889" y="8343"/>
                </a:lnTo>
                <a:lnTo>
                  <a:pt x="46697" y="19075"/>
                </a:lnTo>
                <a:lnTo>
                  <a:pt x="46697" y="11341"/>
                </a:lnTo>
                <a:lnTo>
                  <a:pt x="44716" y="9664"/>
                </a:lnTo>
                <a:lnTo>
                  <a:pt x="40208" y="5829"/>
                </a:lnTo>
                <a:lnTo>
                  <a:pt x="34378" y="3365"/>
                </a:lnTo>
                <a:lnTo>
                  <a:pt x="34112" y="3263"/>
                </a:lnTo>
                <a:lnTo>
                  <a:pt x="33909" y="3175"/>
                </a:lnTo>
                <a:lnTo>
                  <a:pt x="27889" y="1993"/>
                </a:lnTo>
                <a:lnTo>
                  <a:pt x="22390" y="914"/>
                </a:lnTo>
                <a:lnTo>
                  <a:pt x="22390" y="7353"/>
                </a:lnTo>
                <a:lnTo>
                  <a:pt x="22390" y="27749"/>
                </a:lnTo>
                <a:lnTo>
                  <a:pt x="4902" y="17411"/>
                </a:lnTo>
                <a:lnTo>
                  <a:pt x="4902" y="10998"/>
                </a:lnTo>
                <a:lnTo>
                  <a:pt x="6629" y="8801"/>
                </a:lnTo>
                <a:lnTo>
                  <a:pt x="10007" y="7620"/>
                </a:lnTo>
                <a:lnTo>
                  <a:pt x="12192" y="6883"/>
                </a:lnTo>
                <a:lnTo>
                  <a:pt x="17754" y="6946"/>
                </a:lnTo>
                <a:lnTo>
                  <a:pt x="22390" y="7353"/>
                </a:lnTo>
                <a:lnTo>
                  <a:pt x="22390" y="914"/>
                </a:lnTo>
                <a:lnTo>
                  <a:pt x="17754" y="0"/>
                </a:lnTo>
                <a:lnTo>
                  <a:pt x="12649" y="215"/>
                </a:lnTo>
                <a:lnTo>
                  <a:pt x="11455" y="266"/>
                </a:lnTo>
                <a:lnTo>
                  <a:pt x="6896" y="2311"/>
                </a:lnTo>
                <a:lnTo>
                  <a:pt x="4902" y="3238"/>
                </a:lnTo>
                <a:lnTo>
                  <a:pt x="2324" y="4432"/>
                </a:lnTo>
                <a:lnTo>
                  <a:pt x="0" y="8013"/>
                </a:lnTo>
                <a:lnTo>
                  <a:pt x="0" y="18415"/>
                </a:lnTo>
                <a:lnTo>
                  <a:pt x="2324" y="22910"/>
                </a:lnTo>
                <a:lnTo>
                  <a:pt x="11455" y="30594"/>
                </a:lnTo>
                <a:lnTo>
                  <a:pt x="17754" y="33248"/>
                </a:lnTo>
                <a:lnTo>
                  <a:pt x="33909" y="36423"/>
                </a:lnTo>
                <a:lnTo>
                  <a:pt x="38684" y="36220"/>
                </a:lnTo>
                <a:lnTo>
                  <a:pt x="40208" y="36156"/>
                </a:lnTo>
                <a:lnTo>
                  <a:pt x="44716" y="34112"/>
                </a:lnTo>
                <a:lnTo>
                  <a:pt x="49276" y="32054"/>
                </a:lnTo>
                <a:lnTo>
                  <a:pt x="51536" y="28409"/>
                </a:lnTo>
                <a:lnTo>
                  <a:pt x="51536" y="18084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449265" y="656656"/>
            <a:ext cx="34734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spc="-20" dirty="0">
                <a:solidFill>
                  <a:srgbClr val="262626"/>
                </a:solidFill>
                <a:latin typeface="Arial MT"/>
                <a:cs typeface="Arial MT"/>
              </a:rPr>
              <a:t>absolute</a:t>
            </a:r>
            <a:r>
              <a:rPr sz="450" spc="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50" spc="-20" dirty="0">
                <a:solidFill>
                  <a:srgbClr val="262626"/>
                </a:solidFill>
                <a:latin typeface="Arial MT"/>
                <a:cs typeface="Arial MT"/>
              </a:rPr>
              <a:t>loss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307414" y="780714"/>
            <a:ext cx="110489" cy="108585"/>
            <a:chOff x="3307414" y="780714"/>
            <a:chExt cx="110489" cy="108585"/>
          </a:xfrm>
        </p:grpSpPr>
        <p:sp>
          <p:nvSpPr>
            <p:cNvPr id="32" name="object 32"/>
            <p:cNvSpPr/>
            <p:nvPr/>
          </p:nvSpPr>
          <p:spPr>
            <a:xfrm>
              <a:off x="3307414" y="785543"/>
              <a:ext cx="110489" cy="0"/>
            </a:xfrm>
            <a:custGeom>
              <a:avLst/>
              <a:gdLst/>
              <a:ahLst/>
              <a:cxnLst/>
              <a:rect l="l" t="t" r="r" b="b"/>
              <a:pathLst>
                <a:path w="110489">
                  <a:moveTo>
                    <a:pt x="0" y="0"/>
                  </a:moveTo>
                  <a:lnTo>
                    <a:pt x="110393" y="0"/>
                  </a:lnTo>
                </a:path>
              </a:pathLst>
            </a:custGeom>
            <a:ln w="965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43292" y="849796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4">
                  <a:moveTo>
                    <a:pt x="24442" y="0"/>
                  </a:moveTo>
                  <a:lnTo>
                    <a:pt x="14195" y="0"/>
                  </a:lnTo>
                  <a:lnTo>
                    <a:pt x="9281" y="2035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lnTo>
                    <a:pt x="24442" y="38637"/>
                  </a:lnTo>
                  <a:lnTo>
                    <a:pt x="29356" y="36602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29356" y="2035"/>
                  </a:lnTo>
                  <a:lnTo>
                    <a:pt x="2444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43292" y="849796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4">
                  <a:moveTo>
                    <a:pt x="19318" y="38637"/>
                  </a:moveTo>
                  <a:lnTo>
                    <a:pt x="24442" y="38637"/>
                  </a:lnTo>
                  <a:lnTo>
                    <a:pt x="29356" y="36602"/>
                  </a:lnTo>
                  <a:lnTo>
                    <a:pt x="32979" y="32979"/>
                  </a:lnTo>
                  <a:lnTo>
                    <a:pt x="36602" y="29356"/>
                  </a:lnTo>
                  <a:lnTo>
                    <a:pt x="38637" y="24442"/>
                  </a:lnTo>
                  <a:lnTo>
                    <a:pt x="38637" y="19318"/>
                  </a:lnTo>
                  <a:lnTo>
                    <a:pt x="38637" y="14195"/>
                  </a:lnTo>
                  <a:lnTo>
                    <a:pt x="36602" y="9281"/>
                  </a:lnTo>
                  <a:lnTo>
                    <a:pt x="32979" y="5658"/>
                  </a:lnTo>
                  <a:lnTo>
                    <a:pt x="29356" y="2035"/>
                  </a:lnTo>
                  <a:lnTo>
                    <a:pt x="24442" y="0"/>
                  </a:lnTo>
                  <a:lnTo>
                    <a:pt x="19318" y="0"/>
                  </a:lnTo>
                  <a:lnTo>
                    <a:pt x="14195" y="0"/>
                  </a:lnTo>
                  <a:lnTo>
                    <a:pt x="9281" y="2035"/>
                  </a:lnTo>
                  <a:lnTo>
                    <a:pt x="5658" y="5658"/>
                  </a:lnTo>
                  <a:lnTo>
                    <a:pt x="2035" y="9281"/>
                  </a:lnTo>
                  <a:lnTo>
                    <a:pt x="0" y="14195"/>
                  </a:lnTo>
                  <a:lnTo>
                    <a:pt x="0" y="19318"/>
                  </a:lnTo>
                  <a:lnTo>
                    <a:pt x="0" y="24442"/>
                  </a:lnTo>
                  <a:lnTo>
                    <a:pt x="2035" y="29356"/>
                  </a:lnTo>
                  <a:lnTo>
                    <a:pt x="5658" y="32979"/>
                  </a:lnTo>
                  <a:lnTo>
                    <a:pt x="9281" y="36602"/>
                  </a:lnTo>
                  <a:lnTo>
                    <a:pt x="14195" y="38637"/>
                  </a:lnTo>
                  <a:lnTo>
                    <a:pt x="19318" y="3863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449265" y="724912"/>
            <a:ext cx="205104" cy="182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100"/>
              </a:spcBef>
            </a:pP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median</a:t>
            </a:r>
            <a:r>
              <a:rPr sz="450" spc="5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50" spc="-25" dirty="0">
                <a:solidFill>
                  <a:srgbClr val="262626"/>
                </a:solidFill>
                <a:latin typeface="Arial MT"/>
                <a:cs typeface="Arial MT"/>
              </a:rPr>
              <a:t>y^i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4566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Median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CA778EE-1220-DE80-F62F-320702E17379}"/>
                  </a:ext>
                </a:extLst>
              </p:cNvPr>
              <p:cNvSpPr txBox="1"/>
              <p:nvPr/>
            </p:nvSpPr>
            <p:spPr>
              <a:xfrm>
                <a:off x="242596" y="349890"/>
                <a:ext cx="5257800" cy="2894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for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100" b="1" i="0">
                        <a:latin typeface="Cambria Math" panose="02040503050406030204" pitchFamily="18" charset="0"/>
                      </a:rPr>
                      <m:t>𝐑</m:t>
                    </m:r>
                  </m:oMath>
                </a14:m>
                <a:r>
                  <a:rPr lang="en-US" sz="1100" dirty="0"/>
                  <a:t> define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∣"/>
                          <m:endChr m:val="∣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p>
                                <m:s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number of data points less than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∣"/>
                          <m:endChr m:val="∣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p>
                                <m:s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number of data points greater than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we say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is a </a:t>
                </a:r>
                <a:r>
                  <a:rPr lang="en-US" sz="1100" i="1" dirty="0"/>
                  <a:t>median</a:t>
                </a:r>
                <a:r>
                  <a:rPr lang="en-US" sz="1100" dirty="0"/>
                  <a:t> of the data if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100" i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1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1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100" b="0" i="1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100" b="0" i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1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1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100" b="0" i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100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100" b="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if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1100" dirty="0"/>
                  <a:t>for any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100" dirty="0"/>
                  <a:t> then this is the same as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CA778EE-1220-DE80-F62F-320702E17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96" y="349890"/>
                <a:ext cx="5257800" cy="28949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4566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Median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8CE729-7F0C-EF3F-C189-CA9E2ABFCD25}"/>
                  </a:ext>
                </a:extLst>
              </p:cNvPr>
              <p:cNvSpPr txBox="1"/>
              <p:nvPr/>
            </p:nvSpPr>
            <p:spPr>
              <a:xfrm>
                <a:off x="273832" y="479425"/>
                <a:ext cx="5181600" cy="2702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100" dirty="0"/>
                  <a:t>► assume data is </a:t>
                </a:r>
                <a:r>
                  <a:rPr lang="en-US" sz="1100" i="1" dirty="0"/>
                  <a:t>sorted</a:t>
                </a:r>
                <a:r>
                  <a:rPr lang="en-US" sz="1100" dirty="0"/>
                  <a:t> so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100" i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00" i="0">
                          <a:latin typeface="Cambria Math" panose="02040503050406030204" pitchFamily="18" charset="0"/>
                        </a:rPr>
                        <m:t>≤⋯≤</m:t>
                      </m:r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100" dirty="0"/>
              </a:p>
              <a:p>
                <a:pPr>
                  <a:buNone/>
                </a:pPr>
                <a:r>
                  <a:rPr lang="en-US" sz="1100" dirty="0"/>
                  <a:t>► if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100" dirty="0"/>
                  <a:t> is odd, the median is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(median is unique in this case)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if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100" dirty="0"/>
                  <a:t> is even,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is a median if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r>
                        <a:rPr lang="en-US" sz="1100" i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100" i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/2+1</m:t>
                          </m:r>
                        </m:sup>
                      </m:sSup>
                    </m:oMath>
                  </m:oMathPara>
                </a14:m>
                <a:endParaRPr lang="en-US" sz="1100" dirty="0"/>
              </a:p>
              <a:p>
                <a:pPr>
                  <a:buNone/>
                </a:pPr>
                <a:r>
                  <a:rPr lang="en-US" sz="1100" dirty="0"/>
                  <a:t>(median is not unique in this case)</a:t>
                </a:r>
              </a:p>
              <a:p>
                <a:pPr>
                  <a:buNone/>
                </a:pPr>
                <a:br>
                  <a:rPr lang="en-US" sz="1100" dirty="0"/>
                </a:br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examples: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  ► the median of -3.3, -1.7, 0.4 is -1.7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  ► the median of -3.3, -1.7, 0.4, 4.9 is any number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en-US" sz="110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1.7</m:t>
                        </m:r>
                        <m:r>
                          <m:rPr>
                            <m:nor/>
                          </m:rPr>
                          <a:rPr lang="en-US" sz="1100" b="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sz="1100" b="0" i="0">
                            <a:latin typeface="Cambria Math" panose="02040503050406030204" pitchFamily="18" charset="0"/>
                          </a:rPr>
                          <m:t>0.4</m:t>
                        </m:r>
                      </m:e>
                    </m:d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8CE729-7F0C-EF3F-C189-CA9E2ABFC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32" y="479425"/>
                <a:ext cx="5181600" cy="2702535"/>
              </a:xfrm>
              <a:prstGeom prst="rect">
                <a:avLst/>
              </a:prstGeom>
              <a:blipFill>
                <a:blip r:embed="rId2"/>
                <a:stretch>
                  <a:fillRect t="-226" b="-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21436F6-6B2D-790D-BD93-F151FF54D1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30"/>
          <a:stretch>
            <a:fillRect/>
          </a:stretch>
        </p:blipFill>
        <p:spPr>
          <a:xfrm>
            <a:off x="326923" y="71378"/>
            <a:ext cx="5119763" cy="2994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38815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Medians minimize empirical risk with absolute loss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78E422E-B18C-69DD-5917-526CD89869D8}"/>
                  </a:ext>
                </a:extLst>
              </p:cNvPr>
              <p:cNvSpPr txBox="1"/>
              <p:nvPr/>
            </p:nvSpPr>
            <p:spPr>
              <a:xfrm>
                <a:off x="63500" y="268227"/>
                <a:ext cx="5638800" cy="2998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we’ll show that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00" dirty="0"/>
                  <a:t>minimizes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000" dirty="0"/>
                  <a:t>(with absolute loss) if and only if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00" dirty="0"/>
                  <a:t>is a median of the data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assume data are sorted,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000" i="0">
                          <a:latin typeface="Cambria Math" panose="02040503050406030204" pitchFamily="18" charset="0"/>
                        </a:rPr>
                        <m:t>≤⋯≤</m:t>
                      </m:r>
                      <m:sSup>
                        <m:s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0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000" dirty="0"/>
              </a:p>
              <a:p>
                <a:pPr>
                  <a:buNone/>
                </a:pPr>
                <a:r>
                  <a:rPr lang="en-US" sz="1000" dirty="0"/>
                  <a:t>then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=1+</m:t>
                          </m:r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000" dirty="0"/>
              </a:p>
              <a:p>
                <a:pPr>
                  <a:buNone/>
                </a:pPr>
                <a:r>
                  <a:rPr lang="en-US" sz="1000" dirty="0"/>
                  <a:t>► so if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00" dirty="0"/>
                  <a:t> is not equal to a data value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0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1000" i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0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000" dirty="0"/>
              </a:p>
              <a:p>
                <a:pPr>
                  <a:buNone/>
                </a:pPr>
                <a:r>
                  <a:rPr lang="en-US" sz="1000" dirty="0"/>
                  <a:t>► left and right derivatives are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0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000" i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0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0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00" dirty="0"/>
                  <a:t>is optimal means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000" i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1000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000" i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000" dirty="0"/>
                  <a:t>, which is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000" i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000" i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000" i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78E422E-B18C-69DD-5917-526CD8986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" y="268227"/>
                <a:ext cx="5638800" cy="29985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1549400" y="1089025"/>
            <a:ext cx="2667000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dirty="0">
                <a:solidFill>
                  <a:schemeClr val="tx1"/>
                </a:solidFill>
                <a:latin typeface="Arial MT"/>
                <a:cs typeface="Arial MT"/>
              </a:rPr>
              <a:t>Tilted absolute loss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228293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Tilted absolute value function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43497" y="1942383"/>
            <a:ext cx="1032510" cy="772160"/>
            <a:chOff x="643497" y="1942383"/>
            <a:chExt cx="1032510" cy="772160"/>
          </a:xfrm>
        </p:grpSpPr>
        <p:sp>
          <p:nvSpPr>
            <p:cNvPr id="10" name="object 10"/>
            <p:cNvSpPr/>
            <p:nvPr/>
          </p:nvSpPr>
          <p:spPr>
            <a:xfrm>
              <a:off x="643497" y="1942383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1032290" y="0"/>
                  </a:moveTo>
                  <a:lnTo>
                    <a:pt x="0" y="0"/>
                  </a:lnTo>
                  <a:lnTo>
                    <a:pt x="0" y="769223"/>
                  </a:lnTo>
                  <a:lnTo>
                    <a:pt x="1032290" y="769223"/>
                  </a:lnTo>
                  <a:lnTo>
                    <a:pt x="1032290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3497" y="1942383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46922" y="769223"/>
                  </a:moveTo>
                  <a:lnTo>
                    <a:pt x="46922" y="0"/>
                  </a:lnTo>
                </a:path>
                <a:path w="1032510" h="769619">
                  <a:moveTo>
                    <a:pt x="281533" y="769223"/>
                  </a:moveTo>
                  <a:lnTo>
                    <a:pt x="281533" y="0"/>
                  </a:lnTo>
                </a:path>
                <a:path w="1032510" h="769619">
                  <a:moveTo>
                    <a:pt x="516145" y="769223"/>
                  </a:moveTo>
                  <a:lnTo>
                    <a:pt x="516145" y="0"/>
                  </a:lnTo>
                </a:path>
                <a:path w="1032510" h="769619">
                  <a:moveTo>
                    <a:pt x="750757" y="769223"/>
                  </a:moveTo>
                  <a:lnTo>
                    <a:pt x="750757" y="0"/>
                  </a:lnTo>
                </a:path>
                <a:path w="1032510" h="769619">
                  <a:moveTo>
                    <a:pt x="985368" y="769223"/>
                  </a:moveTo>
                  <a:lnTo>
                    <a:pt x="985368" y="0"/>
                  </a:lnTo>
                </a:path>
                <a:path w="1032510" h="769619">
                  <a:moveTo>
                    <a:pt x="0" y="615378"/>
                  </a:moveTo>
                  <a:lnTo>
                    <a:pt x="1032290" y="615378"/>
                  </a:lnTo>
                </a:path>
                <a:path w="1032510" h="769619">
                  <a:moveTo>
                    <a:pt x="0" y="461533"/>
                  </a:moveTo>
                  <a:lnTo>
                    <a:pt x="1032290" y="461533"/>
                  </a:lnTo>
                </a:path>
                <a:path w="1032510" h="769619">
                  <a:moveTo>
                    <a:pt x="0" y="307689"/>
                  </a:moveTo>
                  <a:lnTo>
                    <a:pt x="1032290" y="307689"/>
                  </a:lnTo>
                </a:path>
                <a:path w="1032510" h="769619">
                  <a:moveTo>
                    <a:pt x="0" y="153844"/>
                  </a:moveTo>
                  <a:lnTo>
                    <a:pt x="1032290" y="153844"/>
                  </a:lnTo>
                </a:path>
              </a:pathLst>
            </a:custGeom>
            <a:ln w="4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0420" y="2134688"/>
              <a:ext cx="938530" cy="575310"/>
            </a:xfrm>
            <a:custGeom>
              <a:avLst/>
              <a:gdLst/>
              <a:ahLst/>
              <a:cxnLst/>
              <a:rect l="l" t="t" r="r" b="b"/>
              <a:pathLst>
                <a:path w="938530" h="575310">
                  <a:moveTo>
                    <a:pt x="0" y="384611"/>
                  </a:moveTo>
                  <a:lnTo>
                    <a:pt x="9479" y="388496"/>
                  </a:lnTo>
                  <a:lnTo>
                    <a:pt x="18958" y="392381"/>
                  </a:lnTo>
                  <a:lnTo>
                    <a:pt x="28437" y="396266"/>
                  </a:lnTo>
                  <a:lnTo>
                    <a:pt x="37917" y="400151"/>
                  </a:lnTo>
                  <a:lnTo>
                    <a:pt x="47396" y="404036"/>
                  </a:lnTo>
                  <a:lnTo>
                    <a:pt x="56875" y="407921"/>
                  </a:lnTo>
                  <a:lnTo>
                    <a:pt x="66354" y="411806"/>
                  </a:lnTo>
                  <a:lnTo>
                    <a:pt x="75834" y="415691"/>
                  </a:lnTo>
                  <a:lnTo>
                    <a:pt x="85313" y="419576"/>
                  </a:lnTo>
                  <a:lnTo>
                    <a:pt x="94792" y="423461"/>
                  </a:lnTo>
                  <a:lnTo>
                    <a:pt x="104271" y="427346"/>
                  </a:lnTo>
                  <a:lnTo>
                    <a:pt x="113751" y="431231"/>
                  </a:lnTo>
                  <a:lnTo>
                    <a:pt x="123230" y="435116"/>
                  </a:lnTo>
                  <a:lnTo>
                    <a:pt x="132709" y="439001"/>
                  </a:lnTo>
                  <a:lnTo>
                    <a:pt x="142188" y="442886"/>
                  </a:lnTo>
                  <a:lnTo>
                    <a:pt x="151668" y="446771"/>
                  </a:lnTo>
                  <a:lnTo>
                    <a:pt x="161147" y="450656"/>
                  </a:lnTo>
                  <a:lnTo>
                    <a:pt x="170626" y="454540"/>
                  </a:lnTo>
                  <a:lnTo>
                    <a:pt x="180105" y="458425"/>
                  </a:lnTo>
                  <a:lnTo>
                    <a:pt x="189585" y="462310"/>
                  </a:lnTo>
                  <a:lnTo>
                    <a:pt x="199064" y="466195"/>
                  </a:lnTo>
                  <a:lnTo>
                    <a:pt x="208543" y="470080"/>
                  </a:lnTo>
                  <a:lnTo>
                    <a:pt x="218022" y="473965"/>
                  </a:lnTo>
                  <a:lnTo>
                    <a:pt x="227502" y="477850"/>
                  </a:lnTo>
                  <a:lnTo>
                    <a:pt x="236981" y="481735"/>
                  </a:lnTo>
                  <a:lnTo>
                    <a:pt x="246460" y="485620"/>
                  </a:lnTo>
                  <a:lnTo>
                    <a:pt x="255939" y="489505"/>
                  </a:lnTo>
                  <a:lnTo>
                    <a:pt x="265419" y="493390"/>
                  </a:lnTo>
                  <a:lnTo>
                    <a:pt x="274898" y="497275"/>
                  </a:lnTo>
                  <a:lnTo>
                    <a:pt x="284377" y="501160"/>
                  </a:lnTo>
                  <a:lnTo>
                    <a:pt x="293856" y="505045"/>
                  </a:lnTo>
                  <a:lnTo>
                    <a:pt x="303336" y="508930"/>
                  </a:lnTo>
                  <a:lnTo>
                    <a:pt x="312815" y="512815"/>
                  </a:lnTo>
                  <a:lnTo>
                    <a:pt x="322294" y="516700"/>
                  </a:lnTo>
                  <a:lnTo>
                    <a:pt x="331773" y="520585"/>
                  </a:lnTo>
                  <a:lnTo>
                    <a:pt x="341253" y="524470"/>
                  </a:lnTo>
                  <a:lnTo>
                    <a:pt x="350732" y="528355"/>
                  </a:lnTo>
                  <a:lnTo>
                    <a:pt x="360211" y="532240"/>
                  </a:lnTo>
                  <a:lnTo>
                    <a:pt x="369690" y="536125"/>
                  </a:lnTo>
                  <a:lnTo>
                    <a:pt x="379170" y="540010"/>
                  </a:lnTo>
                  <a:lnTo>
                    <a:pt x="388649" y="543895"/>
                  </a:lnTo>
                  <a:lnTo>
                    <a:pt x="398128" y="547780"/>
                  </a:lnTo>
                  <a:lnTo>
                    <a:pt x="407607" y="551665"/>
                  </a:lnTo>
                  <a:lnTo>
                    <a:pt x="417087" y="555550"/>
                  </a:lnTo>
                  <a:lnTo>
                    <a:pt x="426566" y="559435"/>
                  </a:lnTo>
                  <a:lnTo>
                    <a:pt x="436045" y="563320"/>
                  </a:lnTo>
                  <a:lnTo>
                    <a:pt x="445524" y="567204"/>
                  </a:lnTo>
                  <a:lnTo>
                    <a:pt x="455004" y="571089"/>
                  </a:lnTo>
                  <a:lnTo>
                    <a:pt x="464483" y="574974"/>
                  </a:lnTo>
                  <a:lnTo>
                    <a:pt x="473962" y="571089"/>
                  </a:lnTo>
                  <a:lnTo>
                    <a:pt x="483442" y="559435"/>
                  </a:lnTo>
                  <a:lnTo>
                    <a:pt x="492921" y="547780"/>
                  </a:lnTo>
                  <a:lnTo>
                    <a:pt x="502400" y="536125"/>
                  </a:lnTo>
                  <a:lnTo>
                    <a:pt x="511879" y="524470"/>
                  </a:lnTo>
                  <a:lnTo>
                    <a:pt x="521359" y="512815"/>
                  </a:lnTo>
                  <a:lnTo>
                    <a:pt x="530838" y="501160"/>
                  </a:lnTo>
                  <a:lnTo>
                    <a:pt x="540317" y="489505"/>
                  </a:lnTo>
                  <a:lnTo>
                    <a:pt x="549796" y="477850"/>
                  </a:lnTo>
                  <a:lnTo>
                    <a:pt x="559276" y="466195"/>
                  </a:lnTo>
                  <a:lnTo>
                    <a:pt x="568755" y="454540"/>
                  </a:lnTo>
                  <a:lnTo>
                    <a:pt x="578234" y="442886"/>
                  </a:lnTo>
                  <a:lnTo>
                    <a:pt x="587713" y="431231"/>
                  </a:lnTo>
                  <a:lnTo>
                    <a:pt x="597193" y="419576"/>
                  </a:lnTo>
                  <a:lnTo>
                    <a:pt x="606672" y="407921"/>
                  </a:lnTo>
                  <a:lnTo>
                    <a:pt x="616151" y="396266"/>
                  </a:lnTo>
                  <a:lnTo>
                    <a:pt x="625630" y="384611"/>
                  </a:lnTo>
                  <a:lnTo>
                    <a:pt x="635110" y="372956"/>
                  </a:lnTo>
                  <a:lnTo>
                    <a:pt x="644589" y="361301"/>
                  </a:lnTo>
                  <a:lnTo>
                    <a:pt x="654068" y="349646"/>
                  </a:lnTo>
                  <a:lnTo>
                    <a:pt x="663547" y="337992"/>
                  </a:lnTo>
                  <a:lnTo>
                    <a:pt x="673027" y="326337"/>
                  </a:lnTo>
                  <a:lnTo>
                    <a:pt x="682506" y="314682"/>
                  </a:lnTo>
                  <a:lnTo>
                    <a:pt x="691985" y="303027"/>
                  </a:lnTo>
                  <a:lnTo>
                    <a:pt x="701464" y="291372"/>
                  </a:lnTo>
                  <a:lnTo>
                    <a:pt x="710944" y="279717"/>
                  </a:lnTo>
                  <a:lnTo>
                    <a:pt x="720423" y="268062"/>
                  </a:lnTo>
                  <a:lnTo>
                    <a:pt x="729902" y="256407"/>
                  </a:lnTo>
                  <a:lnTo>
                    <a:pt x="739381" y="244752"/>
                  </a:lnTo>
                  <a:lnTo>
                    <a:pt x="748861" y="233097"/>
                  </a:lnTo>
                  <a:lnTo>
                    <a:pt x="758340" y="221443"/>
                  </a:lnTo>
                  <a:lnTo>
                    <a:pt x="767819" y="209788"/>
                  </a:lnTo>
                  <a:lnTo>
                    <a:pt x="777298" y="198133"/>
                  </a:lnTo>
                  <a:lnTo>
                    <a:pt x="786778" y="186478"/>
                  </a:lnTo>
                  <a:lnTo>
                    <a:pt x="796257" y="174823"/>
                  </a:lnTo>
                  <a:lnTo>
                    <a:pt x="805736" y="163168"/>
                  </a:lnTo>
                  <a:lnTo>
                    <a:pt x="815215" y="151513"/>
                  </a:lnTo>
                  <a:lnTo>
                    <a:pt x="824695" y="139858"/>
                  </a:lnTo>
                  <a:lnTo>
                    <a:pt x="834174" y="128203"/>
                  </a:lnTo>
                  <a:lnTo>
                    <a:pt x="843653" y="116548"/>
                  </a:lnTo>
                  <a:lnTo>
                    <a:pt x="853132" y="104894"/>
                  </a:lnTo>
                  <a:lnTo>
                    <a:pt x="862612" y="93239"/>
                  </a:lnTo>
                  <a:lnTo>
                    <a:pt x="872091" y="81584"/>
                  </a:lnTo>
                  <a:lnTo>
                    <a:pt x="881570" y="69929"/>
                  </a:lnTo>
                  <a:lnTo>
                    <a:pt x="891049" y="58274"/>
                  </a:lnTo>
                  <a:lnTo>
                    <a:pt x="900529" y="46619"/>
                  </a:lnTo>
                  <a:lnTo>
                    <a:pt x="910008" y="34964"/>
                  </a:lnTo>
                  <a:lnTo>
                    <a:pt x="919487" y="23309"/>
                  </a:lnTo>
                  <a:lnTo>
                    <a:pt x="928967" y="11654"/>
                  </a:lnTo>
                  <a:lnTo>
                    <a:pt x="938446" y="0"/>
                  </a:lnTo>
                </a:path>
              </a:pathLst>
            </a:custGeom>
            <a:ln w="9249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59057" y="2716237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7338" y="2758856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10">
                <a:moveTo>
                  <a:pt x="21829" y="0"/>
                </a:moveTo>
                <a:lnTo>
                  <a:pt x="0" y="0"/>
                </a:lnTo>
                <a:lnTo>
                  <a:pt x="0" y="3792"/>
                </a:lnTo>
                <a:lnTo>
                  <a:pt x="21829" y="3792"/>
                </a:lnTo>
                <a:lnTo>
                  <a:pt x="21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81950" y="2758856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10">
                <a:moveTo>
                  <a:pt x="21829" y="0"/>
                </a:moveTo>
                <a:lnTo>
                  <a:pt x="0" y="0"/>
                </a:lnTo>
                <a:lnTo>
                  <a:pt x="0" y="3792"/>
                </a:lnTo>
                <a:lnTo>
                  <a:pt x="21829" y="3792"/>
                </a:lnTo>
                <a:lnTo>
                  <a:pt x="21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93669" y="2716237"/>
            <a:ext cx="311150" cy="2076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70"/>
              </a:lnSpc>
              <a:spcBef>
                <a:spcPts val="130"/>
              </a:spcBef>
              <a:tabLst>
                <a:tab pos="233679" algn="l"/>
              </a:tabLst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  <a:p>
            <a:pPr marL="194310">
              <a:lnSpc>
                <a:spcPts val="1030"/>
              </a:lnSpc>
            </a:pPr>
            <a:r>
              <a:rPr sz="900" spc="-50" dirty="0">
                <a:latin typeface="Lucida Sans Unicode"/>
                <a:cs typeface="Lucida Sans Unicode"/>
              </a:rPr>
              <a:t>u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49396" y="2716237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84008" y="2716237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4107" y="2667313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107" y="2513469"/>
            <a:ext cx="89535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4107" y="2359624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4107" y="2205780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4107" y="2051935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4107" y="1898090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286" y="1961924"/>
            <a:ext cx="456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Lucida Sans Unicode"/>
                <a:cs typeface="Lucida Sans Unicode"/>
              </a:rPr>
              <a:t>z</a:t>
            </a:r>
            <a:r>
              <a:rPr sz="900" spc="-20" dirty="0">
                <a:latin typeface="Lucida Sans Unicode"/>
                <a:cs typeface="Lucida Sans Unicode"/>
              </a:rPr>
              <a:t> </a:t>
            </a:r>
            <a:r>
              <a:rPr sz="900" spc="140" dirty="0">
                <a:latin typeface="Georgia"/>
                <a:cs typeface="Georgia"/>
              </a:rPr>
              <a:t>=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spc="-110" dirty="0">
                <a:latin typeface="Georgia"/>
                <a:cs typeface="Georgia"/>
              </a:rPr>
              <a:t>0</a:t>
            </a:r>
            <a:r>
              <a:rPr sz="900" spc="-110" dirty="0">
                <a:latin typeface="Lucida Sans Unicode"/>
                <a:cs typeface="Lucida Sans Unicode"/>
              </a:rPr>
              <a:t>.</a:t>
            </a:r>
            <a:r>
              <a:rPr sz="900" spc="-204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Georgia"/>
                <a:cs typeface="Georgia"/>
              </a:rPr>
              <a:t>25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08505" y="1942383"/>
            <a:ext cx="1032510" cy="770255"/>
            <a:chOff x="2308505" y="1942383"/>
            <a:chExt cx="1032510" cy="770255"/>
          </a:xfrm>
        </p:grpSpPr>
        <p:sp>
          <p:nvSpPr>
            <p:cNvPr id="28" name="object 28"/>
            <p:cNvSpPr/>
            <p:nvPr/>
          </p:nvSpPr>
          <p:spPr>
            <a:xfrm>
              <a:off x="2308505" y="1942383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1032290" y="0"/>
                  </a:moveTo>
                  <a:lnTo>
                    <a:pt x="0" y="0"/>
                  </a:lnTo>
                  <a:lnTo>
                    <a:pt x="0" y="769223"/>
                  </a:lnTo>
                  <a:lnTo>
                    <a:pt x="1032290" y="769223"/>
                  </a:lnTo>
                  <a:lnTo>
                    <a:pt x="1032290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08505" y="1942383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46922" y="769223"/>
                  </a:moveTo>
                  <a:lnTo>
                    <a:pt x="46922" y="0"/>
                  </a:lnTo>
                </a:path>
                <a:path w="1032510" h="769619">
                  <a:moveTo>
                    <a:pt x="281533" y="769223"/>
                  </a:moveTo>
                  <a:lnTo>
                    <a:pt x="281533" y="0"/>
                  </a:lnTo>
                </a:path>
                <a:path w="1032510" h="769619">
                  <a:moveTo>
                    <a:pt x="516145" y="769223"/>
                  </a:moveTo>
                  <a:lnTo>
                    <a:pt x="516145" y="0"/>
                  </a:lnTo>
                </a:path>
                <a:path w="1032510" h="769619">
                  <a:moveTo>
                    <a:pt x="750757" y="769223"/>
                  </a:moveTo>
                  <a:lnTo>
                    <a:pt x="750757" y="0"/>
                  </a:lnTo>
                </a:path>
                <a:path w="1032510" h="769619">
                  <a:moveTo>
                    <a:pt x="985368" y="769223"/>
                  </a:moveTo>
                  <a:lnTo>
                    <a:pt x="985368" y="0"/>
                  </a:lnTo>
                </a:path>
                <a:path w="1032510" h="769619">
                  <a:moveTo>
                    <a:pt x="0" y="615378"/>
                  </a:moveTo>
                  <a:lnTo>
                    <a:pt x="1032290" y="615378"/>
                  </a:lnTo>
                </a:path>
                <a:path w="1032510" h="769619">
                  <a:moveTo>
                    <a:pt x="0" y="461533"/>
                  </a:moveTo>
                  <a:lnTo>
                    <a:pt x="1032290" y="461533"/>
                  </a:lnTo>
                </a:path>
                <a:path w="1032510" h="769619">
                  <a:moveTo>
                    <a:pt x="0" y="307689"/>
                  </a:moveTo>
                  <a:lnTo>
                    <a:pt x="1032290" y="307689"/>
                  </a:lnTo>
                </a:path>
                <a:path w="1032510" h="769619">
                  <a:moveTo>
                    <a:pt x="0" y="153844"/>
                  </a:moveTo>
                  <a:lnTo>
                    <a:pt x="1032290" y="153844"/>
                  </a:lnTo>
                </a:path>
              </a:pathLst>
            </a:custGeom>
            <a:ln w="4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55428" y="2326994"/>
              <a:ext cx="938530" cy="381000"/>
            </a:xfrm>
            <a:custGeom>
              <a:avLst/>
              <a:gdLst/>
              <a:ahLst/>
              <a:cxnLst/>
              <a:rect l="l" t="t" r="r" b="b"/>
              <a:pathLst>
                <a:path w="938529" h="381000">
                  <a:moveTo>
                    <a:pt x="0" y="0"/>
                  </a:moveTo>
                  <a:lnTo>
                    <a:pt x="9479" y="7769"/>
                  </a:lnTo>
                  <a:lnTo>
                    <a:pt x="18958" y="15539"/>
                  </a:lnTo>
                  <a:lnTo>
                    <a:pt x="28437" y="23309"/>
                  </a:lnTo>
                  <a:lnTo>
                    <a:pt x="37917" y="31079"/>
                  </a:lnTo>
                  <a:lnTo>
                    <a:pt x="47396" y="38849"/>
                  </a:lnTo>
                  <a:lnTo>
                    <a:pt x="56875" y="46619"/>
                  </a:lnTo>
                  <a:lnTo>
                    <a:pt x="66354" y="54389"/>
                  </a:lnTo>
                  <a:lnTo>
                    <a:pt x="75834" y="62159"/>
                  </a:lnTo>
                  <a:lnTo>
                    <a:pt x="85313" y="69929"/>
                  </a:lnTo>
                  <a:lnTo>
                    <a:pt x="94792" y="77699"/>
                  </a:lnTo>
                  <a:lnTo>
                    <a:pt x="104271" y="85469"/>
                  </a:lnTo>
                  <a:lnTo>
                    <a:pt x="113751" y="93239"/>
                  </a:lnTo>
                  <a:lnTo>
                    <a:pt x="123230" y="101009"/>
                  </a:lnTo>
                  <a:lnTo>
                    <a:pt x="132709" y="108779"/>
                  </a:lnTo>
                  <a:lnTo>
                    <a:pt x="142188" y="116548"/>
                  </a:lnTo>
                  <a:lnTo>
                    <a:pt x="151668" y="124318"/>
                  </a:lnTo>
                  <a:lnTo>
                    <a:pt x="161147" y="132088"/>
                  </a:lnTo>
                  <a:lnTo>
                    <a:pt x="170626" y="139858"/>
                  </a:lnTo>
                  <a:lnTo>
                    <a:pt x="180105" y="147628"/>
                  </a:lnTo>
                  <a:lnTo>
                    <a:pt x="189585" y="155398"/>
                  </a:lnTo>
                  <a:lnTo>
                    <a:pt x="199064" y="163168"/>
                  </a:lnTo>
                  <a:lnTo>
                    <a:pt x="208543" y="170938"/>
                  </a:lnTo>
                  <a:lnTo>
                    <a:pt x="218022" y="178708"/>
                  </a:lnTo>
                  <a:lnTo>
                    <a:pt x="227502" y="186478"/>
                  </a:lnTo>
                  <a:lnTo>
                    <a:pt x="236981" y="194248"/>
                  </a:lnTo>
                  <a:lnTo>
                    <a:pt x="246460" y="202018"/>
                  </a:lnTo>
                  <a:lnTo>
                    <a:pt x="255939" y="209788"/>
                  </a:lnTo>
                  <a:lnTo>
                    <a:pt x="265419" y="217558"/>
                  </a:lnTo>
                  <a:lnTo>
                    <a:pt x="274898" y="225328"/>
                  </a:lnTo>
                  <a:lnTo>
                    <a:pt x="284377" y="233097"/>
                  </a:lnTo>
                  <a:lnTo>
                    <a:pt x="293856" y="240867"/>
                  </a:lnTo>
                  <a:lnTo>
                    <a:pt x="303336" y="248637"/>
                  </a:lnTo>
                  <a:lnTo>
                    <a:pt x="312815" y="256407"/>
                  </a:lnTo>
                  <a:lnTo>
                    <a:pt x="322294" y="264177"/>
                  </a:lnTo>
                  <a:lnTo>
                    <a:pt x="331773" y="271947"/>
                  </a:lnTo>
                  <a:lnTo>
                    <a:pt x="341253" y="279717"/>
                  </a:lnTo>
                  <a:lnTo>
                    <a:pt x="350732" y="287487"/>
                  </a:lnTo>
                  <a:lnTo>
                    <a:pt x="360211" y="295257"/>
                  </a:lnTo>
                  <a:lnTo>
                    <a:pt x="369690" y="303027"/>
                  </a:lnTo>
                  <a:lnTo>
                    <a:pt x="379170" y="310797"/>
                  </a:lnTo>
                  <a:lnTo>
                    <a:pt x="388649" y="318567"/>
                  </a:lnTo>
                  <a:lnTo>
                    <a:pt x="398128" y="326337"/>
                  </a:lnTo>
                  <a:lnTo>
                    <a:pt x="407607" y="334107"/>
                  </a:lnTo>
                  <a:lnTo>
                    <a:pt x="417087" y="341876"/>
                  </a:lnTo>
                  <a:lnTo>
                    <a:pt x="426566" y="349646"/>
                  </a:lnTo>
                  <a:lnTo>
                    <a:pt x="436045" y="357416"/>
                  </a:lnTo>
                  <a:lnTo>
                    <a:pt x="445524" y="365186"/>
                  </a:lnTo>
                  <a:lnTo>
                    <a:pt x="455004" y="372956"/>
                  </a:lnTo>
                  <a:lnTo>
                    <a:pt x="464483" y="380726"/>
                  </a:lnTo>
                  <a:lnTo>
                    <a:pt x="473962" y="380726"/>
                  </a:lnTo>
                  <a:lnTo>
                    <a:pt x="483442" y="372956"/>
                  </a:lnTo>
                  <a:lnTo>
                    <a:pt x="492921" y="365186"/>
                  </a:lnTo>
                  <a:lnTo>
                    <a:pt x="502400" y="357416"/>
                  </a:lnTo>
                  <a:lnTo>
                    <a:pt x="511879" y="349646"/>
                  </a:lnTo>
                  <a:lnTo>
                    <a:pt x="521359" y="341876"/>
                  </a:lnTo>
                  <a:lnTo>
                    <a:pt x="530838" y="334107"/>
                  </a:lnTo>
                  <a:lnTo>
                    <a:pt x="540317" y="326337"/>
                  </a:lnTo>
                  <a:lnTo>
                    <a:pt x="549796" y="318567"/>
                  </a:lnTo>
                  <a:lnTo>
                    <a:pt x="559276" y="310797"/>
                  </a:lnTo>
                  <a:lnTo>
                    <a:pt x="568755" y="303027"/>
                  </a:lnTo>
                  <a:lnTo>
                    <a:pt x="578234" y="295257"/>
                  </a:lnTo>
                  <a:lnTo>
                    <a:pt x="587713" y="287487"/>
                  </a:lnTo>
                  <a:lnTo>
                    <a:pt x="597193" y="279717"/>
                  </a:lnTo>
                  <a:lnTo>
                    <a:pt x="606672" y="271947"/>
                  </a:lnTo>
                  <a:lnTo>
                    <a:pt x="616151" y="264177"/>
                  </a:lnTo>
                  <a:lnTo>
                    <a:pt x="625630" y="256407"/>
                  </a:lnTo>
                  <a:lnTo>
                    <a:pt x="635110" y="248637"/>
                  </a:lnTo>
                  <a:lnTo>
                    <a:pt x="644589" y="240867"/>
                  </a:lnTo>
                  <a:lnTo>
                    <a:pt x="654068" y="233097"/>
                  </a:lnTo>
                  <a:lnTo>
                    <a:pt x="663547" y="225328"/>
                  </a:lnTo>
                  <a:lnTo>
                    <a:pt x="673027" y="217558"/>
                  </a:lnTo>
                  <a:lnTo>
                    <a:pt x="682506" y="209788"/>
                  </a:lnTo>
                  <a:lnTo>
                    <a:pt x="691985" y="202018"/>
                  </a:lnTo>
                  <a:lnTo>
                    <a:pt x="701464" y="194248"/>
                  </a:lnTo>
                  <a:lnTo>
                    <a:pt x="710944" y="186478"/>
                  </a:lnTo>
                  <a:lnTo>
                    <a:pt x="720423" y="178708"/>
                  </a:lnTo>
                  <a:lnTo>
                    <a:pt x="729902" y="170938"/>
                  </a:lnTo>
                  <a:lnTo>
                    <a:pt x="739381" y="163168"/>
                  </a:lnTo>
                  <a:lnTo>
                    <a:pt x="748861" y="155398"/>
                  </a:lnTo>
                  <a:lnTo>
                    <a:pt x="758340" y="147628"/>
                  </a:lnTo>
                  <a:lnTo>
                    <a:pt x="767819" y="139858"/>
                  </a:lnTo>
                  <a:lnTo>
                    <a:pt x="777298" y="132088"/>
                  </a:lnTo>
                  <a:lnTo>
                    <a:pt x="786778" y="124318"/>
                  </a:lnTo>
                  <a:lnTo>
                    <a:pt x="796257" y="116548"/>
                  </a:lnTo>
                  <a:lnTo>
                    <a:pt x="805736" y="108779"/>
                  </a:lnTo>
                  <a:lnTo>
                    <a:pt x="815215" y="101009"/>
                  </a:lnTo>
                  <a:lnTo>
                    <a:pt x="824695" y="93239"/>
                  </a:lnTo>
                  <a:lnTo>
                    <a:pt x="834174" y="85469"/>
                  </a:lnTo>
                  <a:lnTo>
                    <a:pt x="843653" y="77699"/>
                  </a:lnTo>
                  <a:lnTo>
                    <a:pt x="853132" y="69929"/>
                  </a:lnTo>
                  <a:lnTo>
                    <a:pt x="862612" y="62159"/>
                  </a:lnTo>
                  <a:lnTo>
                    <a:pt x="872091" y="54389"/>
                  </a:lnTo>
                  <a:lnTo>
                    <a:pt x="881570" y="46619"/>
                  </a:lnTo>
                  <a:lnTo>
                    <a:pt x="891049" y="38849"/>
                  </a:lnTo>
                  <a:lnTo>
                    <a:pt x="900529" y="31079"/>
                  </a:lnTo>
                  <a:lnTo>
                    <a:pt x="910008" y="23309"/>
                  </a:lnTo>
                  <a:lnTo>
                    <a:pt x="919487" y="15539"/>
                  </a:lnTo>
                  <a:lnTo>
                    <a:pt x="928967" y="7769"/>
                  </a:lnTo>
                  <a:lnTo>
                    <a:pt x="938446" y="0"/>
                  </a:lnTo>
                </a:path>
              </a:pathLst>
            </a:custGeom>
            <a:ln w="9249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324065" y="2716237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312346" y="2758856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10">
                <a:moveTo>
                  <a:pt x="21829" y="0"/>
                </a:moveTo>
                <a:lnTo>
                  <a:pt x="0" y="0"/>
                </a:lnTo>
                <a:lnTo>
                  <a:pt x="0" y="3792"/>
                </a:lnTo>
                <a:lnTo>
                  <a:pt x="21829" y="3792"/>
                </a:lnTo>
                <a:lnTo>
                  <a:pt x="21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546958" y="2758856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10">
                <a:moveTo>
                  <a:pt x="21829" y="0"/>
                </a:moveTo>
                <a:lnTo>
                  <a:pt x="0" y="0"/>
                </a:lnTo>
                <a:lnTo>
                  <a:pt x="0" y="3792"/>
                </a:lnTo>
                <a:lnTo>
                  <a:pt x="21829" y="3792"/>
                </a:lnTo>
                <a:lnTo>
                  <a:pt x="21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558677" y="2716237"/>
            <a:ext cx="311150" cy="2076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70"/>
              </a:lnSpc>
              <a:spcBef>
                <a:spcPts val="130"/>
              </a:spcBef>
              <a:tabLst>
                <a:tab pos="233679" algn="l"/>
              </a:tabLst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  <a:p>
            <a:pPr marL="194310">
              <a:lnSpc>
                <a:spcPts val="1030"/>
              </a:lnSpc>
            </a:pPr>
            <a:r>
              <a:rPr sz="900" spc="-50" dirty="0">
                <a:latin typeface="Lucida Sans Unicode"/>
                <a:cs typeface="Lucida Sans Unicode"/>
              </a:rPr>
              <a:t>u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14404" y="2716237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49016" y="2716237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99115" y="2667313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99115" y="2513469"/>
            <a:ext cx="89535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99115" y="2359624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199115" y="2205780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99115" y="2051935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99115" y="1898090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89542" y="1961924"/>
            <a:ext cx="394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Lucida Sans Unicode"/>
                <a:cs typeface="Lucida Sans Unicode"/>
              </a:rPr>
              <a:t>z</a:t>
            </a:r>
            <a:r>
              <a:rPr sz="900" spc="-20" dirty="0">
                <a:latin typeface="Lucida Sans Unicode"/>
                <a:cs typeface="Lucida Sans Unicode"/>
              </a:rPr>
              <a:t> </a:t>
            </a:r>
            <a:r>
              <a:rPr sz="900" spc="140" dirty="0">
                <a:latin typeface="Georgia"/>
                <a:cs typeface="Georgia"/>
              </a:rPr>
              <a:t>=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spc="-110" dirty="0">
                <a:latin typeface="Georgia"/>
                <a:cs typeface="Georgia"/>
              </a:rPr>
              <a:t>0</a:t>
            </a:r>
            <a:r>
              <a:rPr sz="900" spc="-110" dirty="0">
                <a:latin typeface="Lucida Sans Unicode"/>
                <a:cs typeface="Lucida Sans Unicode"/>
              </a:rPr>
              <a:t>.</a:t>
            </a:r>
            <a:r>
              <a:rPr sz="900" spc="-204" dirty="0">
                <a:latin typeface="Lucida Sans Unicode"/>
                <a:cs typeface="Lucida Sans Unicode"/>
              </a:rPr>
              <a:t> </a:t>
            </a:r>
            <a:r>
              <a:rPr sz="900" spc="-50" dirty="0">
                <a:latin typeface="Georgia"/>
                <a:cs typeface="Georgia"/>
              </a:rPr>
              <a:t>5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973501" y="1942383"/>
            <a:ext cx="1032510" cy="772160"/>
            <a:chOff x="3973501" y="1942383"/>
            <a:chExt cx="1032510" cy="772160"/>
          </a:xfrm>
        </p:grpSpPr>
        <p:sp>
          <p:nvSpPr>
            <p:cNvPr id="46" name="object 46"/>
            <p:cNvSpPr/>
            <p:nvPr/>
          </p:nvSpPr>
          <p:spPr>
            <a:xfrm>
              <a:off x="3973501" y="1942383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1032290" y="0"/>
                  </a:moveTo>
                  <a:lnTo>
                    <a:pt x="0" y="0"/>
                  </a:lnTo>
                  <a:lnTo>
                    <a:pt x="0" y="769223"/>
                  </a:lnTo>
                  <a:lnTo>
                    <a:pt x="1032290" y="769223"/>
                  </a:lnTo>
                  <a:lnTo>
                    <a:pt x="1032290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973501" y="1942383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46922" y="769223"/>
                  </a:moveTo>
                  <a:lnTo>
                    <a:pt x="46922" y="0"/>
                  </a:lnTo>
                </a:path>
                <a:path w="1032510" h="769619">
                  <a:moveTo>
                    <a:pt x="281533" y="769223"/>
                  </a:moveTo>
                  <a:lnTo>
                    <a:pt x="281533" y="0"/>
                  </a:lnTo>
                </a:path>
                <a:path w="1032510" h="769619">
                  <a:moveTo>
                    <a:pt x="516145" y="769223"/>
                  </a:moveTo>
                  <a:lnTo>
                    <a:pt x="516145" y="0"/>
                  </a:lnTo>
                </a:path>
                <a:path w="1032510" h="769619">
                  <a:moveTo>
                    <a:pt x="750757" y="769223"/>
                  </a:moveTo>
                  <a:lnTo>
                    <a:pt x="750757" y="0"/>
                  </a:lnTo>
                </a:path>
                <a:path w="1032510" h="769619">
                  <a:moveTo>
                    <a:pt x="985368" y="769223"/>
                  </a:moveTo>
                  <a:lnTo>
                    <a:pt x="985368" y="0"/>
                  </a:lnTo>
                </a:path>
                <a:path w="1032510" h="769619">
                  <a:moveTo>
                    <a:pt x="0" y="615378"/>
                  </a:moveTo>
                  <a:lnTo>
                    <a:pt x="1032290" y="615378"/>
                  </a:lnTo>
                </a:path>
                <a:path w="1032510" h="769619">
                  <a:moveTo>
                    <a:pt x="0" y="461533"/>
                  </a:moveTo>
                  <a:lnTo>
                    <a:pt x="1032290" y="461533"/>
                  </a:lnTo>
                </a:path>
                <a:path w="1032510" h="769619">
                  <a:moveTo>
                    <a:pt x="0" y="307689"/>
                  </a:moveTo>
                  <a:lnTo>
                    <a:pt x="1032290" y="307689"/>
                  </a:lnTo>
                </a:path>
                <a:path w="1032510" h="769619">
                  <a:moveTo>
                    <a:pt x="0" y="153844"/>
                  </a:moveTo>
                  <a:lnTo>
                    <a:pt x="1032290" y="153844"/>
                  </a:lnTo>
                </a:path>
              </a:pathLst>
            </a:custGeom>
            <a:ln w="4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20423" y="2134688"/>
              <a:ext cx="938530" cy="575310"/>
            </a:xfrm>
            <a:custGeom>
              <a:avLst/>
              <a:gdLst/>
              <a:ahLst/>
              <a:cxnLst/>
              <a:rect l="l" t="t" r="r" b="b"/>
              <a:pathLst>
                <a:path w="938529" h="575310">
                  <a:moveTo>
                    <a:pt x="0" y="0"/>
                  </a:moveTo>
                  <a:lnTo>
                    <a:pt x="9479" y="11654"/>
                  </a:lnTo>
                  <a:lnTo>
                    <a:pt x="18958" y="23309"/>
                  </a:lnTo>
                  <a:lnTo>
                    <a:pt x="28437" y="34964"/>
                  </a:lnTo>
                  <a:lnTo>
                    <a:pt x="37917" y="46619"/>
                  </a:lnTo>
                  <a:lnTo>
                    <a:pt x="47396" y="58274"/>
                  </a:lnTo>
                  <a:lnTo>
                    <a:pt x="56875" y="69929"/>
                  </a:lnTo>
                  <a:lnTo>
                    <a:pt x="66354" y="81584"/>
                  </a:lnTo>
                  <a:lnTo>
                    <a:pt x="75834" y="93239"/>
                  </a:lnTo>
                  <a:lnTo>
                    <a:pt x="85313" y="104894"/>
                  </a:lnTo>
                  <a:lnTo>
                    <a:pt x="94792" y="116548"/>
                  </a:lnTo>
                  <a:lnTo>
                    <a:pt x="104271" y="128203"/>
                  </a:lnTo>
                  <a:lnTo>
                    <a:pt x="113751" y="139858"/>
                  </a:lnTo>
                  <a:lnTo>
                    <a:pt x="123230" y="151513"/>
                  </a:lnTo>
                  <a:lnTo>
                    <a:pt x="132709" y="163168"/>
                  </a:lnTo>
                  <a:lnTo>
                    <a:pt x="142188" y="174823"/>
                  </a:lnTo>
                  <a:lnTo>
                    <a:pt x="151668" y="186478"/>
                  </a:lnTo>
                  <a:lnTo>
                    <a:pt x="161147" y="198133"/>
                  </a:lnTo>
                  <a:lnTo>
                    <a:pt x="170626" y="209788"/>
                  </a:lnTo>
                  <a:lnTo>
                    <a:pt x="180105" y="221443"/>
                  </a:lnTo>
                  <a:lnTo>
                    <a:pt x="189585" y="233097"/>
                  </a:lnTo>
                  <a:lnTo>
                    <a:pt x="199064" y="244752"/>
                  </a:lnTo>
                  <a:lnTo>
                    <a:pt x="208543" y="256407"/>
                  </a:lnTo>
                  <a:lnTo>
                    <a:pt x="218022" y="268062"/>
                  </a:lnTo>
                  <a:lnTo>
                    <a:pt x="227502" y="279717"/>
                  </a:lnTo>
                  <a:lnTo>
                    <a:pt x="236981" y="291372"/>
                  </a:lnTo>
                  <a:lnTo>
                    <a:pt x="246460" y="303027"/>
                  </a:lnTo>
                  <a:lnTo>
                    <a:pt x="255939" y="314682"/>
                  </a:lnTo>
                  <a:lnTo>
                    <a:pt x="265419" y="326337"/>
                  </a:lnTo>
                  <a:lnTo>
                    <a:pt x="274898" y="337992"/>
                  </a:lnTo>
                  <a:lnTo>
                    <a:pt x="284377" y="349646"/>
                  </a:lnTo>
                  <a:lnTo>
                    <a:pt x="293856" y="361301"/>
                  </a:lnTo>
                  <a:lnTo>
                    <a:pt x="303336" y="372956"/>
                  </a:lnTo>
                  <a:lnTo>
                    <a:pt x="312815" y="384611"/>
                  </a:lnTo>
                  <a:lnTo>
                    <a:pt x="322294" y="396266"/>
                  </a:lnTo>
                  <a:lnTo>
                    <a:pt x="331773" y="407921"/>
                  </a:lnTo>
                  <a:lnTo>
                    <a:pt x="341253" y="419576"/>
                  </a:lnTo>
                  <a:lnTo>
                    <a:pt x="350732" y="431231"/>
                  </a:lnTo>
                  <a:lnTo>
                    <a:pt x="360211" y="442886"/>
                  </a:lnTo>
                  <a:lnTo>
                    <a:pt x="369690" y="454540"/>
                  </a:lnTo>
                  <a:lnTo>
                    <a:pt x="379170" y="466195"/>
                  </a:lnTo>
                  <a:lnTo>
                    <a:pt x="388649" y="477850"/>
                  </a:lnTo>
                  <a:lnTo>
                    <a:pt x="398128" y="489505"/>
                  </a:lnTo>
                  <a:lnTo>
                    <a:pt x="407607" y="501160"/>
                  </a:lnTo>
                  <a:lnTo>
                    <a:pt x="417087" y="512815"/>
                  </a:lnTo>
                  <a:lnTo>
                    <a:pt x="426566" y="524470"/>
                  </a:lnTo>
                  <a:lnTo>
                    <a:pt x="436045" y="536125"/>
                  </a:lnTo>
                  <a:lnTo>
                    <a:pt x="445524" y="547780"/>
                  </a:lnTo>
                  <a:lnTo>
                    <a:pt x="455004" y="559435"/>
                  </a:lnTo>
                  <a:lnTo>
                    <a:pt x="464483" y="571089"/>
                  </a:lnTo>
                  <a:lnTo>
                    <a:pt x="473962" y="574974"/>
                  </a:lnTo>
                  <a:lnTo>
                    <a:pt x="483442" y="571089"/>
                  </a:lnTo>
                  <a:lnTo>
                    <a:pt x="492921" y="567204"/>
                  </a:lnTo>
                  <a:lnTo>
                    <a:pt x="502400" y="563320"/>
                  </a:lnTo>
                  <a:lnTo>
                    <a:pt x="511879" y="559435"/>
                  </a:lnTo>
                  <a:lnTo>
                    <a:pt x="521359" y="555550"/>
                  </a:lnTo>
                  <a:lnTo>
                    <a:pt x="530838" y="551665"/>
                  </a:lnTo>
                  <a:lnTo>
                    <a:pt x="540317" y="547780"/>
                  </a:lnTo>
                  <a:lnTo>
                    <a:pt x="549796" y="543895"/>
                  </a:lnTo>
                  <a:lnTo>
                    <a:pt x="559276" y="540010"/>
                  </a:lnTo>
                  <a:lnTo>
                    <a:pt x="568755" y="536125"/>
                  </a:lnTo>
                  <a:lnTo>
                    <a:pt x="578234" y="532240"/>
                  </a:lnTo>
                  <a:lnTo>
                    <a:pt x="587713" y="528355"/>
                  </a:lnTo>
                  <a:lnTo>
                    <a:pt x="597193" y="524470"/>
                  </a:lnTo>
                  <a:lnTo>
                    <a:pt x="606672" y="520585"/>
                  </a:lnTo>
                  <a:lnTo>
                    <a:pt x="616151" y="516700"/>
                  </a:lnTo>
                  <a:lnTo>
                    <a:pt x="625630" y="512815"/>
                  </a:lnTo>
                  <a:lnTo>
                    <a:pt x="635110" y="508930"/>
                  </a:lnTo>
                  <a:lnTo>
                    <a:pt x="644589" y="505045"/>
                  </a:lnTo>
                  <a:lnTo>
                    <a:pt x="654068" y="501160"/>
                  </a:lnTo>
                  <a:lnTo>
                    <a:pt x="663547" y="497275"/>
                  </a:lnTo>
                  <a:lnTo>
                    <a:pt x="673027" y="493390"/>
                  </a:lnTo>
                  <a:lnTo>
                    <a:pt x="682506" y="489505"/>
                  </a:lnTo>
                  <a:lnTo>
                    <a:pt x="691985" y="485620"/>
                  </a:lnTo>
                  <a:lnTo>
                    <a:pt x="701464" y="481735"/>
                  </a:lnTo>
                  <a:lnTo>
                    <a:pt x="710944" y="477850"/>
                  </a:lnTo>
                  <a:lnTo>
                    <a:pt x="720423" y="473965"/>
                  </a:lnTo>
                  <a:lnTo>
                    <a:pt x="729902" y="470080"/>
                  </a:lnTo>
                  <a:lnTo>
                    <a:pt x="739381" y="466195"/>
                  </a:lnTo>
                  <a:lnTo>
                    <a:pt x="748861" y="462310"/>
                  </a:lnTo>
                  <a:lnTo>
                    <a:pt x="758340" y="458425"/>
                  </a:lnTo>
                  <a:lnTo>
                    <a:pt x="767819" y="454540"/>
                  </a:lnTo>
                  <a:lnTo>
                    <a:pt x="777298" y="450656"/>
                  </a:lnTo>
                  <a:lnTo>
                    <a:pt x="786778" y="446771"/>
                  </a:lnTo>
                  <a:lnTo>
                    <a:pt x="796257" y="442886"/>
                  </a:lnTo>
                  <a:lnTo>
                    <a:pt x="805736" y="439001"/>
                  </a:lnTo>
                  <a:lnTo>
                    <a:pt x="815215" y="435116"/>
                  </a:lnTo>
                  <a:lnTo>
                    <a:pt x="824695" y="431231"/>
                  </a:lnTo>
                  <a:lnTo>
                    <a:pt x="834174" y="427346"/>
                  </a:lnTo>
                  <a:lnTo>
                    <a:pt x="843653" y="423461"/>
                  </a:lnTo>
                  <a:lnTo>
                    <a:pt x="853132" y="419576"/>
                  </a:lnTo>
                  <a:lnTo>
                    <a:pt x="862612" y="415691"/>
                  </a:lnTo>
                  <a:lnTo>
                    <a:pt x="872091" y="411806"/>
                  </a:lnTo>
                  <a:lnTo>
                    <a:pt x="881570" y="407921"/>
                  </a:lnTo>
                  <a:lnTo>
                    <a:pt x="891049" y="404036"/>
                  </a:lnTo>
                  <a:lnTo>
                    <a:pt x="900529" y="400151"/>
                  </a:lnTo>
                  <a:lnTo>
                    <a:pt x="910008" y="396266"/>
                  </a:lnTo>
                  <a:lnTo>
                    <a:pt x="919487" y="392381"/>
                  </a:lnTo>
                  <a:lnTo>
                    <a:pt x="928967" y="388496"/>
                  </a:lnTo>
                  <a:lnTo>
                    <a:pt x="938446" y="384611"/>
                  </a:lnTo>
                </a:path>
              </a:pathLst>
            </a:custGeom>
            <a:ln w="9249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989061" y="2716237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977342" y="2758856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10">
                <a:moveTo>
                  <a:pt x="21829" y="0"/>
                </a:moveTo>
                <a:lnTo>
                  <a:pt x="0" y="0"/>
                </a:lnTo>
                <a:lnTo>
                  <a:pt x="0" y="3792"/>
                </a:lnTo>
                <a:lnTo>
                  <a:pt x="21829" y="3792"/>
                </a:lnTo>
                <a:lnTo>
                  <a:pt x="21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211953" y="2758856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10">
                <a:moveTo>
                  <a:pt x="21829" y="0"/>
                </a:moveTo>
                <a:lnTo>
                  <a:pt x="0" y="0"/>
                </a:lnTo>
                <a:lnTo>
                  <a:pt x="0" y="3792"/>
                </a:lnTo>
                <a:lnTo>
                  <a:pt x="21829" y="3792"/>
                </a:lnTo>
                <a:lnTo>
                  <a:pt x="21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4223672" y="2716237"/>
            <a:ext cx="311150" cy="2076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70"/>
              </a:lnSpc>
              <a:spcBef>
                <a:spcPts val="130"/>
              </a:spcBef>
              <a:tabLst>
                <a:tab pos="233679" algn="l"/>
              </a:tabLst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  <a:p>
            <a:pPr marL="194310">
              <a:lnSpc>
                <a:spcPts val="1030"/>
              </a:lnSpc>
            </a:pPr>
            <a:r>
              <a:rPr sz="900" spc="-50" dirty="0">
                <a:latin typeface="Lucida Sans Unicode"/>
                <a:cs typeface="Lucida Sans Unicode"/>
              </a:rPr>
              <a:t>u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53" name="object 53"/>
          <p:cNvSpPr txBox="1"/>
          <p:nvPr/>
        </p:nvSpPr>
        <p:spPr>
          <a:xfrm>
            <a:off x="4679400" y="2716237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14011" y="2716237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864111" y="2667313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864111" y="2513469"/>
            <a:ext cx="89535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864111" y="2359624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864111" y="2205780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864111" y="2051935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864111" y="1898090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225290" y="1961924"/>
            <a:ext cx="452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Lucida Sans Unicode"/>
                <a:cs typeface="Lucida Sans Unicode"/>
              </a:rPr>
              <a:t>z</a:t>
            </a:r>
            <a:r>
              <a:rPr sz="900" spc="-20" dirty="0">
                <a:latin typeface="Lucida Sans Unicode"/>
                <a:cs typeface="Lucida Sans Unicode"/>
              </a:rPr>
              <a:t> </a:t>
            </a:r>
            <a:r>
              <a:rPr sz="900" spc="140" dirty="0">
                <a:latin typeface="Georgia"/>
                <a:cs typeface="Georgia"/>
              </a:rPr>
              <a:t>=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spc="-110" dirty="0">
                <a:latin typeface="Georgia"/>
                <a:cs typeface="Georgia"/>
              </a:rPr>
              <a:t>0</a:t>
            </a:r>
            <a:r>
              <a:rPr sz="900" spc="-110" dirty="0">
                <a:latin typeface="Lucida Sans Unicode"/>
                <a:cs typeface="Lucida Sans Unicode"/>
              </a:rPr>
              <a:t>.</a:t>
            </a:r>
            <a:r>
              <a:rPr sz="900" spc="-204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Georgia"/>
                <a:cs typeface="Georgia"/>
              </a:rPr>
              <a:t>75</a:t>
            </a:r>
            <a:endParaRPr sz="900">
              <a:latin typeface="Georgia"/>
              <a:cs typeface="Georg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73DB50E-6C03-5EE1-00D5-A1CCBBE0FB3A}"/>
                  </a:ext>
                </a:extLst>
              </p:cNvPr>
              <p:cNvSpPr txBox="1"/>
              <p:nvPr/>
            </p:nvSpPr>
            <p:spPr>
              <a:xfrm>
                <a:off x="153530" y="403200"/>
                <a:ext cx="5472570" cy="1188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100" dirty="0"/>
                  <a:t>► for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en-US" sz="110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100" dirty="0"/>
                  <a:t>the </a:t>
                </a:r>
                <a:r>
                  <a:rPr lang="en-US" sz="1100" i="1" dirty="0"/>
                  <a:t>tilted absolute value function</a:t>
                </a:r>
                <a:r>
                  <a:rPr lang="en-US" sz="1100" dirty="0"/>
                  <a:t> is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11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1100" i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sz="1100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i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11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1100" i="0"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  <a:p>
                <a:pPr>
                  <a:buNone/>
                </a:pPr>
                <a:r>
                  <a:rPr lang="en-US" sz="1100" dirty="0"/>
                  <a:t>► can be expressed as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100" i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1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1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100" i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100" i="0">
                          <a:latin typeface="Cambria Math" panose="02040503050406030204" pitchFamily="18" charset="0"/>
                        </a:rPr>
                        <m:t>∣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73DB50E-6C03-5EE1-00D5-A1CCBBE0F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30" y="403200"/>
                <a:ext cx="5472570" cy="1188852"/>
              </a:xfrm>
              <a:prstGeom prst="rect">
                <a:avLst/>
              </a:prstGeom>
              <a:blipFill>
                <a:blip r:embed="rId2"/>
                <a:stretch>
                  <a:fillRect t="-56410" b="-55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BAD9133-459E-8BF2-D97D-1CDA11432588}"/>
                  </a:ext>
                </a:extLst>
              </p:cNvPr>
              <p:cNvSpPr txBox="1"/>
              <p:nvPr/>
            </p:nvSpPr>
            <p:spPr>
              <a:xfrm>
                <a:off x="6558" y="2239569"/>
                <a:ext cx="60386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BAD9133-459E-8BF2-D97D-1CDA11432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" y="2239569"/>
                <a:ext cx="603867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60390D9-7351-9E26-B992-27BE3419349A}"/>
                  </a:ext>
                </a:extLst>
              </p:cNvPr>
              <p:cNvSpPr txBox="1"/>
              <p:nvPr/>
            </p:nvSpPr>
            <p:spPr>
              <a:xfrm>
                <a:off x="1707369" y="2176913"/>
                <a:ext cx="60386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60390D9-7351-9E26-B992-27BE34193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369" y="2176913"/>
                <a:ext cx="603867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CA204CF-9EE8-24DC-D20F-26186C7B4CF3}"/>
                  </a:ext>
                </a:extLst>
              </p:cNvPr>
              <p:cNvSpPr txBox="1"/>
              <p:nvPr/>
            </p:nvSpPr>
            <p:spPr>
              <a:xfrm>
                <a:off x="3387937" y="2196189"/>
                <a:ext cx="60386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CA204CF-9EE8-24DC-D20F-26186C7B4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937" y="2196189"/>
                <a:ext cx="603867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10A1EB7-FAFE-B7FD-95A7-F67B09519F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2438"/>
            <a:ext cx="5765800" cy="30799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26753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ERM with tilted absolute value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2BE1D1-CC9B-A201-71B3-7177730BA508}"/>
                  </a:ext>
                </a:extLst>
              </p:cNvPr>
              <p:cNvSpPr txBox="1"/>
              <p:nvPr/>
            </p:nvSpPr>
            <p:spPr>
              <a:xfrm>
                <a:off x="100535" y="327025"/>
                <a:ext cx="5459704" cy="2645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buNone/>
                </a:pPr>
                <a:r>
                  <a:rPr lang="en-US" sz="1100" dirty="0"/>
                  <a:t>► empirical risk with </a:t>
                </a:r>
                <a:r>
                  <a:rPr lang="en-US" sz="1100" i="1" dirty="0"/>
                  <a:t>tilted absolute loss</a:t>
                </a:r>
                <a:r>
                  <a:rPr lang="en-US" sz="11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sepChr m:val=",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1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1100" dirty="0"/>
                  <a:t>is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100" dirty="0"/>
                  <a:t> is convex and piecewise linear, with kink points at the data values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100" i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for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&lt;1/2</m:t>
                    </m:r>
                  </m:oMath>
                </a14:m>
                <a:r>
                  <a:rPr lang="en-US" sz="1100" dirty="0"/>
                  <a:t>, it’s worse (more loss) to over-estimate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100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1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100" dirty="0"/>
                  <a:t>) than to under-estimate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for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&gt;1/2</m:t>
                    </m:r>
                  </m:oMath>
                </a14:m>
                <a:r>
                  <a:rPr lang="en-US" sz="1100" dirty="0"/>
                  <a:t>, it’s worse (more loss) to under-estimate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100" dirty="0"/>
                  <a:t> than to overestimate</a:t>
                </a:r>
              </a:p>
              <a:p>
                <a:pPr>
                  <a:lnSpc>
                    <a:spcPct val="150000"/>
                  </a:lnSpc>
                  <a:buNone/>
                </a:pPr>
                <a:br>
                  <a:rPr lang="en-US" sz="1100" dirty="0"/>
                </a:br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we’ll see that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is optimal if it is a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100" i="1" dirty="0"/>
                  <a:t>-quantile</a:t>
                </a:r>
                <a:r>
                  <a:rPr lang="en-US" sz="1100" dirty="0"/>
                  <a:t> of the data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roughly, the fraction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1100" dirty="0"/>
                  <a:t>’s less than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is around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2BE1D1-CC9B-A201-71B3-7177730BA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5" y="327025"/>
                <a:ext cx="5459704" cy="2645148"/>
              </a:xfrm>
              <a:prstGeom prst="rect">
                <a:avLst/>
              </a:prstGeom>
              <a:blipFill>
                <a:blip r:embed="rId2"/>
                <a:stretch>
                  <a:fillRect t="-7143" b="-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1EBAF45-1820-A6E4-68BC-C48500ECA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438"/>
            <a:ext cx="5765800" cy="30799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4566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Quantiles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EAE347-90DA-4B21-A618-CD14DCB9BFBD}"/>
                  </a:ext>
                </a:extLst>
              </p:cNvPr>
              <p:cNvSpPr txBox="1"/>
              <p:nvPr/>
            </p:nvSpPr>
            <p:spPr>
              <a:xfrm>
                <a:off x="215900" y="403225"/>
                <a:ext cx="5257800" cy="271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for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en-US" sz="110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100" dirty="0"/>
                  <a:t>, we call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a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100" i="1" dirty="0"/>
                  <a:t>-quantile</a:t>
                </a:r>
                <a:r>
                  <a:rPr lang="en-US" sz="1100" dirty="0"/>
                  <a:t> of the data if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100" i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100" i="0">
                          <a:latin typeface="Cambria Math" panose="02040503050406030204" pitchFamily="18" charset="0"/>
                        </a:rPr>
                        <m:t>≤1−</m:t>
                      </m:r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if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100" i="0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1100" dirty="0"/>
                  <a:t>for all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100" dirty="0"/>
                  <a:t>then this is the same as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some common quantiles have names like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  ► median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=0.5</m:t>
                        </m:r>
                      </m:e>
                    </m:d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  ► quartiles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0.25</m:t>
                        </m:r>
                        <m:r>
                          <a:rPr lang="en-US" sz="11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US" sz="11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0.75</m:t>
                        </m:r>
                      </m:e>
                    </m:d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  ► deciles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0.1</m:t>
                        </m:r>
                      </m:e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0.2…0.9</m:t>
                        </m:r>
                      </m:e>
                    </m:d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  ► percentiles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0.01</m:t>
                        </m:r>
                      </m:e>
                      <m:e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0.02…0.99</m:t>
                        </m:r>
                      </m:e>
                    </m:d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EAE347-90DA-4B21-A618-CD14DCB9B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403225"/>
                <a:ext cx="5257800" cy="2716385"/>
              </a:xfrm>
              <a:prstGeom prst="rect">
                <a:avLst/>
              </a:prstGeom>
              <a:blipFill>
                <a:blip r:embed="rId2"/>
                <a:stretch>
                  <a:fillRect b="-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4566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Quantiles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08806" y="555815"/>
            <a:ext cx="1651635" cy="1231265"/>
            <a:chOff x="2008806" y="555815"/>
            <a:chExt cx="1651635" cy="1231265"/>
          </a:xfrm>
        </p:grpSpPr>
        <p:sp>
          <p:nvSpPr>
            <p:cNvPr id="4" name="object 4"/>
            <p:cNvSpPr/>
            <p:nvPr/>
          </p:nvSpPr>
          <p:spPr>
            <a:xfrm>
              <a:off x="2008806" y="555815"/>
              <a:ext cx="1651635" cy="1231265"/>
            </a:xfrm>
            <a:custGeom>
              <a:avLst/>
              <a:gdLst/>
              <a:ahLst/>
              <a:cxnLst/>
              <a:rect l="l" t="t" r="r" b="b"/>
              <a:pathLst>
                <a:path w="1651635" h="1231264">
                  <a:moveTo>
                    <a:pt x="1651631" y="0"/>
                  </a:moveTo>
                  <a:lnTo>
                    <a:pt x="0" y="0"/>
                  </a:lnTo>
                  <a:lnTo>
                    <a:pt x="0" y="1230731"/>
                  </a:lnTo>
                  <a:lnTo>
                    <a:pt x="1651631" y="1230731"/>
                  </a:lnTo>
                  <a:lnTo>
                    <a:pt x="1651631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08806" y="555815"/>
              <a:ext cx="1651635" cy="1231265"/>
            </a:xfrm>
            <a:custGeom>
              <a:avLst/>
              <a:gdLst/>
              <a:ahLst/>
              <a:cxnLst/>
              <a:rect l="l" t="t" r="r" b="b"/>
              <a:pathLst>
                <a:path w="1651635" h="1231264">
                  <a:moveTo>
                    <a:pt x="75074" y="1230731"/>
                  </a:moveTo>
                  <a:lnTo>
                    <a:pt x="75074" y="0"/>
                  </a:lnTo>
                </a:path>
                <a:path w="1651635" h="1231264">
                  <a:moveTo>
                    <a:pt x="375370" y="1230731"/>
                  </a:moveTo>
                  <a:lnTo>
                    <a:pt x="375370" y="0"/>
                  </a:lnTo>
                </a:path>
                <a:path w="1651635" h="1231264">
                  <a:moveTo>
                    <a:pt x="675667" y="1230731"/>
                  </a:moveTo>
                  <a:lnTo>
                    <a:pt x="675667" y="0"/>
                  </a:lnTo>
                </a:path>
                <a:path w="1651635" h="1231264">
                  <a:moveTo>
                    <a:pt x="975964" y="1230731"/>
                  </a:moveTo>
                  <a:lnTo>
                    <a:pt x="975964" y="0"/>
                  </a:lnTo>
                </a:path>
                <a:path w="1651635" h="1231264">
                  <a:moveTo>
                    <a:pt x="1276260" y="1230731"/>
                  </a:moveTo>
                  <a:lnTo>
                    <a:pt x="1276260" y="0"/>
                  </a:lnTo>
                </a:path>
                <a:path w="1651635" h="1231264">
                  <a:moveTo>
                    <a:pt x="1576557" y="1230731"/>
                  </a:moveTo>
                  <a:lnTo>
                    <a:pt x="1576557" y="0"/>
                  </a:lnTo>
                </a:path>
                <a:path w="1651635" h="1231264">
                  <a:moveTo>
                    <a:pt x="0" y="1174789"/>
                  </a:moveTo>
                  <a:lnTo>
                    <a:pt x="1651631" y="1174789"/>
                  </a:lnTo>
                </a:path>
                <a:path w="1651635" h="1231264">
                  <a:moveTo>
                    <a:pt x="0" y="895077"/>
                  </a:moveTo>
                  <a:lnTo>
                    <a:pt x="1651631" y="895077"/>
                  </a:lnTo>
                </a:path>
                <a:path w="1651635" h="1231264">
                  <a:moveTo>
                    <a:pt x="0" y="615365"/>
                  </a:moveTo>
                  <a:lnTo>
                    <a:pt x="1651631" y="615365"/>
                  </a:lnTo>
                </a:path>
                <a:path w="1651635" h="1231264">
                  <a:moveTo>
                    <a:pt x="0" y="335654"/>
                  </a:moveTo>
                  <a:lnTo>
                    <a:pt x="1651631" y="335654"/>
                  </a:lnTo>
                </a:path>
                <a:path w="1651635" h="1231264">
                  <a:moveTo>
                    <a:pt x="0" y="55942"/>
                  </a:moveTo>
                  <a:lnTo>
                    <a:pt x="1651631" y="55942"/>
                  </a:lnTo>
                </a:path>
              </a:pathLst>
            </a:custGeom>
            <a:ln w="7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83881" y="611757"/>
              <a:ext cx="1501775" cy="1118870"/>
            </a:xfrm>
            <a:custGeom>
              <a:avLst/>
              <a:gdLst/>
              <a:ahLst/>
              <a:cxnLst/>
              <a:rect l="l" t="t" r="r" b="b"/>
              <a:pathLst>
                <a:path w="1501775" h="1118870">
                  <a:moveTo>
                    <a:pt x="0" y="1118847"/>
                  </a:moveTo>
                  <a:lnTo>
                    <a:pt x="0" y="839219"/>
                  </a:lnTo>
                  <a:lnTo>
                    <a:pt x="300296" y="838324"/>
                  </a:lnTo>
                  <a:lnTo>
                    <a:pt x="300296" y="419609"/>
                  </a:lnTo>
                  <a:lnTo>
                    <a:pt x="900889" y="418714"/>
                  </a:lnTo>
                  <a:lnTo>
                    <a:pt x="900889" y="279739"/>
                  </a:lnTo>
                  <a:lnTo>
                    <a:pt x="1201186" y="278844"/>
                  </a:lnTo>
                  <a:lnTo>
                    <a:pt x="1201186" y="139869"/>
                  </a:lnTo>
                  <a:lnTo>
                    <a:pt x="1501483" y="138974"/>
                  </a:lnTo>
                  <a:lnTo>
                    <a:pt x="1501483" y="0"/>
                  </a:lnTo>
                </a:path>
              </a:pathLst>
            </a:custGeom>
            <a:ln w="221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19729" y="1801575"/>
            <a:ext cx="12827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320026" y="1801575"/>
            <a:ext cx="12827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0322" y="1801575"/>
            <a:ext cx="128905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20619" y="1801575"/>
            <a:ext cx="128905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20915" y="1801575"/>
            <a:ext cx="128905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21212" y="1801575"/>
            <a:ext cx="12827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10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600" spc="-7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36154" y="548510"/>
            <a:ext cx="734060" cy="1236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600" spc="-10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600" spc="-7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60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5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600" spc="-50" dirty="0">
                <a:solidFill>
                  <a:srgbClr val="262626"/>
                </a:solidFill>
                <a:latin typeface="Arial MT"/>
                <a:cs typeface="Arial MT"/>
              </a:rPr>
              <a:t>8</a:t>
            </a:r>
            <a:endParaRPr sz="600">
              <a:latin typeface="Arial MT"/>
              <a:cs typeface="Arial MT"/>
            </a:endParaRPr>
          </a:p>
          <a:p>
            <a:pPr marL="12700">
              <a:lnSpc>
                <a:spcPts val="1035"/>
              </a:lnSpc>
              <a:spcBef>
                <a:spcPts val="490"/>
              </a:spcBef>
            </a:pPr>
            <a:r>
              <a:rPr sz="900" spc="-10" dirty="0">
                <a:latin typeface="Lucida Sans Unicode"/>
                <a:cs typeface="Lucida Sans Unicode"/>
              </a:rPr>
              <a:t>z</a:t>
            </a:r>
            <a:r>
              <a:rPr sz="900" spc="-10" dirty="0">
                <a:latin typeface="Arial MT"/>
                <a:cs typeface="Arial MT"/>
              </a:rPr>
              <a:t>-quantile</a:t>
            </a:r>
            <a:endParaRPr sz="900">
              <a:latin typeface="Arial MT"/>
              <a:cs typeface="Arial MT"/>
            </a:endParaRPr>
          </a:p>
          <a:p>
            <a:pPr marR="5080" algn="r">
              <a:lnSpc>
                <a:spcPts val="675"/>
              </a:lnSpc>
            </a:pPr>
            <a:r>
              <a:rPr sz="600" spc="-50" dirty="0">
                <a:solidFill>
                  <a:srgbClr val="262626"/>
                </a:solidFill>
                <a:latin typeface="Arial MT"/>
                <a:cs typeface="Arial MT"/>
              </a:rPr>
              <a:t>6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5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600" spc="-50" dirty="0">
                <a:solidFill>
                  <a:srgbClr val="262626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55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</a:pPr>
            <a:r>
              <a:rPr sz="60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1724" y="1899325"/>
            <a:ext cx="3667976" cy="10823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lang="en-US" sz="1000" spc="-50" dirty="0">
                <a:latin typeface="Lucida Sans Unicode"/>
                <a:cs typeface="Lucida Sans Unicode"/>
              </a:rPr>
              <a:t>                                            </a:t>
            </a:r>
            <a:r>
              <a:rPr sz="1000" spc="-50" dirty="0">
                <a:latin typeface="Lucida Sans Unicode"/>
                <a:cs typeface="Lucida Sans Unicode"/>
              </a:rPr>
              <a:t>z</a:t>
            </a:r>
            <a:endParaRPr sz="10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050" dirty="0">
                <a:solidFill>
                  <a:srgbClr val="000099"/>
                </a:solidFill>
                <a:latin typeface="Times New Roman"/>
                <a:cs typeface="Times New Roman"/>
              </a:rPr>
              <a:t>Ş </a:t>
            </a:r>
            <a:r>
              <a:rPr sz="1050" dirty="0">
                <a:latin typeface="Arial MT"/>
                <a:cs typeface="Arial MT"/>
              </a:rPr>
              <a:t>if the data is (4,7,7,8,9) then</a:t>
            </a:r>
          </a:p>
          <a:p>
            <a:pPr marL="269875">
              <a:lnSpc>
                <a:spcPct val="100000"/>
              </a:lnSpc>
              <a:spcBef>
                <a:spcPts val="615"/>
              </a:spcBef>
            </a:pPr>
            <a:r>
              <a:rPr sz="1050" dirty="0">
                <a:solidFill>
                  <a:srgbClr val="000099"/>
                </a:solidFill>
                <a:latin typeface="Times New Roman"/>
                <a:cs typeface="Times New Roman"/>
              </a:rPr>
              <a:t>Ş </a:t>
            </a:r>
            <a:r>
              <a:rPr sz="1050" dirty="0">
                <a:latin typeface="Tahoma"/>
                <a:cs typeface="Tahoma"/>
              </a:rPr>
              <a:t>the 0.1 quantile is 4</a:t>
            </a:r>
          </a:p>
          <a:p>
            <a:pPr marL="269875">
              <a:lnSpc>
                <a:spcPct val="100000"/>
              </a:lnSpc>
              <a:spcBef>
                <a:spcPts val="434"/>
              </a:spcBef>
            </a:pPr>
            <a:r>
              <a:rPr sz="1050" dirty="0">
                <a:solidFill>
                  <a:srgbClr val="000099"/>
                </a:solidFill>
                <a:latin typeface="Times New Roman"/>
                <a:cs typeface="Times New Roman"/>
              </a:rPr>
              <a:t>Ş </a:t>
            </a:r>
            <a:r>
              <a:rPr sz="1050" dirty="0">
                <a:latin typeface="Tahoma"/>
                <a:cs typeface="Tahoma"/>
              </a:rPr>
              <a:t>the 0.2 quantile is any number in [4,7]</a:t>
            </a:r>
          </a:p>
          <a:p>
            <a:pPr marL="269875">
              <a:lnSpc>
                <a:spcPct val="100000"/>
              </a:lnSpc>
              <a:spcBef>
                <a:spcPts val="434"/>
              </a:spcBef>
            </a:pPr>
            <a:r>
              <a:rPr sz="1050" dirty="0">
                <a:solidFill>
                  <a:srgbClr val="000099"/>
                </a:solidFill>
                <a:latin typeface="Times New Roman"/>
                <a:cs typeface="Times New Roman"/>
              </a:rPr>
              <a:t>Ş </a:t>
            </a:r>
            <a:r>
              <a:rPr sz="1050" dirty="0">
                <a:latin typeface="Tahoma"/>
                <a:cs typeface="Tahoma"/>
              </a:rPr>
              <a:t>the 0.5 quantile is 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4" y="71378"/>
            <a:ext cx="46565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200" dirty="0">
                <a:highlight>
                  <a:srgbClr val="FFFF00"/>
                </a:highlight>
              </a:rPr>
              <a:t>τ-quantile​</a:t>
            </a:r>
            <a:r>
              <a:rPr sz="1200" dirty="0">
                <a:solidFill>
                  <a:schemeClr val="tx1"/>
                </a:solidFill>
              </a:rPr>
              <a:t> minimizes empirical risk with tilted absolute loss</a:t>
            </a:r>
            <a:endParaRPr sz="1200" dirty="0">
              <a:solidFill>
                <a:schemeClr val="tx1"/>
              </a:solidFill>
              <a:latin typeface="Franklin Gothic Medium"/>
              <a:cs typeface="Franklin Gothic Medium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6EBC80-195C-DBF1-45B2-567AAFDACB36}"/>
                  </a:ext>
                </a:extLst>
              </p:cNvPr>
              <p:cNvSpPr txBox="1"/>
              <p:nvPr/>
            </p:nvSpPr>
            <p:spPr>
              <a:xfrm>
                <a:off x="161495" y="268227"/>
                <a:ext cx="5634496" cy="3034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US" sz="1100" b="1" dirty="0">
                    <a:highlight>
                      <a:srgbClr val="FFFF00"/>
                    </a:highlight>
                  </a:rPr>
                  <a:t>θ minimizes L(θ) if and only if it is a τ-quantile​ </a:t>
                </a:r>
              </a:p>
              <a:p>
                <a:pPr>
                  <a:buNone/>
                </a:pPr>
                <a:r>
                  <a:rPr lang="en-US" sz="1100" dirty="0"/>
                  <a:t>► assume data are sorted,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100" i="0">
                          <a:latin typeface="Cambria Math" panose="02040503050406030204" pitchFamily="18" charset="0"/>
                        </a:rPr>
                        <m:t>≤⋯≤</m:t>
                      </m:r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1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100" dirty="0"/>
              </a:p>
              <a:p>
                <a:pPr>
                  <a:buNone/>
                </a:pPr>
                <a:r>
                  <a:rPr lang="en-US" sz="1100" dirty="0"/>
                  <a:t>then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lang="en-US" sz="110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1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=1+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r>
                        <a:rPr lang="en-US" sz="1100" i="1">
                          <a:latin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100" dirty="0"/>
              </a:p>
              <a:p>
                <a:pPr>
                  <a:buNone/>
                </a:pPr>
                <a:r>
                  <a:rPr lang="en-US" sz="1100" dirty="0"/>
                  <a:t>► if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is not equal to a data value, then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1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1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  <a:p>
                <a:pPr>
                  <a:buNone/>
                </a:pPr>
                <a:r>
                  <a:rPr lang="en-US" sz="1100" dirty="0"/>
                  <a:t>► left and right derivatives are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1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  <m: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1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1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sz="11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1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  <m: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1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100" i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1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  <a:p>
                <a:pPr>
                  <a:buNone/>
                </a:pPr>
                <a:r>
                  <a:rPr lang="en-US" sz="1100" dirty="0"/>
                  <a:t>►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is optimal means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100" i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1100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en-US" sz="11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100" i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100" dirty="0"/>
                  <a:t>, which means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100" i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100" i="0">
                          <a:latin typeface="Cambria Math" panose="02040503050406030204" pitchFamily="18" charset="0"/>
                        </a:rPr>
                        <m:t>≤1−</m:t>
                      </m:r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6EBC80-195C-DBF1-45B2-567AAFDAC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95" y="268227"/>
                <a:ext cx="5634496" cy="3034805"/>
              </a:xfrm>
              <a:prstGeom prst="rect">
                <a:avLst/>
              </a:prstGeom>
              <a:blipFill>
                <a:blip r:embed="rId2"/>
                <a:stretch>
                  <a:fillRect t="-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E204CEF-3490-1D8A-67B5-6239C98E9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3" y="-71378"/>
            <a:ext cx="5728839" cy="3244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2434D0-2373-1C72-2D11-172B73E6E3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31" t="66439" b="17123"/>
          <a:stretch>
            <a:fillRect/>
          </a:stretch>
        </p:blipFill>
        <p:spPr>
          <a:xfrm>
            <a:off x="3712119" y="2105931"/>
            <a:ext cx="2026219" cy="53340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25991E-6 9.98043E-7 L -0.25 9.98043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2197100" y="1165225"/>
            <a:ext cx="1828800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dirty="0">
                <a:solidFill>
                  <a:schemeClr val="tx1"/>
                </a:solidFill>
                <a:latin typeface="Arial MT"/>
                <a:cs typeface="Arial MT"/>
              </a:rPr>
              <a:t>Fractional loss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4" y="71378"/>
            <a:ext cx="21419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ERM with fractional loss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49D891D-41C6-4F68-DCF5-3C42EE0CA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0" y="327025"/>
            <a:ext cx="2390851" cy="13625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E2E2FFA-5E4E-9DA2-B121-31559F6A0F1C}"/>
                  </a:ext>
                </a:extLst>
              </p:cNvPr>
              <p:cNvSpPr txBox="1"/>
              <p:nvPr/>
            </p:nvSpPr>
            <p:spPr>
              <a:xfrm>
                <a:off x="242596" y="1624755"/>
                <a:ext cx="5723396" cy="140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000" dirty="0"/>
                  <a:t>► fractional loss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sepChr m:val=",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00" i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sepChr m:val=","/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mbria Math" panose="02040503050406030204" pitchFamily="18" charset="0"/>
                                </a:rPr>
                                <m:t>  </m:t>
                              </m:r>
                              <m:f>
                                <m:fPr>
                                  <m:ctrlPr>
                                    <a:rPr lang="en-US" sz="10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0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acc>
                                    <m:accPr>
                                      <m:chr m:val="̂"/>
                                      <m:ctrlPr>
                                        <a:rPr lang="en-US" sz="1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000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den>
                              </m:f>
                              <m:r>
                                <a:rPr lang="en-US" sz="1000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  <m:r>
                        <a:rPr lang="en-US" sz="1000" b="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000" b="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00" b="0" i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en-US" sz="1000" b="0" i="1">
                              <a:latin typeface="Cambria Math" panose="02040503050406030204" pitchFamily="18" charset="0"/>
                            </a:rPr>
                            <m:t> </m:t>
                          </m:r>
                        </m:e>
                      </m:func>
                      <m:d>
                        <m:dPr>
                          <m:ctrlPr>
                            <a:rPr lang="en-US" sz="1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∣"/>
                              <m:endChr m:val="∣"/>
                              <m:ctrlPr>
                                <a:rPr lang="en-US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1000" b="0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000" b="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000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func>
                              <m:r>
                                <a:rPr lang="en-US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1000" b="0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000" b="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10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func>
                            </m:e>
                          </m:d>
                        </m:e>
                      </m:d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00" b="0" dirty="0"/>
              </a:p>
              <a:p>
                <a:pPr>
                  <a:buNone/>
                </a:pPr>
                <a:r>
                  <a:rPr lang="en-US" sz="1000" dirty="0"/>
                  <a:t>► empirical risk is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grow m:val="on"/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1000" i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</m:nary>
                        </m:fName>
                        <m:e>
                          <m:d>
                            <m:dPr>
                              <m:begChr m:val="{"/>
                              <m:endChr m:val="}"/>
                              <m:sepChr m:val=","/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  <m:e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mbria Math" panose="02040503050406030204" pitchFamily="18" charset="0"/>
                                </a:rPr>
                                <m:t>  </m:t>
                              </m:r>
                              <m:f>
                                <m:fPr>
                                  <m:ctrlPr>
                                    <a:rPr lang="en-US" sz="10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000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1000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000" b="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  <m:r>
                                <a:rPr lang="en-US" sz="1000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000" b="0" dirty="0"/>
              </a:p>
              <a:p>
                <a:pPr>
                  <a:buNone/>
                </a:pPr>
                <a:r>
                  <a:rPr lang="en-US" sz="1000" dirty="0"/>
                  <a:t>► a convex function, with kink points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000" i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1000" dirty="0"/>
              </a:p>
              <a:p>
                <a:pPr>
                  <a:buNone/>
                </a:pPr>
                <a:r>
                  <a:rPr lang="en-US" sz="1000" dirty="0"/>
                  <a:t>► we call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00" dirty="0"/>
                  <a:t>that minimizes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000" dirty="0"/>
                  <a:t>the </a:t>
                </a:r>
                <a:r>
                  <a:rPr lang="en-US" sz="1000" i="1" dirty="0"/>
                  <a:t>fractional middle</a:t>
                </a:r>
                <a:r>
                  <a:rPr lang="en-US" sz="1000" dirty="0"/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000" i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000" dirty="0"/>
                  <a:t>(not a standard term)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E2E2FFA-5E4E-9DA2-B121-31559F6A0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96" y="1624755"/>
                <a:ext cx="5723396" cy="1406988"/>
              </a:xfrm>
              <a:prstGeom prst="rect">
                <a:avLst/>
              </a:prstGeom>
              <a:blipFill>
                <a:blip r:embed="rId3"/>
                <a:stretch>
                  <a:fillRect t="-435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4" y="71378"/>
            <a:ext cx="203644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ERM with fractional loss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74307" y="540759"/>
            <a:ext cx="2045335" cy="2034539"/>
            <a:chOff x="1874307" y="540759"/>
            <a:chExt cx="2045335" cy="2034539"/>
          </a:xfrm>
        </p:grpSpPr>
        <p:sp>
          <p:nvSpPr>
            <p:cNvPr id="4" name="object 4"/>
            <p:cNvSpPr/>
            <p:nvPr/>
          </p:nvSpPr>
          <p:spPr>
            <a:xfrm>
              <a:off x="1877482" y="546157"/>
              <a:ext cx="2036445" cy="2023745"/>
            </a:xfrm>
            <a:custGeom>
              <a:avLst/>
              <a:gdLst/>
              <a:ahLst/>
              <a:cxnLst/>
              <a:rect l="l" t="t" r="r" b="b"/>
              <a:pathLst>
                <a:path w="2036445" h="2023745">
                  <a:moveTo>
                    <a:pt x="2036433" y="0"/>
                  </a:moveTo>
                  <a:lnTo>
                    <a:pt x="0" y="0"/>
                  </a:lnTo>
                  <a:lnTo>
                    <a:pt x="0" y="2023295"/>
                  </a:lnTo>
                  <a:lnTo>
                    <a:pt x="2036433" y="2023295"/>
                  </a:lnTo>
                  <a:lnTo>
                    <a:pt x="2036433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77482" y="546157"/>
              <a:ext cx="2036445" cy="2023745"/>
            </a:xfrm>
            <a:custGeom>
              <a:avLst/>
              <a:gdLst/>
              <a:ahLst/>
              <a:cxnLst/>
              <a:rect l="l" t="t" r="r" b="b"/>
              <a:pathLst>
                <a:path w="2036445" h="2023745">
                  <a:moveTo>
                    <a:pt x="244372" y="2023295"/>
                  </a:moveTo>
                  <a:lnTo>
                    <a:pt x="244372" y="0"/>
                  </a:lnTo>
                </a:path>
                <a:path w="2036445" h="2023745">
                  <a:moveTo>
                    <a:pt x="498926" y="2023295"/>
                  </a:moveTo>
                  <a:lnTo>
                    <a:pt x="498926" y="0"/>
                  </a:lnTo>
                </a:path>
                <a:path w="2036445" h="2023745">
                  <a:moveTo>
                    <a:pt x="753480" y="2023295"/>
                  </a:moveTo>
                  <a:lnTo>
                    <a:pt x="753480" y="0"/>
                  </a:lnTo>
                </a:path>
                <a:path w="2036445" h="2023745">
                  <a:moveTo>
                    <a:pt x="1008034" y="2023295"/>
                  </a:moveTo>
                  <a:lnTo>
                    <a:pt x="1008034" y="0"/>
                  </a:lnTo>
                </a:path>
                <a:path w="2036445" h="2023745">
                  <a:moveTo>
                    <a:pt x="1262588" y="2023295"/>
                  </a:moveTo>
                  <a:lnTo>
                    <a:pt x="1262588" y="0"/>
                  </a:lnTo>
                </a:path>
                <a:path w="2036445" h="2023745">
                  <a:moveTo>
                    <a:pt x="1517143" y="2023295"/>
                  </a:moveTo>
                  <a:lnTo>
                    <a:pt x="1517143" y="0"/>
                  </a:lnTo>
                </a:path>
                <a:path w="2036445" h="2023745">
                  <a:moveTo>
                    <a:pt x="1771697" y="2023295"/>
                  </a:moveTo>
                  <a:lnTo>
                    <a:pt x="1771697" y="0"/>
                  </a:lnTo>
                </a:path>
                <a:path w="2036445" h="2023745">
                  <a:moveTo>
                    <a:pt x="2026251" y="2023295"/>
                  </a:moveTo>
                  <a:lnTo>
                    <a:pt x="2026251" y="0"/>
                  </a:lnTo>
                </a:path>
                <a:path w="2036445" h="2023745">
                  <a:moveTo>
                    <a:pt x="0" y="2023295"/>
                  </a:moveTo>
                  <a:lnTo>
                    <a:pt x="2036433" y="2023295"/>
                  </a:lnTo>
                </a:path>
                <a:path w="2036445" h="2023745">
                  <a:moveTo>
                    <a:pt x="0" y="1770383"/>
                  </a:moveTo>
                  <a:lnTo>
                    <a:pt x="2036433" y="1770383"/>
                  </a:lnTo>
                </a:path>
                <a:path w="2036445" h="2023745">
                  <a:moveTo>
                    <a:pt x="0" y="1517471"/>
                  </a:moveTo>
                  <a:lnTo>
                    <a:pt x="2036433" y="1517471"/>
                  </a:lnTo>
                </a:path>
                <a:path w="2036445" h="2023745">
                  <a:moveTo>
                    <a:pt x="0" y="1264559"/>
                  </a:moveTo>
                  <a:lnTo>
                    <a:pt x="2036433" y="1264559"/>
                  </a:lnTo>
                </a:path>
                <a:path w="2036445" h="2023745">
                  <a:moveTo>
                    <a:pt x="0" y="1011647"/>
                  </a:moveTo>
                  <a:lnTo>
                    <a:pt x="2036433" y="1011647"/>
                  </a:lnTo>
                </a:path>
                <a:path w="2036445" h="2023745">
                  <a:moveTo>
                    <a:pt x="0" y="758735"/>
                  </a:moveTo>
                  <a:lnTo>
                    <a:pt x="2036433" y="758735"/>
                  </a:lnTo>
                </a:path>
                <a:path w="2036445" h="2023745">
                  <a:moveTo>
                    <a:pt x="0" y="505823"/>
                  </a:moveTo>
                  <a:lnTo>
                    <a:pt x="2036433" y="505823"/>
                  </a:lnTo>
                </a:path>
                <a:path w="2036445" h="2023745">
                  <a:moveTo>
                    <a:pt x="0" y="252911"/>
                  </a:moveTo>
                  <a:lnTo>
                    <a:pt x="2036433" y="252911"/>
                  </a:lnTo>
                </a:path>
                <a:path w="2036445" h="2023745">
                  <a:moveTo>
                    <a:pt x="0" y="0"/>
                  </a:moveTo>
                  <a:lnTo>
                    <a:pt x="2036433" y="0"/>
                  </a:lnTo>
                </a:path>
              </a:pathLst>
            </a:custGeom>
            <a:ln w="608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90383" y="2548164"/>
              <a:ext cx="43180" cy="21590"/>
            </a:xfrm>
            <a:custGeom>
              <a:avLst/>
              <a:gdLst/>
              <a:ahLst/>
              <a:cxnLst/>
              <a:rect l="l" t="t" r="r" b="b"/>
              <a:pathLst>
                <a:path w="43180" h="21589">
                  <a:moveTo>
                    <a:pt x="26934" y="0"/>
                  </a:moveTo>
                  <a:lnTo>
                    <a:pt x="15643" y="0"/>
                  </a:lnTo>
                  <a:lnTo>
                    <a:pt x="10227" y="2243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  <a:lnTo>
                    <a:pt x="42577" y="21288"/>
                  </a:lnTo>
                  <a:lnTo>
                    <a:pt x="42577" y="15643"/>
                  </a:lnTo>
                  <a:lnTo>
                    <a:pt x="40334" y="10227"/>
                  </a:lnTo>
                  <a:lnTo>
                    <a:pt x="32350" y="2243"/>
                  </a:lnTo>
                  <a:lnTo>
                    <a:pt x="2693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90383" y="2548164"/>
              <a:ext cx="43180" cy="21590"/>
            </a:xfrm>
            <a:custGeom>
              <a:avLst/>
              <a:gdLst/>
              <a:ahLst/>
              <a:cxnLst/>
              <a:rect l="l" t="t" r="r" b="b"/>
              <a:pathLst>
                <a:path w="43180" h="21589">
                  <a:moveTo>
                    <a:pt x="42577" y="21288"/>
                  </a:moveTo>
                  <a:lnTo>
                    <a:pt x="42577" y="15643"/>
                  </a:lnTo>
                  <a:lnTo>
                    <a:pt x="40334" y="10227"/>
                  </a:lnTo>
                  <a:lnTo>
                    <a:pt x="36342" y="6235"/>
                  </a:lnTo>
                  <a:lnTo>
                    <a:pt x="32350" y="2243"/>
                  </a:lnTo>
                  <a:lnTo>
                    <a:pt x="26934" y="0"/>
                  </a:lnTo>
                  <a:lnTo>
                    <a:pt x="21288" y="0"/>
                  </a:lnTo>
                  <a:lnTo>
                    <a:pt x="15643" y="0"/>
                  </a:lnTo>
                  <a:lnTo>
                    <a:pt x="10227" y="2243"/>
                  </a:lnTo>
                  <a:lnTo>
                    <a:pt x="6235" y="6235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55119" y="2548164"/>
              <a:ext cx="43180" cy="21590"/>
            </a:xfrm>
            <a:custGeom>
              <a:avLst/>
              <a:gdLst/>
              <a:ahLst/>
              <a:cxnLst/>
              <a:rect l="l" t="t" r="r" b="b"/>
              <a:pathLst>
                <a:path w="43180" h="21589">
                  <a:moveTo>
                    <a:pt x="26934" y="0"/>
                  </a:moveTo>
                  <a:lnTo>
                    <a:pt x="15643" y="0"/>
                  </a:lnTo>
                  <a:lnTo>
                    <a:pt x="10227" y="2243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  <a:lnTo>
                    <a:pt x="42577" y="21288"/>
                  </a:lnTo>
                  <a:lnTo>
                    <a:pt x="42577" y="15643"/>
                  </a:lnTo>
                  <a:lnTo>
                    <a:pt x="40334" y="10227"/>
                  </a:lnTo>
                  <a:lnTo>
                    <a:pt x="32350" y="2243"/>
                  </a:lnTo>
                  <a:lnTo>
                    <a:pt x="2693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55119" y="2548164"/>
              <a:ext cx="43180" cy="21590"/>
            </a:xfrm>
            <a:custGeom>
              <a:avLst/>
              <a:gdLst/>
              <a:ahLst/>
              <a:cxnLst/>
              <a:rect l="l" t="t" r="r" b="b"/>
              <a:pathLst>
                <a:path w="43180" h="21589">
                  <a:moveTo>
                    <a:pt x="42577" y="21288"/>
                  </a:moveTo>
                  <a:lnTo>
                    <a:pt x="42577" y="15643"/>
                  </a:lnTo>
                  <a:lnTo>
                    <a:pt x="40334" y="10227"/>
                  </a:lnTo>
                  <a:lnTo>
                    <a:pt x="36342" y="6235"/>
                  </a:lnTo>
                  <a:lnTo>
                    <a:pt x="32350" y="2243"/>
                  </a:lnTo>
                  <a:lnTo>
                    <a:pt x="26934" y="0"/>
                  </a:lnTo>
                  <a:lnTo>
                    <a:pt x="21288" y="0"/>
                  </a:lnTo>
                  <a:lnTo>
                    <a:pt x="15643" y="0"/>
                  </a:lnTo>
                  <a:lnTo>
                    <a:pt x="10227" y="2243"/>
                  </a:lnTo>
                  <a:lnTo>
                    <a:pt x="6235" y="6235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8763" y="2548164"/>
              <a:ext cx="43180" cy="21590"/>
            </a:xfrm>
            <a:custGeom>
              <a:avLst/>
              <a:gdLst/>
              <a:ahLst/>
              <a:cxnLst/>
              <a:rect l="l" t="t" r="r" b="b"/>
              <a:pathLst>
                <a:path w="43180" h="21589">
                  <a:moveTo>
                    <a:pt x="26934" y="0"/>
                  </a:moveTo>
                  <a:lnTo>
                    <a:pt x="15643" y="0"/>
                  </a:lnTo>
                  <a:lnTo>
                    <a:pt x="10227" y="2243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  <a:lnTo>
                    <a:pt x="42577" y="21288"/>
                  </a:lnTo>
                  <a:lnTo>
                    <a:pt x="42577" y="15643"/>
                  </a:lnTo>
                  <a:lnTo>
                    <a:pt x="40334" y="10227"/>
                  </a:lnTo>
                  <a:lnTo>
                    <a:pt x="32350" y="2243"/>
                  </a:lnTo>
                  <a:lnTo>
                    <a:pt x="2693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58763" y="2548164"/>
              <a:ext cx="43180" cy="21590"/>
            </a:xfrm>
            <a:custGeom>
              <a:avLst/>
              <a:gdLst/>
              <a:ahLst/>
              <a:cxnLst/>
              <a:rect l="l" t="t" r="r" b="b"/>
              <a:pathLst>
                <a:path w="43180" h="21589">
                  <a:moveTo>
                    <a:pt x="42577" y="21288"/>
                  </a:moveTo>
                  <a:lnTo>
                    <a:pt x="42577" y="15643"/>
                  </a:lnTo>
                  <a:lnTo>
                    <a:pt x="40334" y="10227"/>
                  </a:lnTo>
                  <a:lnTo>
                    <a:pt x="36342" y="6235"/>
                  </a:lnTo>
                  <a:lnTo>
                    <a:pt x="32350" y="2243"/>
                  </a:lnTo>
                  <a:lnTo>
                    <a:pt x="26934" y="0"/>
                  </a:lnTo>
                  <a:lnTo>
                    <a:pt x="21288" y="0"/>
                  </a:lnTo>
                  <a:lnTo>
                    <a:pt x="15643" y="0"/>
                  </a:lnTo>
                  <a:lnTo>
                    <a:pt x="10227" y="2243"/>
                  </a:lnTo>
                  <a:lnTo>
                    <a:pt x="6235" y="6235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67871" y="2548164"/>
              <a:ext cx="43180" cy="21590"/>
            </a:xfrm>
            <a:custGeom>
              <a:avLst/>
              <a:gdLst/>
              <a:ahLst/>
              <a:cxnLst/>
              <a:rect l="l" t="t" r="r" b="b"/>
              <a:pathLst>
                <a:path w="43180" h="21589">
                  <a:moveTo>
                    <a:pt x="26934" y="0"/>
                  </a:moveTo>
                  <a:lnTo>
                    <a:pt x="15643" y="0"/>
                  </a:lnTo>
                  <a:lnTo>
                    <a:pt x="10227" y="2243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  <a:lnTo>
                    <a:pt x="42577" y="21288"/>
                  </a:lnTo>
                  <a:lnTo>
                    <a:pt x="42577" y="15643"/>
                  </a:lnTo>
                  <a:lnTo>
                    <a:pt x="40334" y="10227"/>
                  </a:lnTo>
                  <a:lnTo>
                    <a:pt x="32350" y="2243"/>
                  </a:lnTo>
                  <a:lnTo>
                    <a:pt x="2693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67871" y="2548164"/>
              <a:ext cx="43180" cy="21590"/>
            </a:xfrm>
            <a:custGeom>
              <a:avLst/>
              <a:gdLst/>
              <a:ahLst/>
              <a:cxnLst/>
              <a:rect l="l" t="t" r="r" b="b"/>
              <a:pathLst>
                <a:path w="43180" h="21589">
                  <a:moveTo>
                    <a:pt x="42577" y="21288"/>
                  </a:moveTo>
                  <a:lnTo>
                    <a:pt x="42577" y="15643"/>
                  </a:lnTo>
                  <a:lnTo>
                    <a:pt x="40334" y="10227"/>
                  </a:lnTo>
                  <a:lnTo>
                    <a:pt x="36342" y="6235"/>
                  </a:lnTo>
                  <a:lnTo>
                    <a:pt x="32350" y="2243"/>
                  </a:lnTo>
                  <a:lnTo>
                    <a:pt x="26934" y="0"/>
                  </a:lnTo>
                  <a:lnTo>
                    <a:pt x="21288" y="0"/>
                  </a:lnTo>
                  <a:lnTo>
                    <a:pt x="15643" y="0"/>
                  </a:lnTo>
                  <a:lnTo>
                    <a:pt x="10227" y="2243"/>
                  </a:lnTo>
                  <a:lnTo>
                    <a:pt x="6235" y="6235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69693" y="2548164"/>
              <a:ext cx="43180" cy="21590"/>
            </a:xfrm>
            <a:custGeom>
              <a:avLst/>
              <a:gdLst/>
              <a:ahLst/>
              <a:cxnLst/>
              <a:rect l="l" t="t" r="r" b="b"/>
              <a:pathLst>
                <a:path w="43180" h="21589">
                  <a:moveTo>
                    <a:pt x="26934" y="0"/>
                  </a:moveTo>
                  <a:lnTo>
                    <a:pt x="15643" y="0"/>
                  </a:lnTo>
                  <a:lnTo>
                    <a:pt x="10227" y="2243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  <a:lnTo>
                    <a:pt x="42577" y="21288"/>
                  </a:lnTo>
                  <a:lnTo>
                    <a:pt x="42577" y="15643"/>
                  </a:lnTo>
                  <a:lnTo>
                    <a:pt x="40334" y="10227"/>
                  </a:lnTo>
                  <a:lnTo>
                    <a:pt x="32350" y="2243"/>
                  </a:lnTo>
                  <a:lnTo>
                    <a:pt x="2693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69693" y="2548164"/>
              <a:ext cx="43180" cy="21590"/>
            </a:xfrm>
            <a:custGeom>
              <a:avLst/>
              <a:gdLst/>
              <a:ahLst/>
              <a:cxnLst/>
              <a:rect l="l" t="t" r="r" b="b"/>
              <a:pathLst>
                <a:path w="43180" h="21589">
                  <a:moveTo>
                    <a:pt x="42577" y="21288"/>
                  </a:moveTo>
                  <a:lnTo>
                    <a:pt x="42577" y="15643"/>
                  </a:lnTo>
                  <a:lnTo>
                    <a:pt x="40334" y="10227"/>
                  </a:lnTo>
                  <a:lnTo>
                    <a:pt x="36342" y="6235"/>
                  </a:lnTo>
                  <a:lnTo>
                    <a:pt x="32350" y="2243"/>
                  </a:lnTo>
                  <a:lnTo>
                    <a:pt x="26934" y="0"/>
                  </a:lnTo>
                  <a:lnTo>
                    <a:pt x="21288" y="0"/>
                  </a:lnTo>
                  <a:lnTo>
                    <a:pt x="15643" y="0"/>
                  </a:lnTo>
                  <a:lnTo>
                    <a:pt x="10227" y="2243"/>
                  </a:lnTo>
                  <a:lnTo>
                    <a:pt x="6235" y="6235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27890" y="2548164"/>
              <a:ext cx="43180" cy="21590"/>
            </a:xfrm>
            <a:custGeom>
              <a:avLst/>
              <a:gdLst/>
              <a:ahLst/>
              <a:cxnLst/>
              <a:rect l="l" t="t" r="r" b="b"/>
              <a:pathLst>
                <a:path w="43179" h="21589">
                  <a:moveTo>
                    <a:pt x="26934" y="0"/>
                  </a:moveTo>
                  <a:lnTo>
                    <a:pt x="15643" y="0"/>
                  </a:lnTo>
                  <a:lnTo>
                    <a:pt x="10227" y="2243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  <a:lnTo>
                    <a:pt x="42577" y="21288"/>
                  </a:lnTo>
                  <a:lnTo>
                    <a:pt x="42577" y="15643"/>
                  </a:lnTo>
                  <a:lnTo>
                    <a:pt x="40334" y="10227"/>
                  </a:lnTo>
                  <a:lnTo>
                    <a:pt x="32350" y="2243"/>
                  </a:lnTo>
                  <a:lnTo>
                    <a:pt x="2693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27890" y="2548164"/>
              <a:ext cx="43180" cy="21590"/>
            </a:xfrm>
            <a:custGeom>
              <a:avLst/>
              <a:gdLst/>
              <a:ahLst/>
              <a:cxnLst/>
              <a:rect l="l" t="t" r="r" b="b"/>
              <a:pathLst>
                <a:path w="43179" h="21589">
                  <a:moveTo>
                    <a:pt x="42577" y="21288"/>
                  </a:moveTo>
                  <a:lnTo>
                    <a:pt x="42577" y="15643"/>
                  </a:lnTo>
                  <a:lnTo>
                    <a:pt x="40334" y="10227"/>
                  </a:lnTo>
                  <a:lnTo>
                    <a:pt x="36342" y="6235"/>
                  </a:lnTo>
                  <a:lnTo>
                    <a:pt x="32350" y="2243"/>
                  </a:lnTo>
                  <a:lnTo>
                    <a:pt x="26934" y="0"/>
                  </a:lnTo>
                  <a:lnTo>
                    <a:pt x="21288" y="0"/>
                  </a:lnTo>
                  <a:lnTo>
                    <a:pt x="15643" y="0"/>
                  </a:lnTo>
                  <a:lnTo>
                    <a:pt x="10227" y="2243"/>
                  </a:lnTo>
                  <a:lnTo>
                    <a:pt x="6235" y="6235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82445" y="2548164"/>
              <a:ext cx="31750" cy="21590"/>
            </a:xfrm>
            <a:custGeom>
              <a:avLst/>
              <a:gdLst/>
              <a:ahLst/>
              <a:cxnLst/>
              <a:rect l="l" t="t" r="r" b="b"/>
              <a:pathLst>
                <a:path w="31750" h="21589">
                  <a:moveTo>
                    <a:pt x="26934" y="0"/>
                  </a:moveTo>
                  <a:lnTo>
                    <a:pt x="15643" y="0"/>
                  </a:lnTo>
                  <a:lnTo>
                    <a:pt x="10227" y="2243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  <a:lnTo>
                    <a:pt x="31471" y="21288"/>
                  </a:lnTo>
                  <a:lnTo>
                    <a:pt x="31471" y="1879"/>
                  </a:lnTo>
                  <a:lnTo>
                    <a:pt x="2693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82445" y="2548164"/>
              <a:ext cx="31750" cy="21590"/>
            </a:xfrm>
            <a:custGeom>
              <a:avLst/>
              <a:gdLst/>
              <a:ahLst/>
              <a:cxnLst/>
              <a:rect l="l" t="t" r="r" b="b"/>
              <a:pathLst>
                <a:path w="31750" h="21589">
                  <a:moveTo>
                    <a:pt x="31471" y="1879"/>
                  </a:moveTo>
                  <a:lnTo>
                    <a:pt x="26934" y="0"/>
                  </a:lnTo>
                  <a:lnTo>
                    <a:pt x="21288" y="0"/>
                  </a:lnTo>
                  <a:lnTo>
                    <a:pt x="15643" y="0"/>
                  </a:lnTo>
                  <a:lnTo>
                    <a:pt x="10227" y="2243"/>
                  </a:lnTo>
                  <a:lnTo>
                    <a:pt x="6235" y="6235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91168" y="546157"/>
              <a:ext cx="1823085" cy="1533525"/>
            </a:xfrm>
            <a:custGeom>
              <a:avLst/>
              <a:gdLst/>
              <a:ahLst/>
              <a:cxnLst/>
              <a:rect l="l" t="t" r="r" b="b"/>
              <a:pathLst>
                <a:path w="1823085" h="1533525">
                  <a:moveTo>
                    <a:pt x="0" y="0"/>
                  </a:moveTo>
                  <a:lnTo>
                    <a:pt x="5276" y="59908"/>
                  </a:lnTo>
                  <a:lnTo>
                    <a:pt x="17303" y="183045"/>
                  </a:lnTo>
                  <a:lnTo>
                    <a:pt x="26925" y="269303"/>
                  </a:lnTo>
                  <a:lnTo>
                    <a:pt x="41357" y="383968"/>
                  </a:lnTo>
                  <a:lnTo>
                    <a:pt x="55789" y="486359"/>
                  </a:lnTo>
                  <a:lnTo>
                    <a:pt x="70222" y="578281"/>
                  </a:lnTo>
                  <a:lnTo>
                    <a:pt x="84654" y="661203"/>
                  </a:lnTo>
                  <a:lnTo>
                    <a:pt x="99087" y="736333"/>
                  </a:lnTo>
                  <a:lnTo>
                    <a:pt x="113519" y="804670"/>
                  </a:lnTo>
                  <a:lnTo>
                    <a:pt x="127951" y="867050"/>
                  </a:lnTo>
                  <a:lnTo>
                    <a:pt x="142384" y="924178"/>
                  </a:lnTo>
                  <a:lnTo>
                    <a:pt x="159221" y="984980"/>
                  </a:lnTo>
                  <a:lnTo>
                    <a:pt x="176059" y="1040243"/>
                  </a:lnTo>
                  <a:lnTo>
                    <a:pt x="192897" y="1090639"/>
                  </a:lnTo>
                  <a:lnTo>
                    <a:pt x="209735" y="1136734"/>
                  </a:lnTo>
                  <a:lnTo>
                    <a:pt x="226573" y="1179010"/>
                  </a:lnTo>
                  <a:lnTo>
                    <a:pt x="243410" y="1217881"/>
                  </a:lnTo>
                  <a:lnTo>
                    <a:pt x="260248" y="1253702"/>
                  </a:lnTo>
                  <a:lnTo>
                    <a:pt x="279491" y="1291298"/>
                  </a:lnTo>
                  <a:lnTo>
                    <a:pt x="308356" y="1335403"/>
                  </a:lnTo>
                  <a:lnTo>
                    <a:pt x="346842" y="1383352"/>
                  </a:lnTo>
                  <a:lnTo>
                    <a:pt x="385329" y="1423114"/>
                  </a:lnTo>
                  <a:lnTo>
                    <a:pt x="428626" y="1459866"/>
                  </a:lnTo>
                  <a:lnTo>
                    <a:pt x="471923" y="1489685"/>
                  </a:lnTo>
                  <a:lnTo>
                    <a:pt x="510409" y="1507061"/>
                  </a:lnTo>
                  <a:lnTo>
                    <a:pt x="560923" y="1520144"/>
                  </a:lnTo>
                  <a:lnTo>
                    <a:pt x="616247" y="1528910"/>
                  </a:lnTo>
                  <a:lnTo>
                    <a:pt x="678787" y="1533125"/>
                  </a:lnTo>
                  <a:lnTo>
                    <a:pt x="712463" y="1533296"/>
                  </a:lnTo>
                  <a:lnTo>
                    <a:pt x="748544" y="1532070"/>
                  </a:lnTo>
                  <a:lnTo>
                    <a:pt x="787030" y="1529330"/>
                  </a:lnTo>
                  <a:lnTo>
                    <a:pt x="827922" y="1524974"/>
                  </a:lnTo>
                  <a:lnTo>
                    <a:pt x="871219" y="1518922"/>
                  </a:lnTo>
                  <a:lnTo>
                    <a:pt x="916922" y="1511111"/>
                  </a:lnTo>
                  <a:lnTo>
                    <a:pt x="965030" y="1501491"/>
                  </a:lnTo>
                  <a:lnTo>
                    <a:pt x="1061245" y="1471291"/>
                  </a:lnTo>
                  <a:lnTo>
                    <a:pt x="1102137" y="1455494"/>
                  </a:lnTo>
                  <a:lnTo>
                    <a:pt x="1183921" y="1414198"/>
                  </a:lnTo>
                  <a:lnTo>
                    <a:pt x="1275326" y="1366483"/>
                  </a:lnTo>
                  <a:lnTo>
                    <a:pt x="1376353" y="1312157"/>
                  </a:lnTo>
                  <a:lnTo>
                    <a:pt x="1487001" y="1251083"/>
                  </a:lnTo>
                  <a:lnTo>
                    <a:pt x="1561568" y="1208856"/>
                  </a:lnTo>
                  <a:lnTo>
                    <a:pt x="1746784" y="1088193"/>
                  </a:lnTo>
                  <a:lnTo>
                    <a:pt x="1821351" y="1038595"/>
                  </a:lnTo>
                  <a:lnTo>
                    <a:pt x="1822747" y="1037578"/>
                  </a:lnTo>
                </a:path>
              </a:pathLst>
            </a:custGeom>
            <a:ln w="106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91604" y="546157"/>
              <a:ext cx="0" cy="2023745"/>
            </a:xfrm>
            <a:custGeom>
              <a:avLst/>
              <a:gdLst/>
              <a:ahLst/>
              <a:cxnLst/>
              <a:rect l="l" t="t" r="r" b="b"/>
              <a:pathLst>
                <a:path h="2023745">
                  <a:moveTo>
                    <a:pt x="0" y="2023295"/>
                  </a:moveTo>
                  <a:lnTo>
                    <a:pt x="0" y="0"/>
                  </a:lnTo>
                </a:path>
              </a:pathLst>
            </a:custGeom>
            <a:ln w="106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45977" y="623139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>
                  <a:moveTo>
                    <a:pt x="0" y="0"/>
                  </a:moveTo>
                  <a:lnTo>
                    <a:pt x="121650" y="0"/>
                  </a:lnTo>
                </a:path>
              </a:pathLst>
            </a:custGeom>
            <a:ln w="106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45977" y="709150"/>
              <a:ext cx="121920" cy="0"/>
            </a:xfrm>
            <a:custGeom>
              <a:avLst/>
              <a:gdLst/>
              <a:ahLst/>
              <a:cxnLst/>
              <a:rect l="l" t="t" r="r" b="b"/>
              <a:pathLst>
                <a:path w="121920">
                  <a:moveTo>
                    <a:pt x="0" y="0"/>
                  </a:moveTo>
                  <a:lnTo>
                    <a:pt x="121650" y="0"/>
                  </a:lnTo>
                </a:path>
              </a:pathLst>
            </a:custGeom>
            <a:ln w="106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049944" y="2579545"/>
            <a:ext cx="14173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6700" algn="l"/>
                <a:tab pos="521334" algn="l"/>
                <a:tab pos="775970" algn="l"/>
                <a:tab pos="1030605" algn="l"/>
                <a:tab pos="1285240" algn="l"/>
              </a:tabLst>
            </a:pPr>
            <a:r>
              <a:rPr sz="500" spc="-20" dirty="0">
                <a:solidFill>
                  <a:srgbClr val="262626"/>
                </a:solidFill>
                <a:latin typeface="Arial MT"/>
                <a:cs typeface="Arial MT"/>
              </a:rPr>
              <a:t>0.25</a:t>
            </a:r>
            <a:r>
              <a:rPr sz="5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500" spc="-20" dirty="0">
                <a:solidFill>
                  <a:srgbClr val="262626"/>
                </a:solidFill>
                <a:latin typeface="Arial MT"/>
                <a:cs typeface="Arial MT"/>
              </a:rPr>
              <a:t>0.50</a:t>
            </a:r>
            <a:r>
              <a:rPr sz="5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500" spc="-20" dirty="0">
                <a:solidFill>
                  <a:srgbClr val="262626"/>
                </a:solidFill>
                <a:latin typeface="Arial MT"/>
                <a:cs typeface="Arial MT"/>
              </a:rPr>
              <a:t>0.75</a:t>
            </a:r>
            <a:r>
              <a:rPr sz="5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500" spc="-9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0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.00</a:t>
            </a:r>
            <a:r>
              <a:rPr sz="5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500" spc="-9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0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.25</a:t>
            </a:r>
            <a:r>
              <a:rPr sz="5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500" spc="-9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0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.50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77269" y="2579545"/>
            <a:ext cx="3987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6700" algn="l"/>
              </a:tabLst>
            </a:pPr>
            <a:r>
              <a:rPr sz="500" spc="-9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0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.75</a:t>
            </a:r>
            <a:r>
              <a:rPr sz="5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500" spc="-20" dirty="0">
                <a:solidFill>
                  <a:srgbClr val="262626"/>
                </a:solidFill>
                <a:latin typeface="Arial MT"/>
                <a:cs typeface="Arial MT"/>
              </a:rPr>
              <a:t>2.00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873631" y="2683517"/>
            <a:ext cx="40640" cy="57150"/>
          </a:xfrm>
          <a:custGeom>
            <a:avLst/>
            <a:gdLst/>
            <a:ahLst/>
            <a:cxnLst/>
            <a:rect l="l" t="t" r="r" b="b"/>
            <a:pathLst>
              <a:path w="40639" h="57150">
                <a:moveTo>
                  <a:pt x="31312" y="0"/>
                </a:moveTo>
                <a:lnTo>
                  <a:pt x="19853" y="0"/>
                </a:lnTo>
                <a:lnTo>
                  <a:pt x="14890" y="2554"/>
                </a:lnTo>
                <a:lnTo>
                  <a:pt x="6423" y="12627"/>
                </a:lnTo>
                <a:lnTo>
                  <a:pt x="3503" y="19561"/>
                </a:lnTo>
                <a:lnTo>
                  <a:pt x="0" y="37371"/>
                </a:lnTo>
                <a:lnTo>
                  <a:pt x="221" y="42626"/>
                </a:lnTo>
                <a:lnTo>
                  <a:pt x="291" y="44305"/>
                </a:lnTo>
                <a:lnTo>
                  <a:pt x="2554" y="49268"/>
                </a:lnTo>
                <a:lnTo>
                  <a:pt x="4817" y="54304"/>
                </a:lnTo>
                <a:lnTo>
                  <a:pt x="8831" y="56786"/>
                </a:lnTo>
                <a:lnTo>
                  <a:pt x="20218" y="56786"/>
                </a:lnTo>
                <a:lnTo>
                  <a:pt x="25254" y="54304"/>
                </a:lnTo>
                <a:lnTo>
                  <a:pt x="27647" y="51458"/>
                </a:lnTo>
                <a:lnTo>
                  <a:pt x="12043" y="51458"/>
                </a:lnTo>
                <a:lnTo>
                  <a:pt x="9634" y="49633"/>
                </a:lnTo>
                <a:lnTo>
                  <a:pt x="8320" y="45910"/>
                </a:lnTo>
                <a:lnTo>
                  <a:pt x="7299" y="42918"/>
                </a:lnTo>
                <a:lnTo>
                  <a:pt x="7372" y="37371"/>
                </a:lnTo>
                <a:lnTo>
                  <a:pt x="8320" y="30728"/>
                </a:lnTo>
                <a:lnTo>
                  <a:pt x="37947" y="30728"/>
                </a:lnTo>
                <a:lnTo>
                  <a:pt x="39139" y="24670"/>
                </a:lnTo>
                <a:lnTo>
                  <a:pt x="9561" y="24670"/>
                </a:lnTo>
                <a:lnTo>
                  <a:pt x="11167" y="18539"/>
                </a:lnTo>
                <a:lnTo>
                  <a:pt x="12992" y="13941"/>
                </a:lnTo>
                <a:lnTo>
                  <a:pt x="15057" y="11021"/>
                </a:lnTo>
                <a:lnTo>
                  <a:pt x="17736" y="7299"/>
                </a:lnTo>
                <a:lnTo>
                  <a:pt x="20948" y="5401"/>
                </a:lnTo>
                <a:lnTo>
                  <a:pt x="36574" y="5401"/>
                </a:lnTo>
                <a:lnTo>
                  <a:pt x="35254" y="2554"/>
                </a:lnTo>
                <a:lnTo>
                  <a:pt x="31312" y="0"/>
                </a:lnTo>
                <a:close/>
              </a:path>
              <a:path w="40639" h="57150">
                <a:moveTo>
                  <a:pt x="37947" y="30728"/>
                </a:moveTo>
                <a:lnTo>
                  <a:pt x="30947" y="30728"/>
                </a:lnTo>
                <a:lnTo>
                  <a:pt x="29393" y="37371"/>
                </a:lnTo>
                <a:lnTo>
                  <a:pt x="29342" y="37590"/>
                </a:lnTo>
                <a:lnTo>
                  <a:pt x="27371" y="42626"/>
                </a:lnTo>
                <a:lnTo>
                  <a:pt x="25035" y="45910"/>
                </a:lnTo>
                <a:lnTo>
                  <a:pt x="22262" y="49633"/>
                </a:lnTo>
                <a:lnTo>
                  <a:pt x="19123" y="51458"/>
                </a:lnTo>
                <a:lnTo>
                  <a:pt x="27647" y="51458"/>
                </a:lnTo>
                <a:lnTo>
                  <a:pt x="29488" y="49268"/>
                </a:lnTo>
                <a:lnTo>
                  <a:pt x="33721" y="44305"/>
                </a:lnTo>
                <a:lnTo>
                  <a:pt x="36426" y="37882"/>
                </a:lnTo>
                <a:lnTo>
                  <a:pt x="36549" y="37590"/>
                </a:lnTo>
                <a:lnTo>
                  <a:pt x="36641" y="37371"/>
                </a:lnTo>
                <a:lnTo>
                  <a:pt x="37947" y="30728"/>
                </a:lnTo>
                <a:close/>
              </a:path>
              <a:path w="40639" h="57150">
                <a:moveTo>
                  <a:pt x="36574" y="5401"/>
                </a:moveTo>
                <a:lnTo>
                  <a:pt x="28028" y="5401"/>
                </a:lnTo>
                <a:lnTo>
                  <a:pt x="30437" y="7299"/>
                </a:lnTo>
                <a:lnTo>
                  <a:pt x="31750" y="11021"/>
                </a:lnTo>
                <a:lnTo>
                  <a:pt x="32553" y="13430"/>
                </a:lnTo>
                <a:lnTo>
                  <a:pt x="32487" y="19561"/>
                </a:lnTo>
                <a:lnTo>
                  <a:pt x="32042" y="24670"/>
                </a:lnTo>
                <a:lnTo>
                  <a:pt x="39139" y="24670"/>
                </a:lnTo>
                <a:lnTo>
                  <a:pt x="40144" y="19561"/>
                </a:lnTo>
                <a:lnTo>
                  <a:pt x="39908" y="13941"/>
                </a:lnTo>
                <a:lnTo>
                  <a:pt x="39852" y="12627"/>
                </a:lnTo>
                <a:lnTo>
                  <a:pt x="37590" y="7591"/>
                </a:lnTo>
                <a:lnTo>
                  <a:pt x="36574" y="5401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737619" y="997732"/>
            <a:ext cx="110489" cy="161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3.0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2.5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2.0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500" spc="-9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0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35" dirty="0">
                <a:solidFill>
                  <a:srgbClr val="262626"/>
                </a:solidFill>
                <a:latin typeface="Arial MT"/>
                <a:cs typeface="Arial MT"/>
              </a:rPr>
              <a:t>.5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00" spc="-9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0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endParaRPr sz="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37619" y="744820"/>
            <a:ext cx="11048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3.5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37619" y="491908"/>
            <a:ext cx="11048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4.0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38596" y="1476638"/>
            <a:ext cx="90805" cy="1225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645"/>
              </a:lnSpc>
            </a:pPr>
            <a:r>
              <a:rPr sz="550" dirty="0">
                <a:solidFill>
                  <a:srgbClr val="262626"/>
                </a:solidFill>
                <a:latin typeface="Arial MT"/>
                <a:cs typeface="Arial MT"/>
              </a:rPr>
              <a:t>(</a:t>
            </a:r>
            <a:r>
              <a:rPr sz="550" spc="22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)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650631" y="1515414"/>
            <a:ext cx="57150" cy="119380"/>
          </a:xfrm>
          <a:custGeom>
            <a:avLst/>
            <a:gdLst/>
            <a:ahLst/>
            <a:cxnLst/>
            <a:rect l="l" t="t" r="r" b="b"/>
            <a:pathLst>
              <a:path w="57150" h="119380">
                <a:moveTo>
                  <a:pt x="56489" y="86868"/>
                </a:moveTo>
                <a:lnTo>
                  <a:pt x="53352" y="80162"/>
                </a:lnTo>
                <a:lnTo>
                  <a:pt x="46939" y="73812"/>
                </a:lnTo>
                <a:lnTo>
                  <a:pt x="45618" y="75044"/>
                </a:lnTo>
                <a:lnTo>
                  <a:pt x="49707" y="79349"/>
                </a:lnTo>
                <a:lnTo>
                  <a:pt x="51676" y="83591"/>
                </a:lnTo>
                <a:lnTo>
                  <a:pt x="51676" y="89712"/>
                </a:lnTo>
                <a:lnTo>
                  <a:pt x="51092" y="91694"/>
                </a:lnTo>
                <a:lnTo>
                  <a:pt x="49847" y="93446"/>
                </a:lnTo>
                <a:lnTo>
                  <a:pt x="48691" y="95199"/>
                </a:lnTo>
                <a:lnTo>
                  <a:pt x="48031" y="97383"/>
                </a:lnTo>
                <a:lnTo>
                  <a:pt x="48031" y="103949"/>
                </a:lnTo>
                <a:lnTo>
                  <a:pt x="48615" y="106730"/>
                </a:lnTo>
                <a:lnTo>
                  <a:pt x="49631" y="108254"/>
                </a:lnTo>
                <a:lnTo>
                  <a:pt x="49339" y="108254"/>
                </a:lnTo>
                <a:lnTo>
                  <a:pt x="26644" y="100380"/>
                </a:lnTo>
                <a:lnTo>
                  <a:pt x="23431" y="99644"/>
                </a:lnTo>
                <a:lnTo>
                  <a:pt x="20370" y="98767"/>
                </a:lnTo>
                <a:lnTo>
                  <a:pt x="17297" y="97967"/>
                </a:lnTo>
                <a:lnTo>
                  <a:pt x="14820" y="96723"/>
                </a:lnTo>
                <a:lnTo>
                  <a:pt x="11023" y="93510"/>
                </a:lnTo>
                <a:lnTo>
                  <a:pt x="10071" y="91465"/>
                </a:lnTo>
                <a:lnTo>
                  <a:pt x="10071" y="86144"/>
                </a:lnTo>
                <a:lnTo>
                  <a:pt x="11023" y="84683"/>
                </a:lnTo>
                <a:lnTo>
                  <a:pt x="13208" y="84683"/>
                </a:lnTo>
                <a:lnTo>
                  <a:pt x="13500" y="84899"/>
                </a:lnTo>
                <a:lnTo>
                  <a:pt x="13792" y="85267"/>
                </a:lnTo>
                <a:lnTo>
                  <a:pt x="14084" y="85699"/>
                </a:lnTo>
                <a:lnTo>
                  <a:pt x="14376" y="86067"/>
                </a:lnTo>
                <a:lnTo>
                  <a:pt x="14668" y="86944"/>
                </a:lnTo>
                <a:lnTo>
                  <a:pt x="15036" y="87388"/>
                </a:lnTo>
                <a:lnTo>
                  <a:pt x="15544" y="87744"/>
                </a:lnTo>
                <a:lnTo>
                  <a:pt x="16129" y="88188"/>
                </a:lnTo>
                <a:lnTo>
                  <a:pt x="16789" y="88328"/>
                </a:lnTo>
                <a:lnTo>
                  <a:pt x="18542" y="88328"/>
                </a:lnTo>
                <a:lnTo>
                  <a:pt x="19418" y="88036"/>
                </a:lnTo>
                <a:lnTo>
                  <a:pt x="20142" y="87312"/>
                </a:lnTo>
                <a:lnTo>
                  <a:pt x="20878" y="86652"/>
                </a:lnTo>
                <a:lnTo>
                  <a:pt x="21247" y="85775"/>
                </a:lnTo>
                <a:lnTo>
                  <a:pt x="21247" y="83070"/>
                </a:lnTo>
                <a:lnTo>
                  <a:pt x="20726" y="81686"/>
                </a:lnTo>
                <a:lnTo>
                  <a:pt x="19558" y="80518"/>
                </a:lnTo>
                <a:lnTo>
                  <a:pt x="18465" y="79349"/>
                </a:lnTo>
                <a:lnTo>
                  <a:pt x="17005" y="78765"/>
                </a:lnTo>
                <a:lnTo>
                  <a:pt x="12992" y="78765"/>
                </a:lnTo>
                <a:lnTo>
                  <a:pt x="11099" y="79349"/>
                </a:lnTo>
                <a:lnTo>
                  <a:pt x="9486" y="80518"/>
                </a:lnTo>
                <a:lnTo>
                  <a:pt x="7962" y="81686"/>
                </a:lnTo>
                <a:lnTo>
                  <a:pt x="7150" y="83439"/>
                </a:lnTo>
                <a:lnTo>
                  <a:pt x="7150" y="87820"/>
                </a:lnTo>
                <a:lnTo>
                  <a:pt x="7594" y="89865"/>
                </a:lnTo>
                <a:lnTo>
                  <a:pt x="8318" y="91986"/>
                </a:lnTo>
                <a:lnTo>
                  <a:pt x="9055" y="94170"/>
                </a:lnTo>
                <a:lnTo>
                  <a:pt x="26784" y="108038"/>
                </a:lnTo>
                <a:lnTo>
                  <a:pt x="47523" y="113144"/>
                </a:lnTo>
                <a:lnTo>
                  <a:pt x="52044" y="114312"/>
                </a:lnTo>
                <a:lnTo>
                  <a:pt x="54305" y="116217"/>
                </a:lnTo>
                <a:lnTo>
                  <a:pt x="54305" y="118846"/>
                </a:lnTo>
                <a:lnTo>
                  <a:pt x="56057" y="119278"/>
                </a:lnTo>
                <a:lnTo>
                  <a:pt x="56057" y="118186"/>
                </a:lnTo>
                <a:lnTo>
                  <a:pt x="55841" y="116357"/>
                </a:lnTo>
                <a:lnTo>
                  <a:pt x="55397" y="113804"/>
                </a:lnTo>
                <a:lnTo>
                  <a:pt x="54965" y="111328"/>
                </a:lnTo>
                <a:lnTo>
                  <a:pt x="54673" y="109499"/>
                </a:lnTo>
                <a:lnTo>
                  <a:pt x="54673" y="106502"/>
                </a:lnTo>
                <a:lnTo>
                  <a:pt x="55041" y="103873"/>
                </a:lnTo>
                <a:lnTo>
                  <a:pt x="55765" y="100380"/>
                </a:lnTo>
                <a:lnTo>
                  <a:pt x="56210" y="98044"/>
                </a:lnTo>
                <a:lnTo>
                  <a:pt x="56489" y="95923"/>
                </a:lnTo>
                <a:lnTo>
                  <a:pt x="56489" y="86868"/>
                </a:lnTo>
                <a:close/>
              </a:path>
              <a:path w="57150" h="119380">
                <a:moveTo>
                  <a:pt x="56781" y="19926"/>
                </a:moveTo>
                <a:lnTo>
                  <a:pt x="54305" y="14897"/>
                </a:lnTo>
                <a:lnTo>
                  <a:pt x="51460" y="12496"/>
                </a:lnTo>
                <a:lnTo>
                  <a:pt x="51460" y="21031"/>
                </a:lnTo>
                <a:lnTo>
                  <a:pt x="51460" y="28105"/>
                </a:lnTo>
                <a:lnTo>
                  <a:pt x="49631" y="30518"/>
                </a:lnTo>
                <a:lnTo>
                  <a:pt x="45910" y="31826"/>
                </a:lnTo>
                <a:lnTo>
                  <a:pt x="42913" y="32854"/>
                </a:lnTo>
                <a:lnTo>
                  <a:pt x="37376" y="32778"/>
                </a:lnTo>
                <a:lnTo>
                  <a:pt x="30734" y="31826"/>
                </a:lnTo>
                <a:lnTo>
                  <a:pt x="30734" y="9194"/>
                </a:lnTo>
                <a:lnTo>
                  <a:pt x="51460" y="21031"/>
                </a:lnTo>
                <a:lnTo>
                  <a:pt x="51460" y="12496"/>
                </a:lnTo>
                <a:lnTo>
                  <a:pt x="49276" y="10655"/>
                </a:lnTo>
                <a:lnTo>
                  <a:pt x="44310" y="6426"/>
                </a:lnTo>
                <a:lnTo>
                  <a:pt x="37884" y="3721"/>
                </a:lnTo>
                <a:lnTo>
                  <a:pt x="37592" y="3594"/>
                </a:lnTo>
                <a:lnTo>
                  <a:pt x="37376" y="3505"/>
                </a:lnTo>
                <a:lnTo>
                  <a:pt x="30734" y="2197"/>
                </a:lnTo>
                <a:lnTo>
                  <a:pt x="24676" y="1003"/>
                </a:lnTo>
                <a:lnTo>
                  <a:pt x="24676" y="8102"/>
                </a:lnTo>
                <a:lnTo>
                  <a:pt x="24676" y="30581"/>
                </a:lnTo>
                <a:lnTo>
                  <a:pt x="18542" y="28981"/>
                </a:lnTo>
                <a:lnTo>
                  <a:pt x="13944" y="27152"/>
                </a:lnTo>
                <a:lnTo>
                  <a:pt x="11023" y="25095"/>
                </a:lnTo>
                <a:lnTo>
                  <a:pt x="7302" y="22415"/>
                </a:lnTo>
                <a:lnTo>
                  <a:pt x="5397" y="19202"/>
                </a:lnTo>
                <a:lnTo>
                  <a:pt x="5397" y="12115"/>
                </a:lnTo>
                <a:lnTo>
                  <a:pt x="7302" y="9715"/>
                </a:lnTo>
                <a:lnTo>
                  <a:pt x="11023" y="8394"/>
                </a:lnTo>
                <a:lnTo>
                  <a:pt x="13436" y="7594"/>
                </a:lnTo>
                <a:lnTo>
                  <a:pt x="19558" y="7658"/>
                </a:lnTo>
                <a:lnTo>
                  <a:pt x="24676" y="8102"/>
                </a:lnTo>
                <a:lnTo>
                  <a:pt x="24676" y="1003"/>
                </a:lnTo>
                <a:lnTo>
                  <a:pt x="19558" y="0"/>
                </a:lnTo>
                <a:lnTo>
                  <a:pt x="13944" y="241"/>
                </a:lnTo>
                <a:lnTo>
                  <a:pt x="12623" y="292"/>
                </a:lnTo>
                <a:lnTo>
                  <a:pt x="7594" y="2552"/>
                </a:lnTo>
                <a:lnTo>
                  <a:pt x="5397" y="3568"/>
                </a:lnTo>
                <a:lnTo>
                  <a:pt x="2552" y="4889"/>
                </a:lnTo>
                <a:lnTo>
                  <a:pt x="0" y="8839"/>
                </a:lnTo>
                <a:lnTo>
                  <a:pt x="0" y="20294"/>
                </a:lnTo>
                <a:lnTo>
                  <a:pt x="2552" y="25260"/>
                </a:lnTo>
                <a:lnTo>
                  <a:pt x="12623" y="33731"/>
                </a:lnTo>
                <a:lnTo>
                  <a:pt x="19558" y="36639"/>
                </a:lnTo>
                <a:lnTo>
                  <a:pt x="37376" y="40144"/>
                </a:lnTo>
                <a:lnTo>
                  <a:pt x="42633" y="39928"/>
                </a:lnTo>
                <a:lnTo>
                  <a:pt x="44310" y="39852"/>
                </a:lnTo>
                <a:lnTo>
                  <a:pt x="49276" y="37592"/>
                </a:lnTo>
                <a:lnTo>
                  <a:pt x="54305" y="35331"/>
                </a:lnTo>
                <a:lnTo>
                  <a:pt x="56781" y="31318"/>
                </a:lnTo>
                <a:lnTo>
                  <a:pt x="56781" y="19926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403588" y="558380"/>
            <a:ext cx="468630" cy="19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900"/>
              </a:lnSpc>
              <a:spcBef>
                <a:spcPts val="100"/>
              </a:spcBef>
            </a:pPr>
            <a:r>
              <a:rPr sz="500" spc="-20" dirty="0">
                <a:solidFill>
                  <a:srgbClr val="262626"/>
                </a:solidFill>
                <a:latin typeface="Arial MT"/>
                <a:cs typeface="Arial MT"/>
              </a:rPr>
              <a:t>fractional</a:t>
            </a:r>
            <a:r>
              <a:rPr sz="500" spc="6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262626"/>
                </a:solidFill>
                <a:latin typeface="Arial MT"/>
                <a:cs typeface="Arial MT"/>
              </a:rPr>
              <a:t>loss</a:t>
            </a:r>
            <a:r>
              <a:rPr sz="500" spc="5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20" dirty="0">
                <a:solidFill>
                  <a:srgbClr val="262626"/>
                </a:solidFill>
                <a:latin typeface="Arial MT"/>
                <a:cs typeface="Arial MT"/>
              </a:rPr>
              <a:t>fractional</a:t>
            </a:r>
            <a:r>
              <a:rPr sz="500" spc="6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10" dirty="0">
                <a:solidFill>
                  <a:srgbClr val="262626"/>
                </a:solidFill>
                <a:latin typeface="Arial MT"/>
                <a:cs typeface="Arial MT"/>
              </a:rPr>
              <a:t>middle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284601" y="779042"/>
            <a:ext cx="44450" cy="44450"/>
            <a:chOff x="3284601" y="779042"/>
            <a:chExt cx="44450" cy="44450"/>
          </a:xfrm>
        </p:grpSpPr>
        <p:sp>
          <p:nvSpPr>
            <p:cNvPr id="34" name="object 34"/>
            <p:cNvSpPr/>
            <p:nvPr/>
          </p:nvSpPr>
          <p:spPr>
            <a:xfrm>
              <a:off x="3285513" y="779955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6934" y="0"/>
                  </a:moveTo>
                  <a:lnTo>
                    <a:pt x="15643" y="0"/>
                  </a:lnTo>
                  <a:lnTo>
                    <a:pt x="10227" y="2243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6934"/>
                  </a:lnTo>
                  <a:lnTo>
                    <a:pt x="2243" y="32350"/>
                  </a:lnTo>
                  <a:lnTo>
                    <a:pt x="10227" y="40334"/>
                  </a:lnTo>
                  <a:lnTo>
                    <a:pt x="15643" y="42577"/>
                  </a:lnTo>
                  <a:lnTo>
                    <a:pt x="21288" y="42577"/>
                  </a:lnTo>
                  <a:lnTo>
                    <a:pt x="26934" y="42577"/>
                  </a:lnTo>
                  <a:lnTo>
                    <a:pt x="32350" y="40334"/>
                  </a:lnTo>
                  <a:lnTo>
                    <a:pt x="40334" y="32350"/>
                  </a:lnTo>
                  <a:lnTo>
                    <a:pt x="42577" y="26934"/>
                  </a:lnTo>
                  <a:lnTo>
                    <a:pt x="42577" y="15643"/>
                  </a:lnTo>
                  <a:lnTo>
                    <a:pt x="40334" y="10227"/>
                  </a:lnTo>
                  <a:lnTo>
                    <a:pt x="32350" y="2243"/>
                  </a:lnTo>
                  <a:lnTo>
                    <a:pt x="2693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85513" y="779955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1288" y="42577"/>
                  </a:moveTo>
                  <a:lnTo>
                    <a:pt x="26934" y="42577"/>
                  </a:lnTo>
                  <a:lnTo>
                    <a:pt x="32350" y="40334"/>
                  </a:lnTo>
                  <a:lnTo>
                    <a:pt x="36342" y="36342"/>
                  </a:lnTo>
                  <a:lnTo>
                    <a:pt x="40334" y="32350"/>
                  </a:lnTo>
                  <a:lnTo>
                    <a:pt x="42577" y="26934"/>
                  </a:lnTo>
                  <a:lnTo>
                    <a:pt x="42577" y="21288"/>
                  </a:lnTo>
                  <a:lnTo>
                    <a:pt x="42577" y="15643"/>
                  </a:lnTo>
                  <a:lnTo>
                    <a:pt x="40334" y="10227"/>
                  </a:lnTo>
                  <a:lnTo>
                    <a:pt x="36342" y="6235"/>
                  </a:lnTo>
                  <a:lnTo>
                    <a:pt x="32350" y="2243"/>
                  </a:lnTo>
                  <a:lnTo>
                    <a:pt x="26934" y="0"/>
                  </a:lnTo>
                  <a:lnTo>
                    <a:pt x="21288" y="0"/>
                  </a:lnTo>
                  <a:lnTo>
                    <a:pt x="15643" y="0"/>
                  </a:lnTo>
                  <a:lnTo>
                    <a:pt x="10227" y="2243"/>
                  </a:lnTo>
                  <a:lnTo>
                    <a:pt x="6235" y="6235"/>
                  </a:lnTo>
                  <a:lnTo>
                    <a:pt x="2243" y="10227"/>
                  </a:lnTo>
                  <a:lnTo>
                    <a:pt x="0" y="15643"/>
                  </a:lnTo>
                  <a:lnTo>
                    <a:pt x="0" y="21288"/>
                  </a:lnTo>
                  <a:lnTo>
                    <a:pt x="0" y="26934"/>
                  </a:lnTo>
                  <a:lnTo>
                    <a:pt x="2243" y="32350"/>
                  </a:lnTo>
                  <a:lnTo>
                    <a:pt x="6235" y="36342"/>
                  </a:lnTo>
                  <a:lnTo>
                    <a:pt x="10227" y="40334"/>
                  </a:lnTo>
                  <a:lnTo>
                    <a:pt x="15643" y="42577"/>
                  </a:lnTo>
                  <a:lnTo>
                    <a:pt x="21288" y="42577"/>
                  </a:lnTo>
                  <a:close/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403588" y="741197"/>
            <a:ext cx="946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y^i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207366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ERM with fractional loss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14C6A72-F6C5-8118-D07C-35CC9957EFD5}"/>
                  </a:ext>
                </a:extLst>
              </p:cNvPr>
              <p:cNvSpPr txBox="1"/>
              <p:nvPr/>
            </p:nvSpPr>
            <p:spPr>
              <a:xfrm>
                <a:off x="131305" y="357027"/>
                <a:ext cx="5634495" cy="28932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000" dirty="0"/>
                  <a:t>► with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    </m:t>
                    </m:r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000" i="0">
                        <a:latin typeface="Cambria Math" panose="02040503050406030204" pitchFamily="18" charset="0"/>
                      </a:rPr>
                      <m:t>≤⋯≤</m:t>
                    </m:r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000" dirty="0"/>
                  <a:t>   and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    </m:t>
                    </m:r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1000" i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1000" i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000" dirty="0"/>
                  <a:t>  we have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d>
                            <m:d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nary>
                      <m:r>
                        <a:rPr lang="en-US" sz="1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nary>
                      <m:r>
                        <a:rPr lang="en-US" sz="1000" i="0">
                          <a:latin typeface="Cambria Math" panose="02040503050406030204" pitchFamily="18" charset="0"/>
                        </a:rPr>
                        <m:t>=−1+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</m:e>
                      </m:nary>
                      <m:r>
                        <a:rPr lang="en-US" sz="1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1000" dirty="0"/>
              </a:p>
              <a:p>
                <a:pPr>
                  <a:buNone/>
                </a:pPr>
                <a:r>
                  <a:rPr lang="en-US" sz="1000" dirty="0"/>
                  <a:t>► so for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10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sz="1000" dirty="0"/>
              </a:p>
              <a:p>
                <a:pPr>
                  <a:buNone/>
                </a:pPr>
                <a:r>
                  <a:rPr lang="en-US" sz="1000" dirty="0"/>
                  <a:t>we have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0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000" i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grow m:val="on"/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0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sz="1000" i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1000" dirty="0"/>
              </a:p>
              <a:p>
                <a:pPr>
                  <a:buNone/>
                </a:pPr>
                <a:r>
                  <a:rPr lang="en-US" sz="1000" dirty="0"/>
                  <a:t>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000" dirty="0"/>
                  <a:t>is an increasing function of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00" dirty="0"/>
                  <a:t>(since it is convex)</a:t>
                </a:r>
              </a:p>
              <a:p>
                <a:pPr>
                  <a:buNone/>
                </a:pPr>
                <a:r>
                  <a:rPr lang="en-US" sz="1000" dirty="0"/>
                  <a:t>► first find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000" dirty="0"/>
                  <a:t>so that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0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≤0 </m:t>
                      </m:r>
                      <m:r>
                        <m:rPr>
                          <m:nor/>
                        </m:rPr>
                        <a:rPr lang="en-US" sz="1000" b="0" i="1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000" b="0" i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  <m:sup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1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0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000" b="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000" b="0" dirty="0"/>
              </a:p>
              <a:p>
                <a:pPr>
                  <a:buNone/>
                </a:pPr>
                <a:r>
                  <a:rPr lang="en-US" sz="1000" dirty="0"/>
                  <a:t>(using above expression evaluated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0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sz="1000" dirty="0"/>
                  <a:t>)</a:t>
                </a:r>
              </a:p>
              <a:p>
                <a:pPr>
                  <a:buNone/>
                </a:pPr>
                <a:r>
                  <a:rPr lang="en-US" sz="1000" dirty="0"/>
                  <a:t>► setting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000" dirty="0"/>
                  <a:t>to zero we get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grow m:val="on"/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000" i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chr m:val="∑"/>
                                      <m:grow m:val="on"/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000" i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000" i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r>
                                        <a:rPr lang="en-US" sz="10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nary>
                                  <m:r>
                                    <a:rPr lang="en-US" sz="1000" i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1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000" i="0"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14C6A72-F6C5-8118-D07C-35CC9957E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05" y="357027"/>
                <a:ext cx="5634495" cy="28932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4282248-B3FD-4857-F63C-C3E02BEB9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" y="0"/>
            <a:ext cx="5758625" cy="324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435100" y="860425"/>
            <a:ext cx="2895600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chemeClr val="tx1"/>
                </a:solidFill>
                <a:latin typeface="Arial"/>
                <a:cs typeface="Arial"/>
              </a:rPr>
              <a:t>Non-Quadratic Losses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803764" y="860425"/>
            <a:ext cx="4158271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dirty="0">
                <a:solidFill>
                  <a:schemeClr val="tx1"/>
                </a:solidFill>
                <a:latin typeface="Arial MT"/>
                <a:cs typeface="Arial MT"/>
              </a:rPr>
              <a:t>Penalty functions and error histograms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7"/>
            <a:ext cx="2409354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Loss and penalty functions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F36CC1-FDE2-1F25-3F60-D0BD14ACB777}"/>
                  </a:ext>
                </a:extLst>
              </p:cNvPr>
              <p:cNvSpPr txBox="1"/>
              <p:nvPr/>
            </p:nvSpPr>
            <p:spPr>
              <a:xfrm>
                <a:off x="131305" y="421439"/>
                <a:ext cx="5702300" cy="2686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900" dirty="0"/>
                  <a:t>► empirical risk (or average loss) is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9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9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9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900" i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900" b="0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sz="9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en-US" sz="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9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900" b="0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sz="9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sz="900" b="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900" b="0" i="1">
                          <a:latin typeface="Cambria Math" panose="02040503050406030204" pitchFamily="18" charset="0"/>
                        </a:rPr>
                        <m:t>with </m:t>
                      </m:r>
                      <m:sSup>
                        <m:sSupPr>
                          <m:ctrlPr>
                            <a:rPr lang="en-US" sz="9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9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m:rPr>
                              <m:nor/>
                            </m:rPr>
                            <a:rPr lang="en-US" sz="900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sz="9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9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9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900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9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9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900" b="0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sz="9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900" b="0" dirty="0"/>
              </a:p>
              <a:p>
                <a:pPr>
                  <a:buNone/>
                </a:pPr>
                <a:r>
                  <a:rPr lang="en-US" sz="900" dirty="0"/>
                  <a:t>► the loss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90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sepChr m:val=","/>
                        <m:ctrlPr>
                          <a:rPr lang="en-US" sz="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9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e>
                        <m:r>
                          <a:rPr lang="en-US" sz="9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900" dirty="0"/>
                  <a:t>penalizes deviation between the predicted value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9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900" dirty="0"/>
                  <a:t>and the observed value </a:t>
                </a:r>
                <a14:m>
                  <m:oMath xmlns:m="http://schemas.openxmlformats.org/officeDocument/2006/math">
                    <m:r>
                      <a:rPr lang="en-US" sz="9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900" dirty="0"/>
              </a:p>
              <a:p>
                <a:pPr>
                  <a:buNone/>
                </a:pPr>
                <a:r>
                  <a:rPr lang="en-US" sz="900" dirty="0"/>
                  <a:t>► common form for loss function: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900"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sepChr m:val=","/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9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9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9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9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9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900" dirty="0"/>
              </a:p>
              <a:p>
                <a:pPr>
                  <a:buNone/>
                </a:pPr>
                <a:r>
                  <a:rPr lang="en-US" sz="900" dirty="0"/>
                  <a:t>► </a:t>
                </a:r>
                <a14:m>
                  <m:oMath xmlns:m="http://schemas.openxmlformats.org/officeDocument/2006/math">
                    <m:r>
                      <a:rPr lang="en-US" sz="9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900" dirty="0"/>
                  <a:t>is the </a:t>
                </a:r>
                <a:r>
                  <a:rPr lang="en-US" sz="900" i="1" dirty="0"/>
                  <a:t>penalty function</a:t>
                </a:r>
                <a:endParaRPr lang="en-US" sz="900" dirty="0"/>
              </a:p>
              <a:p>
                <a:pPr>
                  <a:buNone/>
                </a:pPr>
                <a:r>
                  <a:rPr lang="en-US" sz="900" dirty="0"/>
                  <a:t>► </a:t>
                </a:r>
                <a:r>
                  <a:rPr lang="en-US" sz="900" i="1" dirty="0"/>
                  <a:t>e.g.</a:t>
                </a:r>
                <a:r>
                  <a:rPr lang="en-US" sz="900" dirty="0"/>
                  <a:t>, the square penalty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900" i="0">
                              <a:latin typeface="Cambria Math" panose="02040503050406030204" pitchFamily="18" charset="0"/>
                            </a:rPr>
                            <m:t>sq</m:t>
                          </m:r>
                        </m:sup>
                      </m:sSup>
                      <m:d>
                        <m:d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9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9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900" dirty="0"/>
              </a:p>
              <a:p>
                <a:pPr>
                  <a:buNone/>
                </a:pPr>
                <a:r>
                  <a:rPr lang="en-US" sz="900" dirty="0"/>
                  <a:t>(for scalar </a:t>
                </a:r>
                <a14:m>
                  <m:oMath xmlns:m="http://schemas.openxmlformats.org/officeDocument/2006/math">
                    <m:r>
                      <a:rPr lang="en-US" sz="9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900" dirty="0"/>
                  <a:t>)</a:t>
                </a:r>
              </a:p>
              <a:p>
                <a:pPr>
                  <a:buNone/>
                </a:pPr>
                <a:r>
                  <a:rPr lang="en-US" sz="900" dirty="0"/>
                  <a:t>►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9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9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9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9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900" dirty="0"/>
              </a:p>
              <a:p>
                <a:pPr>
                  <a:buNone/>
                </a:pPr>
                <a:r>
                  <a:rPr lang="en-US" sz="900" dirty="0"/>
                  <a:t>is the </a:t>
                </a:r>
                <a:r>
                  <a:rPr lang="en-US" sz="900" i="1" dirty="0"/>
                  <a:t>prediction error</a:t>
                </a:r>
                <a:r>
                  <a:rPr lang="en-US" sz="900" dirty="0"/>
                  <a:t> or </a:t>
                </a:r>
                <a:r>
                  <a:rPr lang="en-US" sz="900" i="1" dirty="0"/>
                  <a:t>residual</a:t>
                </a:r>
                <a:endParaRPr lang="en-US" sz="900" dirty="0"/>
              </a:p>
              <a:p>
                <a:pPr>
                  <a:buNone/>
                </a:pPr>
                <a:r>
                  <a:rPr lang="en-US" sz="900" dirty="0"/>
                  <a:t>► for scalar </a:t>
                </a:r>
                <a14:m>
                  <m:oMath xmlns:m="http://schemas.openxmlformats.org/officeDocument/2006/math">
                    <m:r>
                      <a:rPr lang="en-US" sz="9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900" dirty="0"/>
                  <a:t>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9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900" i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900" dirty="0"/>
              </a:p>
              <a:p>
                <a:pPr>
                  <a:buNone/>
                </a:pPr>
                <a:r>
                  <a:rPr lang="en-US" sz="900" dirty="0"/>
                  <a:t>is </a:t>
                </a:r>
                <a:r>
                  <a:rPr lang="en-US" sz="900" i="1" dirty="0"/>
                  <a:t>over-estimating</a:t>
                </a:r>
                <a:r>
                  <a:rPr lang="en-US" sz="900" dirty="0"/>
                  <a:t>;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9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900" i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900" dirty="0"/>
              </a:p>
              <a:p>
                <a:pPr>
                  <a:buNone/>
                </a:pPr>
                <a:r>
                  <a:rPr lang="en-US" sz="900" dirty="0"/>
                  <a:t>is </a:t>
                </a:r>
                <a:r>
                  <a:rPr lang="en-US" sz="900" i="1" dirty="0"/>
                  <a:t>under-estimating</a:t>
                </a:r>
                <a:endParaRPr lang="en-US" sz="9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F36CC1-FDE2-1F25-3F60-D0BD14ACB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05" y="421439"/>
                <a:ext cx="5702300" cy="2686505"/>
              </a:xfrm>
              <a:prstGeom prst="rect">
                <a:avLst/>
              </a:prstGeom>
              <a:blipFill>
                <a:blip r:embed="rId2"/>
                <a:stretch>
                  <a:fillRect t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4566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Penalty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26AE9DC8-E3CB-5598-3287-27E82097236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55108" y="282695"/>
                <a:ext cx="5494795" cy="2931572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1100" dirty="0"/>
                  <a:t>► the penalty function tells us how much we object to different values of prediction error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100" dirty="0"/>
                  <a:t>► usually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11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1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10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</a:pPr>
                <a:r>
                  <a:rPr lang="en-US" sz="1100" dirty="0"/>
                  <a:t>and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10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1100" dirty="0"/>
                  <a:t>for all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</a:pPr>
                <a:r>
                  <a:rPr lang="en-US" sz="1100" dirty="0"/>
                  <a:t>► if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100" dirty="0"/>
                  <a:t> is </a:t>
                </a:r>
                <a:r>
                  <a:rPr lang="en-US" sz="1100" i="1" dirty="0"/>
                  <a:t>symmetric</a:t>
                </a:r>
                <a:r>
                  <a:rPr lang="en-US" sz="1100" dirty="0"/>
                  <a:t>, </a:t>
                </a:r>
                <a:r>
                  <a:rPr lang="en-US" sz="1100" i="1" dirty="0"/>
                  <a:t>i.e.</a:t>
                </a:r>
                <a:r>
                  <a:rPr lang="en-US" sz="1100" dirty="0"/>
                  <a:t>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11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1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1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1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</a:pPr>
                <a:r>
                  <a:rPr lang="en-US" sz="1100" dirty="0"/>
                  <a:t>we care only about the magnitude (absolute value) of prediction error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100" dirty="0"/>
                  <a:t>► if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100" dirty="0"/>
                  <a:t>is </a:t>
                </a:r>
                <a:r>
                  <a:rPr lang="en-US" sz="1100" i="1" dirty="0"/>
                  <a:t>asymmetric</a:t>
                </a:r>
                <a:r>
                  <a:rPr lang="en-US" sz="1100" dirty="0"/>
                  <a:t>, </a:t>
                </a:r>
                <a:r>
                  <a:rPr lang="en-US" sz="1100" i="1" dirty="0"/>
                  <a:t>i.e.</a:t>
                </a:r>
                <a:r>
                  <a:rPr lang="en-US" sz="1100" dirty="0"/>
                  <a:t>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11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1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10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1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100" dirty="0"/>
              </a:p>
              <a:p>
                <a:pPr>
                  <a:lnSpc>
                    <a:spcPct val="150000"/>
                  </a:lnSpc>
                </a:pPr>
                <a:r>
                  <a:rPr lang="en-US" sz="1100" dirty="0"/>
                  <a:t>it bothers us more to over- or under-estimate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26AE9DC8-E3CB-5598-3287-27E8209723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5108" y="282695"/>
                <a:ext cx="5494795" cy="2931572"/>
              </a:xfrm>
              <a:blipFill>
                <a:blip r:embed="rId2"/>
                <a:stretch>
                  <a:fillRect l="-1552" r="-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4" y="71378"/>
            <a:ext cx="27515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Square versus absolute value penalty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81762" y="288640"/>
            <a:ext cx="1871345" cy="1252220"/>
            <a:chOff x="1870646" y="297379"/>
            <a:chExt cx="1871345" cy="1252220"/>
          </a:xfrm>
        </p:grpSpPr>
        <p:sp>
          <p:nvSpPr>
            <p:cNvPr id="4" name="object 4"/>
            <p:cNvSpPr/>
            <p:nvPr/>
          </p:nvSpPr>
          <p:spPr>
            <a:xfrm>
              <a:off x="1874139" y="300872"/>
              <a:ext cx="1868170" cy="1245235"/>
            </a:xfrm>
            <a:custGeom>
              <a:avLst/>
              <a:gdLst/>
              <a:ahLst/>
              <a:cxnLst/>
              <a:rect l="l" t="t" r="r" b="b"/>
              <a:pathLst>
                <a:path w="1868170" h="1245235">
                  <a:moveTo>
                    <a:pt x="1867732" y="0"/>
                  </a:moveTo>
                  <a:lnTo>
                    <a:pt x="0" y="0"/>
                  </a:lnTo>
                  <a:lnTo>
                    <a:pt x="0" y="1245154"/>
                  </a:lnTo>
                  <a:lnTo>
                    <a:pt x="1867732" y="1245154"/>
                  </a:lnTo>
                  <a:lnTo>
                    <a:pt x="1867732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74139" y="300872"/>
              <a:ext cx="0" cy="1245235"/>
            </a:xfrm>
            <a:custGeom>
              <a:avLst/>
              <a:gdLst/>
              <a:ahLst/>
              <a:cxnLst/>
              <a:rect l="l" t="t" r="r" b="b"/>
              <a:pathLst>
                <a:path h="1245235">
                  <a:moveTo>
                    <a:pt x="0" y="1245154"/>
                  </a:moveTo>
                  <a:lnTo>
                    <a:pt x="0" y="0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62349" y="1558283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39886" y="1614067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5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85428" y="300872"/>
            <a:ext cx="0" cy="1245235"/>
          </a:xfrm>
          <a:custGeom>
            <a:avLst/>
            <a:gdLst/>
            <a:ahLst/>
            <a:cxnLst/>
            <a:rect l="l" t="t" r="r" b="b"/>
            <a:pathLst>
              <a:path h="1245235">
                <a:moveTo>
                  <a:pt x="0" y="1245154"/>
                </a:moveTo>
                <a:lnTo>
                  <a:pt x="0" y="0"/>
                </a:lnTo>
              </a:path>
            </a:pathLst>
          </a:custGeom>
          <a:ln w="66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73638" y="1558283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51174" y="1614067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5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867479" y="287655"/>
            <a:ext cx="1881505" cy="1258570"/>
            <a:chOff x="1867479" y="294212"/>
            <a:chExt cx="1881505" cy="1258570"/>
          </a:xfrm>
        </p:grpSpPr>
        <p:sp>
          <p:nvSpPr>
            <p:cNvPr id="12" name="object 12"/>
            <p:cNvSpPr/>
            <p:nvPr/>
          </p:nvSpPr>
          <p:spPr>
            <a:xfrm>
              <a:off x="1874139" y="300872"/>
              <a:ext cx="1868170" cy="1245235"/>
            </a:xfrm>
            <a:custGeom>
              <a:avLst/>
              <a:gdLst/>
              <a:ahLst/>
              <a:cxnLst/>
              <a:rect l="l" t="t" r="r" b="b"/>
              <a:pathLst>
                <a:path w="1868170" h="1245235">
                  <a:moveTo>
                    <a:pt x="622577" y="1245154"/>
                  </a:moveTo>
                  <a:lnTo>
                    <a:pt x="622577" y="0"/>
                  </a:lnTo>
                </a:path>
                <a:path w="1868170" h="1245235">
                  <a:moveTo>
                    <a:pt x="933866" y="1245154"/>
                  </a:moveTo>
                  <a:lnTo>
                    <a:pt x="933866" y="0"/>
                  </a:lnTo>
                </a:path>
                <a:path w="1868170" h="1245235">
                  <a:moveTo>
                    <a:pt x="1245154" y="1245154"/>
                  </a:moveTo>
                  <a:lnTo>
                    <a:pt x="1245154" y="0"/>
                  </a:lnTo>
                </a:path>
                <a:path w="1868170" h="1245235">
                  <a:moveTo>
                    <a:pt x="1556443" y="1245154"/>
                  </a:moveTo>
                  <a:lnTo>
                    <a:pt x="1556443" y="0"/>
                  </a:lnTo>
                </a:path>
                <a:path w="1868170" h="1245235">
                  <a:moveTo>
                    <a:pt x="1867732" y="1245154"/>
                  </a:moveTo>
                  <a:lnTo>
                    <a:pt x="1867732" y="0"/>
                  </a:lnTo>
                </a:path>
                <a:path w="1868170" h="1245235">
                  <a:moveTo>
                    <a:pt x="0" y="1245154"/>
                  </a:moveTo>
                  <a:lnTo>
                    <a:pt x="1867732" y="1245154"/>
                  </a:lnTo>
                </a:path>
                <a:path w="1868170" h="1245235">
                  <a:moveTo>
                    <a:pt x="0" y="933866"/>
                  </a:moveTo>
                  <a:lnTo>
                    <a:pt x="1867732" y="933866"/>
                  </a:lnTo>
                </a:path>
                <a:path w="1868170" h="1245235">
                  <a:moveTo>
                    <a:pt x="0" y="622577"/>
                  </a:moveTo>
                  <a:lnTo>
                    <a:pt x="1867732" y="622577"/>
                  </a:lnTo>
                </a:path>
                <a:path w="1868170" h="1245235">
                  <a:moveTo>
                    <a:pt x="0" y="311288"/>
                  </a:moveTo>
                  <a:lnTo>
                    <a:pt x="1867732" y="311288"/>
                  </a:lnTo>
                </a:path>
                <a:path w="1868170" h="1245235">
                  <a:moveTo>
                    <a:pt x="0" y="0"/>
                  </a:moveTo>
                  <a:lnTo>
                    <a:pt x="1867732" y="0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74139" y="612161"/>
              <a:ext cx="1868170" cy="934085"/>
            </a:xfrm>
            <a:custGeom>
              <a:avLst/>
              <a:gdLst/>
              <a:ahLst/>
              <a:cxnLst/>
              <a:rect l="l" t="t" r="r" b="b"/>
              <a:pathLst>
                <a:path w="1868170" h="934085">
                  <a:moveTo>
                    <a:pt x="0" y="0"/>
                  </a:moveTo>
                  <a:lnTo>
                    <a:pt x="31128" y="31128"/>
                  </a:lnTo>
                  <a:lnTo>
                    <a:pt x="62257" y="62257"/>
                  </a:lnTo>
                  <a:lnTo>
                    <a:pt x="93386" y="93386"/>
                  </a:lnTo>
                  <a:lnTo>
                    <a:pt x="124515" y="124515"/>
                  </a:lnTo>
                  <a:lnTo>
                    <a:pt x="155644" y="155644"/>
                  </a:lnTo>
                  <a:lnTo>
                    <a:pt x="186773" y="186773"/>
                  </a:lnTo>
                  <a:lnTo>
                    <a:pt x="217902" y="217902"/>
                  </a:lnTo>
                  <a:lnTo>
                    <a:pt x="249030" y="249030"/>
                  </a:lnTo>
                  <a:lnTo>
                    <a:pt x="280159" y="280159"/>
                  </a:lnTo>
                  <a:lnTo>
                    <a:pt x="311288" y="311288"/>
                  </a:lnTo>
                  <a:lnTo>
                    <a:pt x="342417" y="342417"/>
                  </a:lnTo>
                  <a:lnTo>
                    <a:pt x="373546" y="373546"/>
                  </a:lnTo>
                  <a:lnTo>
                    <a:pt x="404675" y="404675"/>
                  </a:lnTo>
                  <a:lnTo>
                    <a:pt x="435804" y="435804"/>
                  </a:lnTo>
                  <a:lnTo>
                    <a:pt x="466933" y="466933"/>
                  </a:lnTo>
                  <a:lnTo>
                    <a:pt x="498061" y="498061"/>
                  </a:lnTo>
                  <a:lnTo>
                    <a:pt x="529190" y="529190"/>
                  </a:lnTo>
                  <a:lnTo>
                    <a:pt x="560319" y="560319"/>
                  </a:lnTo>
                  <a:lnTo>
                    <a:pt x="591448" y="591448"/>
                  </a:lnTo>
                  <a:lnTo>
                    <a:pt x="622577" y="622577"/>
                  </a:lnTo>
                  <a:lnTo>
                    <a:pt x="653706" y="653706"/>
                  </a:lnTo>
                  <a:lnTo>
                    <a:pt x="684835" y="684835"/>
                  </a:lnTo>
                  <a:lnTo>
                    <a:pt x="715964" y="715964"/>
                  </a:lnTo>
                  <a:lnTo>
                    <a:pt x="747092" y="747092"/>
                  </a:lnTo>
                  <a:lnTo>
                    <a:pt x="778221" y="778221"/>
                  </a:lnTo>
                  <a:lnTo>
                    <a:pt x="809350" y="809350"/>
                  </a:lnTo>
                  <a:lnTo>
                    <a:pt x="840479" y="840479"/>
                  </a:lnTo>
                  <a:lnTo>
                    <a:pt x="871608" y="871608"/>
                  </a:lnTo>
                  <a:lnTo>
                    <a:pt x="902737" y="902737"/>
                  </a:lnTo>
                  <a:lnTo>
                    <a:pt x="933866" y="933866"/>
                  </a:lnTo>
                  <a:lnTo>
                    <a:pt x="964995" y="902737"/>
                  </a:lnTo>
                  <a:lnTo>
                    <a:pt x="996123" y="871608"/>
                  </a:lnTo>
                  <a:lnTo>
                    <a:pt x="1027252" y="840479"/>
                  </a:lnTo>
                  <a:lnTo>
                    <a:pt x="1058381" y="809350"/>
                  </a:lnTo>
                  <a:lnTo>
                    <a:pt x="1089510" y="778221"/>
                  </a:lnTo>
                  <a:lnTo>
                    <a:pt x="1120639" y="747092"/>
                  </a:lnTo>
                  <a:lnTo>
                    <a:pt x="1151768" y="715964"/>
                  </a:lnTo>
                  <a:lnTo>
                    <a:pt x="1182897" y="684835"/>
                  </a:lnTo>
                  <a:lnTo>
                    <a:pt x="1214026" y="653706"/>
                  </a:lnTo>
                  <a:lnTo>
                    <a:pt x="1245154" y="622577"/>
                  </a:lnTo>
                  <a:lnTo>
                    <a:pt x="1276283" y="591448"/>
                  </a:lnTo>
                  <a:lnTo>
                    <a:pt x="1307412" y="560319"/>
                  </a:lnTo>
                  <a:lnTo>
                    <a:pt x="1338541" y="529190"/>
                  </a:lnTo>
                  <a:lnTo>
                    <a:pt x="1369670" y="498061"/>
                  </a:lnTo>
                  <a:lnTo>
                    <a:pt x="1400799" y="466933"/>
                  </a:lnTo>
                  <a:lnTo>
                    <a:pt x="1431928" y="435804"/>
                  </a:lnTo>
                  <a:lnTo>
                    <a:pt x="1463057" y="404675"/>
                  </a:lnTo>
                  <a:lnTo>
                    <a:pt x="1494185" y="373546"/>
                  </a:lnTo>
                  <a:lnTo>
                    <a:pt x="1525314" y="342417"/>
                  </a:lnTo>
                  <a:lnTo>
                    <a:pt x="1556443" y="311288"/>
                  </a:lnTo>
                  <a:lnTo>
                    <a:pt x="1587572" y="280159"/>
                  </a:lnTo>
                  <a:lnTo>
                    <a:pt x="1618701" y="249030"/>
                  </a:lnTo>
                  <a:lnTo>
                    <a:pt x="1649830" y="217902"/>
                  </a:lnTo>
                  <a:lnTo>
                    <a:pt x="1680959" y="186773"/>
                  </a:lnTo>
                  <a:lnTo>
                    <a:pt x="1836603" y="31128"/>
                  </a:lnTo>
                  <a:lnTo>
                    <a:pt x="1867732" y="0"/>
                  </a:lnTo>
                </a:path>
              </a:pathLst>
            </a:custGeom>
            <a:ln w="1332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85428" y="300872"/>
              <a:ext cx="1245235" cy="1245235"/>
            </a:xfrm>
            <a:custGeom>
              <a:avLst/>
              <a:gdLst/>
              <a:ahLst/>
              <a:cxnLst/>
              <a:rect l="l" t="t" r="r" b="b"/>
              <a:pathLst>
                <a:path w="1245235" h="1245235">
                  <a:moveTo>
                    <a:pt x="0" y="0"/>
                  </a:moveTo>
                  <a:lnTo>
                    <a:pt x="31128" y="121402"/>
                  </a:lnTo>
                  <a:lnTo>
                    <a:pt x="62257" y="236579"/>
                  </a:lnTo>
                  <a:lnTo>
                    <a:pt x="93386" y="345530"/>
                  </a:lnTo>
                  <a:lnTo>
                    <a:pt x="124515" y="448255"/>
                  </a:lnTo>
                  <a:lnTo>
                    <a:pt x="155644" y="544755"/>
                  </a:lnTo>
                  <a:lnTo>
                    <a:pt x="186773" y="635029"/>
                  </a:lnTo>
                  <a:lnTo>
                    <a:pt x="217902" y="719076"/>
                  </a:lnTo>
                  <a:lnTo>
                    <a:pt x="249030" y="796899"/>
                  </a:lnTo>
                  <a:lnTo>
                    <a:pt x="280159" y="868495"/>
                  </a:lnTo>
                  <a:lnTo>
                    <a:pt x="311288" y="933866"/>
                  </a:lnTo>
                  <a:lnTo>
                    <a:pt x="342417" y="993011"/>
                  </a:lnTo>
                  <a:lnTo>
                    <a:pt x="373546" y="1045930"/>
                  </a:lnTo>
                  <a:lnTo>
                    <a:pt x="404675" y="1092623"/>
                  </a:lnTo>
                  <a:lnTo>
                    <a:pt x="435804" y="1133091"/>
                  </a:lnTo>
                  <a:lnTo>
                    <a:pt x="466933" y="1167332"/>
                  </a:lnTo>
                  <a:lnTo>
                    <a:pt x="498061" y="1195348"/>
                  </a:lnTo>
                  <a:lnTo>
                    <a:pt x="560319" y="1232703"/>
                  </a:lnTo>
                  <a:lnTo>
                    <a:pt x="622577" y="1245154"/>
                  </a:lnTo>
                  <a:lnTo>
                    <a:pt x="653706" y="1242042"/>
                  </a:lnTo>
                  <a:lnTo>
                    <a:pt x="715964" y="1217138"/>
                  </a:lnTo>
                  <a:lnTo>
                    <a:pt x="778221" y="1167332"/>
                  </a:lnTo>
                  <a:lnTo>
                    <a:pt x="809350" y="1133091"/>
                  </a:lnTo>
                  <a:lnTo>
                    <a:pt x="840479" y="1092623"/>
                  </a:lnTo>
                  <a:lnTo>
                    <a:pt x="871608" y="1045930"/>
                  </a:lnTo>
                  <a:lnTo>
                    <a:pt x="902737" y="993011"/>
                  </a:lnTo>
                  <a:lnTo>
                    <a:pt x="933866" y="933866"/>
                  </a:lnTo>
                  <a:lnTo>
                    <a:pt x="964995" y="868495"/>
                  </a:lnTo>
                  <a:lnTo>
                    <a:pt x="996123" y="796899"/>
                  </a:lnTo>
                  <a:lnTo>
                    <a:pt x="1027252" y="719076"/>
                  </a:lnTo>
                  <a:lnTo>
                    <a:pt x="1058381" y="635029"/>
                  </a:lnTo>
                  <a:lnTo>
                    <a:pt x="1089510" y="544755"/>
                  </a:lnTo>
                  <a:lnTo>
                    <a:pt x="1120639" y="448255"/>
                  </a:lnTo>
                  <a:lnTo>
                    <a:pt x="1151768" y="345530"/>
                  </a:lnTo>
                  <a:lnTo>
                    <a:pt x="1182897" y="236579"/>
                  </a:lnTo>
                  <a:lnTo>
                    <a:pt x="1214026" y="121402"/>
                  </a:lnTo>
                  <a:lnTo>
                    <a:pt x="1245154" y="0"/>
                  </a:lnTo>
                </a:path>
              </a:pathLst>
            </a:custGeom>
            <a:ln w="1332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34079" y="1355384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200" y="0"/>
                  </a:lnTo>
                </a:path>
              </a:pathLst>
            </a:custGeom>
            <a:ln w="1332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34079" y="1449561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200" y="0"/>
                  </a:lnTo>
                </a:path>
              </a:pathLst>
            </a:custGeom>
            <a:ln w="1332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84927" y="1558283"/>
            <a:ext cx="52069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62463" y="1614067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5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76782" y="1558283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20" name="object 20"/>
          <p:cNvSpPr txBox="1"/>
          <p:nvPr/>
        </p:nvSpPr>
        <p:spPr>
          <a:xfrm>
            <a:off x="3088071" y="1558283"/>
            <a:ext cx="52069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99359" y="1558283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10648" y="1558283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77773" y="1139607"/>
            <a:ext cx="463550" cy="4572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  <a:p>
            <a:pPr marL="342265" marR="5080">
              <a:lnSpc>
                <a:spcPct val="112400"/>
              </a:lnSpc>
              <a:spcBef>
                <a:spcPts val="204"/>
              </a:spcBef>
            </a:pPr>
            <a:r>
              <a:rPr sz="550" spc="-20" dirty="0">
                <a:solidFill>
                  <a:srgbClr val="262626"/>
                </a:solidFill>
                <a:latin typeface="Arial MT"/>
                <a:cs typeface="Arial MT"/>
              </a:rPr>
              <a:t>abs</a:t>
            </a:r>
            <a:r>
              <a:rPr sz="550" spc="5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50" spc="-25" dirty="0">
                <a:solidFill>
                  <a:srgbClr val="262626"/>
                </a:solidFill>
                <a:latin typeface="Arial MT"/>
                <a:cs typeface="Arial MT"/>
              </a:rPr>
              <a:t>sqr</a:t>
            </a:r>
            <a:endParaRPr sz="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77773" y="865256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77773" y="553967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77773" y="242678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4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6324" y="1844639"/>
            <a:ext cx="3365500" cy="115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" indent="-13970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77800" algn="l"/>
              </a:tabLst>
            </a:pPr>
            <a:r>
              <a:rPr sz="900" dirty="0">
                <a:latin typeface="Arial MT"/>
                <a:cs typeface="Arial MT"/>
              </a:rPr>
              <a:t>for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square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penalty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p</a:t>
            </a:r>
            <a:r>
              <a:rPr sz="900" baseline="37037" dirty="0">
                <a:latin typeface="Verdana"/>
                <a:cs typeface="Verdana"/>
              </a:rPr>
              <a:t>sqr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dirty="0">
                <a:latin typeface="Lucida Sans Unicode"/>
                <a:cs typeface="Lucida Sans Unicode"/>
              </a:rPr>
              <a:t>r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spc="-160" dirty="0">
                <a:latin typeface="Times New Roman"/>
                <a:cs typeface="Times New Roman"/>
              </a:rPr>
              <a:t>==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Lucida Sans Unicode"/>
                <a:cs typeface="Lucida Sans Unicode"/>
              </a:rPr>
              <a:t>r</a:t>
            </a:r>
            <a:r>
              <a:rPr sz="825" spc="44" baseline="40404" dirty="0">
                <a:latin typeface="Arial MT"/>
                <a:cs typeface="Arial MT"/>
              </a:rPr>
              <a:t>2</a:t>
            </a:r>
            <a:endParaRPr sz="825" baseline="40404">
              <a:latin typeface="Arial MT"/>
              <a:cs typeface="Arial MT"/>
            </a:endParaRPr>
          </a:p>
          <a:p>
            <a:pPr marL="434975" lvl="1" indent="-139700">
              <a:lnSpc>
                <a:spcPct val="100000"/>
              </a:lnSpc>
              <a:spcBef>
                <a:spcPts val="600"/>
              </a:spcBef>
              <a:buClr>
                <a:srgbClr val="000099"/>
              </a:buClr>
              <a:buSzPct val="81250"/>
              <a:buFont typeface="Verdana"/>
              <a:buChar char="*"/>
              <a:tabLst>
                <a:tab pos="434975" algn="l"/>
              </a:tabLst>
            </a:pPr>
            <a:r>
              <a:rPr sz="800" dirty="0">
                <a:latin typeface="Tahoma"/>
                <a:cs typeface="Tahoma"/>
              </a:rPr>
              <a:t>for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small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prediction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errors,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penalty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is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very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small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(small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squared)</a:t>
            </a:r>
            <a:endParaRPr sz="800">
              <a:latin typeface="Tahoma"/>
              <a:cs typeface="Tahoma"/>
            </a:endParaRPr>
          </a:p>
          <a:p>
            <a:pPr marL="434975" lvl="1" indent="-139700">
              <a:lnSpc>
                <a:spcPct val="100000"/>
              </a:lnSpc>
              <a:spcBef>
                <a:spcPts val="425"/>
              </a:spcBef>
              <a:buClr>
                <a:srgbClr val="000099"/>
              </a:buClr>
              <a:buSzPct val="81250"/>
              <a:buFont typeface="Verdana"/>
              <a:buChar char="*"/>
              <a:tabLst>
                <a:tab pos="434975" algn="l"/>
              </a:tabLst>
            </a:pPr>
            <a:r>
              <a:rPr sz="800" dirty="0">
                <a:latin typeface="Tahoma"/>
                <a:cs typeface="Tahoma"/>
              </a:rPr>
              <a:t>for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large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prediction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errors,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penalty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is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very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large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(large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squared)</a:t>
            </a:r>
            <a:endParaRPr sz="800">
              <a:latin typeface="Tahoma"/>
              <a:cs typeface="Tahoma"/>
            </a:endParaRPr>
          </a:p>
          <a:p>
            <a:pPr marL="177800" indent="-139700">
              <a:lnSpc>
                <a:spcPct val="100000"/>
              </a:lnSpc>
              <a:spcBef>
                <a:spcPts val="825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77800" algn="l"/>
              </a:tabLst>
            </a:pPr>
            <a:r>
              <a:rPr sz="900" dirty="0">
                <a:latin typeface="Arial MT"/>
                <a:cs typeface="Arial MT"/>
              </a:rPr>
              <a:t>for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30" dirty="0">
                <a:latin typeface="Arial MT"/>
                <a:cs typeface="Arial MT"/>
              </a:rPr>
              <a:t>absolute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penalty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p</a:t>
            </a:r>
            <a:r>
              <a:rPr sz="900" baseline="37037" dirty="0">
                <a:latin typeface="Verdana"/>
                <a:cs typeface="Verdana"/>
              </a:rPr>
              <a:t>abs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dirty="0">
                <a:latin typeface="Lucida Sans Unicode"/>
                <a:cs typeface="Lucida Sans Unicode"/>
              </a:rPr>
              <a:t>r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spc="-160" dirty="0">
                <a:latin typeface="Times New Roman"/>
                <a:cs typeface="Times New Roman"/>
              </a:rPr>
              <a:t>==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spc="-100" dirty="0">
                <a:latin typeface="Microsoft Sans Serif"/>
                <a:cs typeface="Microsoft Sans Serif"/>
              </a:rPr>
              <a:t>|</a:t>
            </a:r>
            <a:r>
              <a:rPr sz="900" spc="-135" dirty="0">
                <a:latin typeface="Microsoft Sans Serif"/>
                <a:cs typeface="Microsoft Sans Serif"/>
              </a:rPr>
              <a:t> </a:t>
            </a:r>
            <a:r>
              <a:rPr sz="900" spc="-25" dirty="0">
                <a:latin typeface="Lucida Sans Unicode"/>
                <a:cs typeface="Lucida Sans Unicode"/>
              </a:rPr>
              <a:t>r</a:t>
            </a:r>
            <a:r>
              <a:rPr sz="900" spc="-25" dirty="0">
                <a:latin typeface="Microsoft Sans Serif"/>
                <a:cs typeface="Microsoft Sans Serif"/>
              </a:rPr>
              <a:t>|</a:t>
            </a:r>
            <a:endParaRPr sz="900">
              <a:latin typeface="Microsoft Sans Serif"/>
              <a:cs typeface="Microsoft Sans Serif"/>
            </a:endParaRPr>
          </a:p>
          <a:p>
            <a:pPr marL="434975" lvl="1" indent="-139700">
              <a:lnSpc>
                <a:spcPct val="100000"/>
              </a:lnSpc>
              <a:spcBef>
                <a:spcPts val="605"/>
              </a:spcBef>
              <a:buClr>
                <a:srgbClr val="000099"/>
              </a:buClr>
              <a:buSzPct val="81250"/>
              <a:buFont typeface="Verdana"/>
              <a:buChar char="*"/>
              <a:tabLst>
                <a:tab pos="434975" algn="l"/>
              </a:tabLst>
            </a:pPr>
            <a:r>
              <a:rPr sz="800" dirty="0">
                <a:latin typeface="Tahoma"/>
                <a:cs typeface="Tahoma"/>
              </a:rPr>
              <a:t>for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small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prediction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errors, </a:t>
            </a:r>
            <a:r>
              <a:rPr sz="800" dirty="0">
                <a:latin typeface="Tahoma"/>
                <a:cs typeface="Tahoma"/>
              </a:rPr>
              <a:t>penalty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large (compared </a:t>
            </a:r>
            <a:r>
              <a:rPr sz="800" dirty="0">
                <a:latin typeface="Tahoma"/>
                <a:cs typeface="Tahoma"/>
              </a:rPr>
              <a:t>to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square)</a:t>
            </a:r>
            <a:endParaRPr sz="800">
              <a:latin typeface="Tahoma"/>
              <a:cs typeface="Tahoma"/>
            </a:endParaRPr>
          </a:p>
          <a:p>
            <a:pPr marL="434975" lvl="1" indent="-139700">
              <a:lnSpc>
                <a:spcPct val="100000"/>
              </a:lnSpc>
              <a:spcBef>
                <a:spcPts val="420"/>
              </a:spcBef>
              <a:buClr>
                <a:srgbClr val="000099"/>
              </a:buClr>
              <a:buSzPct val="81250"/>
              <a:buFont typeface="Verdana"/>
              <a:buChar char="*"/>
              <a:tabLst>
                <a:tab pos="434975" algn="l"/>
              </a:tabLst>
            </a:pPr>
            <a:r>
              <a:rPr sz="800" dirty="0">
                <a:latin typeface="Tahoma"/>
                <a:cs typeface="Tahoma"/>
              </a:rPr>
              <a:t>for</a:t>
            </a:r>
            <a:r>
              <a:rPr sz="800" spc="-10" dirty="0">
                <a:latin typeface="Tahoma"/>
                <a:cs typeface="Tahoma"/>
              </a:rPr>
              <a:t> large </a:t>
            </a:r>
            <a:r>
              <a:rPr sz="800" dirty="0">
                <a:latin typeface="Tahoma"/>
                <a:cs typeface="Tahoma"/>
              </a:rPr>
              <a:t>prediction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errors, </a:t>
            </a:r>
            <a:r>
              <a:rPr sz="800" dirty="0">
                <a:latin typeface="Tahoma"/>
                <a:cs typeface="Tahoma"/>
              </a:rPr>
              <a:t>penalty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small</a:t>
            </a:r>
            <a:r>
              <a:rPr sz="800" spc="-10" dirty="0">
                <a:latin typeface="Tahoma"/>
                <a:cs typeface="Tahoma"/>
              </a:rPr>
              <a:t> (compared </a:t>
            </a:r>
            <a:r>
              <a:rPr sz="800" dirty="0">
                <a:latin typeface="Tahoma"/>
                <a:cs typeface="Tahoma"/>
              </a:rPr>
              <a:t>to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square)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4" y="71378"/>
            <a:ext cx="3746779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Tilted absolute penalty function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3497" y="557524"/>
            <a:ext cx="1032510" cy="772160"/>
            <a:chOff x="643497" y="557524"/>
            <a:chExt cx="1032510" cy="772160"/>
          </a:xfrm>
        </p:grpSpPr>
        <p:sp>
          <p:nvSpPr>
            <p:cNvPr id="4" name="object 4"/>
            <p:cNvSpPr/>
            <p:nvPr/>
          </p:nvSpPr>
          <p:spPr>
            <a:xfrm>
              <a:off x="643497" y="557524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1032290" y="0"/>
                  </a:moveTo>
                  <a:lnTo>
                    <a:pt x="0" y="0"/>
                  </a:lnTo>
                  <a:lnTo>
                    <a:pt x="0" y="769223"/>
                  </a:lnTo>
                  <a:lnTo>
                    <a:pt x="1032290" y="769223"/>
                  </a:lnTo>
                  <a:lnTo>
                    <a:pt x="1032290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497" y="557524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46922" y="769223"/>
                  </a:moveTo>
                  <a:lnTo>
                    <a:pt x="46922" y="0"/>
                  </a:lnTo>
                </a:path>
                <a:path w="1032510" h="769619">
                  <a:moveTo>
                    <a:pt x="281533" y="769223"/>
                  </a:moveTo>
                  <a:lnTo>
                    <a:pt x="281533" y="0"/>
                  </a:lnTo>
                </a:path>
                <a:path w="1032510" h="769619">
                  <a:moveTo>
                    <a:pt x="516145" y="769223"/>
                  </a:moveTo>
                  <a:lnTo>
                    <a:pt x="516145" y="0"/>
                  </a:lnTo>
                </a:path>
                <a:path w="1032510" h="769619">
                  <a:moveTo>
                    <a:pt x="750757" y="769223"/>
                  </a:moveTo>
                  <a:lnTo>
                    <a:pt x="750757" y="0"/>
                  </a:lnTo>
                </a:path>
                <a:path w="1032510" h="769619">
                  <a:moveTo>
                    <a:pt x="985368" y="769223"/>
                  </a:moveTo>
                  <a:lnTo>
                    <a:pt x="985368" y="0"/>
                  </a:lnTo>
                </a:path>
                <a:path w="1032510" h="769619">
                  <a:moveTo>
                    <a:pt x="0" y="615378"/>
                  </a:moveTo>
                  <a:lnTo>
                    <a:pt x="1032290" y="615378"/>
                  </a:lnTo>
                </a:path>
                <a:path w="1032510" h="769619">
                  <a:moveTo>
                    <a:pt x="0" y="461533"/>
                  </a:moveTo>
                  <a:lnTo>
                    <a:pt x="1032290" y="461533"/>
                  </a:lnTo>
                </a:path>
                <a:path w="1032510" h="769619">
                  <a:moveTo>
                    <a:pt x="0" y="307689"/>
                  </a:moveTo>
                  <a:lnTo>
                    <a:pt x="1032290" y="307689"/>
                  </a:lnTo>
                </a:path>
                <a:path w="1032510" h="769619">
                  <a:moveTo>
                    <a:pt x="0" y="153844"/>
                  </a:moveTo>
                  <a:lnTo>
                    <a:pt x="1032290" y="153844"/>
                  </a:lnTo>
                </a:path>
              </a:pathLst>
            </a:custGeom>
            <a:ln w="4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0420" y="749830"/>
              <a:ext cx="938530" cy="575310"/>
            </a:xfrm>
            <a:custGeom>
              <a:avLst/>
              <a:gdLst/>
              <a:ahLst/>
              <a:cxnLst/>
              <a:rect l="l" t="t" r="r" b="b"/>
              <a:pathLst>
                <a:path w="938530" h="575310">
                  <a:moveTo>
                    <a:pt x="0" y="384611"/>
                  </a:moveTo>
                  <a:lnTo>
                    <a:pt x="9479" y="388496"/>
                  </a:lnTo>
                  <a:lnTo>
                    <a:pt x="18958" y="392381"/>
                  </a:lnTo>
                  <a:lnTo>
                    <a:pt x="28437" y="396266"/>
                  </a:lnTo>
                  <a:lnTo>
                    <a:pt x="37917" y="400151"/>
                  </a:lnTo>
                  <a:lnTo>
                    <a:pt x="47396" y="404036"/>
                  </a:lnTo>
                  <a:lnTo>
                    <a:pt x="56875" y="407921"/>
                  </a:lnTo>
                  <a:lnTo>
                    <a:pt x="66354" y="411806"/>
                  </a:lnTo>
                  <a:lnTo>
                    <a:pt x="75834" y="415691"/>
                  </a:lnTo>
                  <a:lnTo>
                    <a:pt x="85313" y="419576"/>
                  </a:lnTo>
                  <a:lnTo>
                    <a:pt x="94792" y="423461"/>
                  </a:lnTo>
                  <a:lnTo>
                    <a:pt x="104271" y="427346"/>
                  </a:lnTo>
                  <a:lnTo>
                    <a:pt x="113751" y="431231"/>
                  </a:lnTo>
                  <a:lnTo>
                    <a:pt x="123230" y="435116"/>
                  </a:lnTo>
                  <a:lnTo>
                    <a:pt x="132709" y="439001"/>
                  </a:lnTo>
                  <a:lnTo>
                    <a:pt x="142188" y="442886"/>
                  </a:lnTo>
                  <a:lnTo>
                    <a:pt x="151668" y="446771"/>
                  </a:lnTo>
                  <a:lnTo>
                    <a:pt x="161147" y="450656"/>
                  </a:lnTo>
                  <a:lnTo>
                    <a:pt x="170626" y="454540"/>
                  </a:lnTo>
                  <a:lnTo>
                    <a:pt x="180105" y="458425"/>
                  </a:lnTo>
                  <a:lnTo>
                    <a:pt x="189585" y="462310"/>
                  </a:lnTo>
                  <a:lnTo>
                    <a:pt x="199064" y="466195"/>
                  </a:lnTo>
                  <a:lnTo>
                    <a:pt x="208543" y="470080"/>
                  </a:lnTo>
                  <a:lnTo>
                    <a:pt x="218022" y="473965"/>
                  </a:lnTo>
                  <a:lnTo>
                    <a:pt x="227502" y="477850"/>
                  </a:lnTo>
                  <a:lnTo>
                    <a:pt x="236981" y="481735"/>
                  </a:lnTo>
                  <a:lnTo>
                    <a:pt x="246460" y="485620"/>
                  </a:lnTo>
                  <a:lnTo>
                    <a:pt x="255939" y="489505"/>
                  </a:lnTo>
                  <a:lnTo>
                    <a:pt x="265419" y="493390"/>
                  </a:lnTo>
                  <a:lnTo>
                    <a:pt x="274898" y="497275"/>
                  </a:lnTo>
                  <a:lnTo>
                    <a:pt x="284377" y="501160"/>
                  </a:lnTo>
                  <a:lnTo>
                    <a:pt x="293856" y="505045"/>
                  </a:lnTo>
                  <a:lnTo>
                    <a:pt x="303336" y="508930"/>
                  </a:lnTo>
                  <a:lnTo>
                    <a:pt x="312815" y="512815"/>
                  </a:lnTo>
                  <a:lnTo>
                    <a:pt x="322294" y="516700"/>
                  </a:lnTo>
                  <a:lnTo>
                    <a:pt x="331773" y="520585"/>
                  </a:lnTo>
                  <a:lnTo>
                    <a:pt x="341253" y="524470"/>
                  </a:lnTo>
                  <a:lnTo>
                    <a:pt x="350732" y="528355"/>
                  </a:lnTo>
                  <a:lnTo>
                    <a:pt x="360211" y="532240"/>
                  </a:lnTo>
                  <a:lnTo>
                    <a:pt x="369690" y="536125"/>
                  </a:lnTo>
                  <a:lnTo>
                    <a:pt x="379170" y="540010"/>
                  </a:lnTo>
                  <a:lnTo>
                    <a:pt x="388649" y="543895"/>
                  </a:lnTo>
                  <a:lnTo>
                    <a:pt x="398128" y="547780"/>
                  </a:lnTo>
                  <a:lnTo>
                    <a:pt x="407607" y="551665"/>
                  </a:lnTo>
                  <a:lnTo>
                    <a:pt x="417087" y="555550"/>
                  </a:lnTo>
                  <a:lnTo>
                    <a:pt x="426566" y="559435"/>
                  </a:lnTo>
                  <a:lnTo>
                    <a:pt x="436045" y="563320"/>
                  </a:lnTo>
                  <a:lnTo>
                    <a:pt x="445524" y="567204"/>
                  </a:lnTo>
                  <a:lnTo>
                    <a:pt x="455004" y="571089"/>
                  </a:lnTo>
                  <a:lnTo>
                    <a:pt x="464483" y="574974"/>
                  </a:lnTo>
                  <a:lnTo>
                    <a:pt x="473962" y="571089"/>
                  </a:lnTo>
                  <a:lnTo>
                    <a:pt x="483442" y="559435"/>
                  </a:lnTo>
                  <a:lnTo>
                    <a:pt x="492921" y="547780"/>
                  </a:lnTo>
                  <a:lnTo>
                    <a:pt x="502400" y="536125"/>
                  </a:lnTo>
                  <a:lnTo>
                    <a:pt x="511879" y="524470"/>
                  </a:lnTo>
                  <a:lnTo>
                    <a:pt x="521359" y="512815"/>
                  </a:lnTo>
                  <a:lnTo>
                    <a:pt x="530838" y="501160"/>
                  </a:lnTo>
                  <a:lnTo>
                    <a:pt x="540317" y="489505"/>
                  </a:lnTo>
                  <a:lnTo>
                    <a:pt x="549796" y="477850"/>
                  </a:lnTo>
                  <a:lnTo>
                    <a:pt x="559276" y="466195"/>
                  </a:lnTo>
                  <a:lnTo>
                    <a:pt x="568755" y="454540"/>
                  </a:lnTo>
                  <a:lnTo>
                    <a:pt x="578234" y="442886"/>
                  </a:lnTo>
                  <a:lnTo>
                    <a:pt x="587713" y="431231"/>
                  </a:lnTo>
                  <a:lnTo>
                    <a:pt x="597193" y="419576"/>
                  </a:lnTo>
                  <a:lnTo>
                    <a:pt x="606672" y="407921"/>
                  </a:lnTo>
                  <a:lnTo>
                    <a:pt x="616151" y="396266"/>
                  </a:lnTo>
                  <a:lnTo>
                    <a:pt x="625630" y="384611"/>
                  </a:lnTo>
                  <a:lnTo>
                    <a:pt x="635110" y="372956"/>
                  </a:lnTo>
                  <a:lnTo>
                    <a:pt x="644589" y="361301"/>
                  </a:lnTo>
                  <a:lnTo>
                    <a:pt x="654068" y="349646"/>
                  </a:lnTo>
                  <a:lnTo>
                    <a:pt x="663547" y="337992"/>
                  </a:lnTo>
                  <a:lnTo>
                    <a:pt x="673027" y="326337"/>
                  </a:lnTo>
                  <a:lnTo>
                    <a:pt x="682506" y="314682"/>
                  </a:lnTo>
                  <a:lnTo>
                    <a:pt x="691985" y="303027"/>
                  </a:lnTo>
                  <a:lnTo>
                    <a:pt x="701464" y="291372"/>
                  </a:lnTo>
                  <a:lnTo>
                    <a:pt x="710944" y="279717"/>
                  </a:lnTo>
                  <a:lnTo>
                    <a:pt x="720423" y="268062"/>
                  </a:lnTo>
                  <a:lnTo>
                    <a:pt x="729902" y="256407"/>
                  </a:lnTo>
                  <a:lnTo>
                    <a:pt x="739381" y="244752"/>
                  </a:lnTo>
                  <a:lnTo>
                    <a:pt x="748861" y="233097"/>
                  </a:lnTo>
                  <a:lnTo>
                    <a:pt x="758340" y="221443"/>
                  </a:lnTo>
                  <a:lnTo>
                    <a:pt x="767819" y="209788"/>
                  </a:lnTo>
                  <a:lnTo>
                    <a:pt x="777298" y="198133"/>
                  </a:lnTo>
                  <a:lnTo>
                    <a:pt x="786778" y="186478"/>
                  </a:lnTo>
                  <a:lnTo>
                    <a:pt x="796257" y="174823"/>
                  </a:lnTo>
                  <a:lnTo>
                    <a:pt x="805736" y="163168"/>
                  </a:lnTo>
                  <a:lnTo>
                    <a:pt x="815215" y="151513"/>
                  </a:lnTo>
                  <a:lnTo>
                    <a:pt x="824695" y="139858"/>
                  </a:lnTo>
                  <a:lnTo>
                    <a:pt x="834174" y="128203"/>
                  </a:lnTo>
                  <a:lnTo>
                    <a:pt x="843653" y="116548"/>
                  </a:lnTo>
                  <a:lnTo>
                    <a:pt x="853132" y="104894"/>
                  </a:lnTo>
                  <a:lnTo>
                    <a:pt x="862612" y="93239"/>
                  </a:lnTo>
                  <a:lnTo>
                    <a:pt x="872091" y="81584"/>
                  </a:lnTo>
                  <a:lnTo>
                    <a:pt x="881570" y="69929"/>
                  </a:lnTo>
                  <a:lnTo>
                    <a:pt x="891049" y="58274"/>
                  </a:lnTo>
                  <a:lnTo>
                    <a:pt x="900529" y="46619"/>
                  </a:lnTo>
                  <a:lnTo>
                    <a:pt x="910008" y="34964"/>
                  </a:lnTo>
                  <a:lnTo>
                    <a:pt x="919487" y="23309"/>
                  </a:lnTo>
                  <a:lnTo>
                    <a:pt x="928967" y="11654"/>
                  </a:lnTo>
                  <a:lnTo>
                    <a:pt x="938446" y="0"/>
                  </a:lnTo>
                </a:path>
              </a:pathLst>
            </a:custGeom>
            <a:ln w="9249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9057" y="1331378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7338" y="1373997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09">
                <a:moveTo>
                  <a:pt x="21829" y="0"/>
                </a:moveTo>
                <a:lnTo>
                  <a:pt x="0" y="0"/>
                </a:lnTo>
                <a:lnTo>
                  <a:pt x="0" y="3792"/>
                </a:lnTo>
                <a:lnTo>
                  <a:pt x="21829" y="3792"/>
                </a:lnTo>
                <a:lnTo>
                  <a:pt x="21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1950" y="1373997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09">
                <a:moveTo>
                  <a:pt x="21829" y="0"/>
                </a:moveTo>
                <a:lnTo>
                  <a:pt x="0" y="0"/>
                </a:lnTo>
                <a:lnTo>
                  <a:pt x="0" y="3792"/>
                </a:lnTo>
                <a:lnTo>
                  <a:pt x="21829" y="3792"/>
                </a:lnTo>
                <a:lnTo>
                  <a:pt x="21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93669" y="1331378"/>
            <a:ext cx="311150" cy="2076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70"/>
              </a:lnSpc>
              <a:spcBef>
                <a:spcPts val="130"/>
              </a:spcBef>
              <a:tabLst>
                <a:tab pos="233679" algn="l"/>
              </a:tabLst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  <a:p>
            <a:pPr marL="200660">
              <a:lnSpc>
                <a:spcPts val="1030"/>
              </a:lnSpc>
            </a:pPr>
            <a:r>
              <a:rPr sz="900" spc="25" dirty="0">
                <a:latin typeface="Lucida Sans Unicode"/>
                <a:cs typeface="Lucida Sans Unicode"/>
              </a:rPr>
              <a:t>r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9396" y="1331378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4008" y="1331378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4107" y="1282455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4107" y="1128610"/>
            <a:ext cx="89535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4107" y="974765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4107" y="820921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4107" y="667076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4107" y="513231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5286" y="577065"/>
            <a:ext cx="456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Lucida Sans Unicode"/>
                <a:cs typeface="Lucida Sans Unicode"/>
              </a:rPr>
              <a:t>z</a:t>
            </a:r>
            <a:r>
              <a:rPr sz="900" spc="-15" dirty="0">
                <a:latin typeface="Lucida Sans Unicode"/>
                <a:cs typeface="Lucida Sans Unicode"/>
              </a:rPr>
              <a:t> </a:t>
            </a:r>
            <a:r>
              <a:rPr sz="900" spc="-160" dirty="0">
                <a:latin typeface="Times New Roman"/>
                <a:cs typeface="Times New Roman"/>
              </a:rPr>
              <a:t>==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spc="-60" dirty="0">
                <a:latin typeface="Times New Roman"/>
                <a:cs typeface="Times New Roman"/>
              </a:rPr>
              <a:t>0</a:t>
            </a:r>
            <a:r>
              <a:rPr sz="900" spc="-60" dirty="0">
                <a:latin typeface="Lucida Sans Unicode"/>
                <a:cs typeface="Lucida Sans Unicode"/>
              </a:rPr>
              <a:t>.</a:t>
            </a:r>
            <a:r>
              <a:rPr sz="900" spc="-204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25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08505" y="557524"/>
            <a:ext cx="1032510" cy="770255"/>
            <a:chOff x="2308505" y="557524"/>
            <a:chExt cx="1032510" cy="770255"/>
          </a:xfrm>
        </p:grpSpPr>
        <p:sp>
          <p:nvSpPr>
            <p:cNvPr id="23" name="object 23"/>
            <p:cNvSpPr/>
            <p:nvPr/>
          </p:nvSpPr>
          <p:spPr>
            <a:xfrm>
              <a:off x="2308505" y="557524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1032290" y="0"/>
                  </a:moveTo>
                  <a:lnTo>
                    <a:pt x="0" y="0"/>
                  </a:lnTo>
                  <a:lnTo>
                    <a:pt x="0" y="769223"/>
                  </a:lnTo>
                  <a:lnTo>
                    <a:pt x="1032290" y="769223"/>
                  </a:lnTo>
                  <a:lnTo>
                    <a:pt x="1032290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08505" y="557524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46922" y="769223"/>
                  </a:moveTo>
                  <a:lnTo>
                    <a:pt x="46922" y="0"/>
                  </a:lnTo>
                </a:path>
                <a:path w="1032510" h="769619">
                  <a:moveTo>
                    <a:pt x="281533" y="769223"/>
                  </a:moveTo>
                  <a:lnTo>
                    <a:pt x="281533" y="0"/>
                  </a:lnTo>
                </a:path>
                <a:path w="1032510" h="769619">
                  <a:moveTo>
                    <a:pt x="516145" y="769223"/>
                  </a:moveTo>
                  <a:lnTo>
                    <a:pt x="516145" y="0"/>
                  </a:lnTo>
                </a:path>
                <a:path w="1032510" h="769619">
                  <a:moveTo>
                    <a:pt x="750757" y="769223"/>
                  </a:moveTo>
                  <a:lnTo>
                    <a:pt x="750757" y="0"/>
                  </a:lnTo>
                </a:path>
                <a:path w="1032510" h="769619">
                  <a:moveTo>
                    <a:pt x="985368" y="769223"/>
                  </a:moveTo>
                  <a:lnTo>
                    <a:pt x="985368" y="0"/>
                  </a:lnTo>
                </a:path>
                <a:path w="1032510" h="769619">
                  <a:moveTo>
                    <a:pt x="0" y="615378"/>
                  </a:moveTo>
                  <a:lnTo>
                    <a:pt x="1032290" y="615378"/>
                  </a:lnTo>
                </a:path>
                <a:path w="1032510" h="769619">
                  <a:moveTo>
                    <a:pt x="0" y="461533"/>
                  </a:moveTo>
                  <a:lnTo>
                    <a:pt x="1032290" y="461533"/>
                  </a:lnTo>
                </a:path>
                <a:path w="1032510" h="769619">
                  <a:moveTo>
                    <a:pt x="0" y="307689"/>
                  </a:moveTo>
                  <a:lnTo>
                    <a:pt x="1032290" y="307689"/>
                  </a:lnTo>
                </a:path>
                <a:path w="1032510" h="769619">
                  <a:moveTo>
                    <a:pt x="0" y="153844"/>
                  </a:moveTo>
                  <a:lnTo>
                    <a:pt x="1032290" y="153844"/>
                  </a:lnTo>
                </a:path>
              </a:pathLst>
            </a:custGeom>
            <a:ln w="4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55428" y="942136"/>
              <a:ext cx="938530" cy="381000"/>
            </a:xfrm>
            <a:custGeom>
              <a:avLst/>
              <a:gdLst/>
              <a:ahLst/>
              <a:cxnLst/>
              <a:rect l="l" t="t" r="r" b="b"/>
              <a:pathLst>
                <a:path w="938529" h="381000">
                  <a:moveTo>
                    <a:pt x="0" y="0"/>
                  </a:moveTo>
                  <a:lnTo>
                    <a:pt x="9479" y="7769"/>
                  </a:lnTo>
                  <a:lnTo>
                    <a:pt x="18958" y="15539"/>
                  </a:lnTo>
                  <a:lnTo>
                    <a:pt x="28437" y="23309"/>
                  </a:lnTo>
                  <a:lnTo>
                    <a:pt x="37917" y="31079"/>
                  </a:lnTo>
                  <a:lnTo>
                    <a:pt x="47396" y="38849"/>
                  </a:lnTo>
                  <a:lnTo>
                    <a:pt x="56875" y="46619"/>
                  </a:lnTo>
                  <a:lnTo>
                    <a:pt x="66354" y="54389"/>
                  </a:lnTo>
                  <a:lnTo>
                    <a:pt x="75834" y="62159"/>
                  </a:lnTo>
                  <a:lnTo>
                    <a:pt x="85313" y="69929"/>
                  </a:lnTo>
                  <a:lnTo>
                    <a:pt x="94792" y="77699"/>
                  </a:lnTo>
                  <a:lnTo>
                    <a:pt x="104271" y="85469"/>
                  </a:lnTo>
                  <a:lnTo>
                    <a:pt x="113751" y="93239"/>
                  </a:lnTo>
                  <a:lnTo>
                    <a:pt x="123230" y="101009"/>
                  </a:lnTo>
                  <a:lnTo>
                    <a:pt x="132709" y="108779"/>
                  </a:lnTo>
                  <a:lnTo>
                    <a:pt x="142188" y="116548"/>
                  </a:lnTo>
                  <a:lnTo>
                    <a:pt x="151668" y="124318"/>
                  </a:lnTo>
                  <a:lnTo>
                    <a:pt x="161147" y="132088"/>
                  </a:lnTo>
                  <a:lnTo>
                    <a:pt x="170626" y="139858"/>
                  </a:lnTo>
                  <a:lnTo>
                    <a:pt x="180105" y="147628"/>
                  </a:lnTo>
                  <a:lnTo>
                    <a:pt x="189585" y="155398"/>
                  </a:lnTo>
                  <a:lnTo>
                    <a:pt x="199064" y="163168"/>
                  </a:lnTo>
                  <a:lnTo>
                    <a:pt x="208543" y="170938"/>
                  </a:lnTo>
                  <a:lnTo>
                    <a:pt x="218022" y="178708"/>
                  </a:lnTo>
                  <a:lnTo>
                    <a:pt x="227502" y="186478"/>
                  </a:lnTo>
                  <a:lnTo>
                    <a:pt x="236981" y="194248"/>
                  </a:lnTo>
                  <a:lnTo>
                    <a:pt x="246460" y="202018"/>
                  </a:lnTo>
                  <a:lnTo>
                    <a:pt x="255939" y="209788"/>
                  </a:lnTo>
                  <a:lnTo>
                    <a:pt x="265419" y="217558"/>
                  </a:lnTo>
                  <a:lnTo>
                    <a:pt x="274898" y="225328"/>
                  </a:lnTo>
                  <a:lnTo>
                    <a:pt x="284377" y="233097"/>
                  </a:lnTo>
                  <a:lnTo>
                    <a:pt x="293856" y="240867"/>
                  </a:lnTo>
                  <a:lnTo>
                    <a:pt x="303336" y="248637"/>
                  </a:lnTo>
                  <a:lnTo>
                    <a:pt x="312815" y="256407"/>
                  </a:lnTo>
                  <a:lnTo>
                    <a:pt x="322294" y="264177"/>
                  </a:lnTo>
                  <a:lnTo>
                    <a:pt x="331773" y="271947"/>
                  </a:lnTo>
                  <a:lnTo>
                    <a:pt x="341253" y="279717"/>
                  </a:lnTo>
                  <a:lnTo>
                    <a:pt x="350732" y="287487"/>
                  </a:lnTo>
                  <a:lnTo>
                    <a:pt x="360211" y="295257"/>
                  </a:lnTo>
                  <a:lnTo>
                    <a:pt x="369690" y="303027"/>
                  </a:lnTo>
                  <a:lnTo>
                    <a:pt x="379170" y="310797"/>
                  </a:lnTo>
                  <a:lnTo>
                    <a:pt x="388649" y="318567"/>
                  </a:lnTo>
                  <a:lnTo>
                    <a:pt x="398128" y="326337"/>
                  </a:lnTo>
                  <a:lnTo>
                    <a:pt x="407607" y="334107"/>
                  </a:lnTo>
                  <a:lnTo>
                    <a:pt x="417087" y="341876"/>
                  </a:lnTo>
                  <a:lnTo>
                    <a:pt x="426566" y="349646"/>
                  </a:lnTo>
                  <a:lnTo>
                    <a:pt x="436045" y="357416"/>
                  </a:lnTo>
                  <a:lnTo>
                    <a:pt x="445524" y="365186"/>
                  </a:lnTo>
                  <a:lnTo>
                    <a:pt x="455004" y="372956"/>
                  </a:lnTo>
                  <a:lnTo>
                    <a:pt x="464483" y="380726"/>
                  </a:lnTo>
                  <a:lnTo>
                    <a:pt x="473962" y="380726"/>
                  </a:lnTo>
                  <a:lnTo>
                    <a:pt x="483442" y="372956"/>
                  </a:lnTo>
                  <a:lnTo>
                    <a:pt x="492921" y="365186"/>
                  </a:lnTo>
                  <a:lnTo>
                    <a:pt x="502400" y="357416"/>
                  </a:lnTo>
                  <a:lnTo>
                    <a:pt x="511879" y="349646"/>
                  </a:lnTo>
                  <a:lnTo>
                    <a:pt x="521359" y="341876"/>
                  </a:lnTo>
                  <a:lnTo>
                    <a:pt x="530838" y="334107"/>
                  </a:lnTo>
                  <a:lnTo>
                    <a:pt x="540317" y="326337"/>
                  </a:lnTo>
                  <a:lnTo>
                    <a:pt x="549796" y="318567"/>
                  </a:lnTo>
                  <a:lnTo>
                    <a:pt x="559276" y="310797"/>
                  </a:lnTo>
                  <a:lnTo>
                    <a:pt x="568755" y="303027"/>
                  </a:lnTo>
                  <a:lnTo>
                    <a:pt x="578234" y="295257"/>
                  </a:lnTo>
                  <a:lnTo>
                    <a:pt x="587713" y="287487"/>
                  </a:lnTo>
                  <a:lnTo>
                    <a:pt x="597193" y="279717"/>
                  </a:lnTo>
                  <a:lnTo>
                    <a:pt x="606672" y="271947"/>
                  </a:lnTo>
                  <a:lnTo>
                    <a:pt x="616151" y="264177"/>
                  </a:lnTo>
                  <a:lnTo>
                    <a:pt x="625630" y="256407"/>
                  </a:lnTo>
                  <a:lnTo>
                    <a:pt x="635110" y="248637"/>
                  </a:lnTo>
                  <a:lnTo>
                    <a:pt x="644589" y="240867"/>
                  </a:lnTo>
                  <a:lnTo>
                    <a:pt x="654068" y="233097"/>
                  </a:lnTo>
                  <a:lnTo>
                    <a:pt x="663547" y="225328"/>
                  </a:lnTo>
                  <a:lnTo>
                    <a:pt x="673027" y="217558"/>
                  </a:lnTo>
                  <a:lnTo>
                    <a:pt x="682506" y="209788"/>
                  </a:lnTo>
                  <a:lnTo>
                    <a:pt x="691985" y="202018"/>
                  </a:lnTo>
                  <a:lnTo>
                    <a:pt x="701464" y="194248"/>
                  </a:lnTo>
                  <a:lnTo>
                    <a:pt x="710944" y="186478"/>
                  </a:lnTo>
                  <a:lnTo>
                    <a:pt x="720423" y="178708"/>
                  </a:lnTo>
                  <a:lnTo>
                    <a:pt x="729902" y="170938"/>
                  </a:lnTo>
                  <a:lnTo>
                    <a:pt x="739381" y="163168"/>
                  </a:lnTo>
                  <a:lnTo>
                    <a:pt x="748861" y="155398"/>
                  </a:lnTo>
                  <a:lnTo>
                    <a:pt x="758340" y="147628"/>
                  </a:lnTo>
                  <a:lnTo>
                    <a:pt x="767819" y="139858"/>
                  </a:lnTo>
                  <a:lnTo>
                    <a:pt x="777298" y="132088"/>
                  </a:lnTo>
                  <a:lnTo>
                    <a:pt x="786778" y="124318"/>
                  </a:lnTo>
                  <a:lnTo>
                    <a:pt x="796257" y="116548"/>
                  </a:lnTo>
                  <a:lnTo>
                    <a:pt x="805736" y="108779"/>
                  </a:lnTo>
                  <a:lnTo>
                    <a:pt x="815215" y="101009"/>
                  </a:lnTo>
                  <a:lnTo>
                    <a:pt x="824695" y="93239"/>
                  </a:lnTo>
                  <a:lnTo>
                    <a:pt x="834174" y="85469"/>
                  </a:lnTo>
                  <a:lnTo>
                    <a:pt x="843653" y="77699"/>
                  </a:lnTo>
                  <a:lnTo>
                    <a:pt x="853132" y="69929"/>
                  </a:lnTo>
                  <a:lnTo>
                    <a:pt x="862612" y="62159"/>
                  </a:lnTo>
                  <a:lnTo>
                    <a:pt x="872091" y="54389"/>
                  </a:lnTo>
                  <a:lnTo>
                    <a:pt x="881570" y="46619"/>
                  </a:lnTo>
                  <a:lnTo>
                    <a:pt x="891049" y="38849"/>
                  </a:lnTo>
                  <a:lnTo>
                    <a:pt x="900529" y="31079"/>
                  </a:lnTo>
                  <a:lnTo>
                    <a:pt x="910008" y="23309"/>
                  </a:lnTo>
                  <a:lnTo>
                    <a:pt x="919487" y="15539"/>
                  </a:lnTo>
                  <a:lnTo>
                    <a:pt x="928967" y="7769"/>
                  </a:lnTo>
                  <a:lnTo>
                    <a:pt x="938446" y="0"/>
                  </a:lnTo>
                </a:path>
              </a:pathLst>
            </a:custGeom>
            <a:ln w="9249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324065" y="1331378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312346" y="1373997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09">
                <a:moveTo>
                  <a:pt x="21829" y="0"/>
                </a:moveTo>
                <a:lnTo>
                  <a:pt x="0" y="0"/>
                </a:lnTo>
                <a:lnTo>
                  <a:pt x="0" y="3792"/>
                </a:lnTo>
                <a:lnTo>
                  <a:pt x="21829" y="3792"/>
                </a:lnTo>
                <a:lnTo>
                  <a:pt x="21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546958" y="1373997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09">
                <a:moveTo>
                  <a:pt x="21829" y="0"/>
                </a:moveTo>
                <a:lnTo>
                  <a:pt x="0" y="0"/>
                </a:lnTo>
                <a:lnTo>
                  <a:pt x="0" y="3792"/>
                </a:lnTo>
                <a:lnTo>
                  <a:pt x="21829" y="3792"/>
                </a:lnTo>
                <a:lnTo>
                  <a:pt x="21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558677" y="1331378"/>
            <a:ext cx="311150" cy="2076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70"/>
              </a:lnSpc>
              <a:spcBef>
                <a:spcPts val="130"/>
              </a:spcBef>
              <a:tabLst>
                <a:tab pos="233679" algn="l"/>
              </a:tabLst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  <a:p>
            <a:pPr marL="200660">
              <a:lnSpc>
                <a:spcPts val="1030"/>
              </a:lnSpc>
            </a:pPr>
            <a:r>
              <a:rPr sz="900" spc="25" dirty="0">
                <a:latin typeface="Lucida Sans Unicode"/>
                <a:cs typeface="Lucida Sans Unicode"/>
              </a:rPr>
              <a:t>r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14404" y="1331378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49016" y="1331378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99115" y="1282455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99115" y="1128610"/>
            <a:ext cx="89535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99115" y="974765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99115" y="820921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99115" y="667076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99115" y="513231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89542" y="577065"/>
            <a:ext cx="394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Lucida Sans Unicode"/>
                <a:cs typeface="Lucida Sans Unicode"/>
              </a:rPr>
              <a:t>z</a:t>
            </a:r>
            <a:r>
              <a:rPr sz="900" spc="-15" dirty="0">
                <a:latin typeface="Lucida Sans Unicode"/>
                <a:cs typeface="Lucida Sans Unicode"/>
              </a:rPr>
              <a:t> </a:t>
            </a:r>
            <a:r>
              <a:rPr sz="900" spc="-160" dirty="0">
                <a:latin typeface="Times New Roman"/>
                <a:cs typeface="Times New Roman"/>
              </a:rPr>
              <a:t>==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spc="-60" dirty="0">
                <a:latin typeface="Times New Roman"/>
                <a:cs typeface="Times New Roman"/>
              </a:rPr>
              <a:t>0</a:t>
            </a:r>
            <a:r>
              <a:rPr sz="900" spc="-60" dirty="0">
                <a:latin typeface="Lucida Sans Unicode"/>
                <a:cs typeface="Lucida Sans Unicode"/>
              </a:rPr>
              <a:t>.</a:t>
            </a:r>
            <a:r>
              <a:rPr sz="900" spc="-204" dirty="0">
                <a:latin typeface="Lucida Sans Unicode"/>
                <a:cs typeface="Lucida Sans Unicode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5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973501" y="557524"/>
            <a:ext cx="1032510" cy="772160"/>
            <a:chOff x="3973501" y="557524"/>
            <a:chExt cx="1032510" cy="772160"/>
          </a:xfrm>
        </p:grpSpPr>
        <p:sp>
          <p:nvSpPr>
            <p:cNvPr id="42" name="object 42"/>
            <p:cNvSpPr/>
            <p:nvPr/>
          </p:nvSpPr>
          <p:spPr>
            <a:xfrm>
              <a:off x="3973501" y="557524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1032290" y="0"/>
                  </a:moveTo>
                  <a:lnTo>
                    <a:pt x="0" y="0"/>
                  </a:lnTo>
                  <a:lnTo>
                    <a:pt x="0" y="769223"/>
                  </a:lnTo>
                  <a:lnTo>
                    <a:pt x="1032290" y="769223"/>
                  </a:lnTo>
                  <a:lnTo>
                    <a:pt x="1032290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973501" y="557524"/>
              <a:ext cx="1032510" cy="769620"/>
            </a:xfrm>
            <a:custGeom>
              <a:avLst/>
              <a:gdLst/>
              <a:ahLst/>
              <a:cxnLst/>
              <a:rect l="l" t="t" r="r" b="b"/>
              <a:pathLst>
                <a:path w="1032510" h="769619">
                  <a:moveTo>
                    <a:pt x="46922" y="769223"/>
                  </a:moveTo>
                  <a:lnTo>
                    <a:pt x="46922" y="0"/>
                  </a:lnTo>
                </a:path>
                <a:path w="1032510" h="769619">
                  <a:moveTo>
                    <a:pt x="281533" y="769223"/>
                  </a:moveTo>
                  <a:lnTo>
                    <a:pt x="281533" y="0"/>
                  </a:lnTo>
                </a:path>
                <a:path w="1032510" h="769619">
                  <a:moveTo>
                    <a:pt x="516145" y="769223"/>
                  </a:moveTo>
                  <a:lnTo>
                    <a:pt x="516145" y="0"/>
                  </a:lnTo>
                </a:path>
                <a:path w="1032510" h="769619">
                  <a:moveTo>
                    <a:pt x="750757" y="769223"/>
                  </a:moveTo>
                  <a:lnTo>
                    <a:pt x="750757" y="0"/>
                  </a:lnTo>
                </a:path>
                <a:path w="1032510" h="769619">
                  <a:moveTo>
                    <a:pt x="985368" y="769223"/>
                  </a:moveTo>
                  <a:lnTo>
                    <a:pt x="985368" y="0"/>
                  </a:lnTo>
                </a:path>
                <a:path w="1032510" h="769619">
                  <a:moveTo>
                    <a:pt x="0" y="615378"/>
                  </a:moveTo>
                  <a:lnTo>
                    <a:pt x="1032290" y="615378"/>
                  </a:lnTo>
                </a:path>
                <a:path w="1032510" h="769619">
                  <a:moveTo>
                    <a:pt x="0" y="461533"/>
                  </a:moveTo>
                  <a:lnTo>
                    <a:pt x="1032290" y="461533"/>
                  </a:lnTo>
                </a:path>
                <a:path w="1032510" h="769619">
                  <a:moveTo>
                    <a:pt x="0" y="307689"/>
                  </a:moveTo>
                  <a:lnTo>
                    <a:pt x="1032290" y="307689"/>
                  </a:lnTo>
                </a:path>
                <a:path w="1032510" h="769619">
                  <a:moveTo>
                    <a:pt x="0" y="153844"/>
                  </a:moveTo>
                  <a:lnTo>
                    <a:pt x="1032290" y="153844"/>
                  </a:lnTo>
                </a:path>
              </a:pathLst>
            </a:custGeom>
            <a:ln w="4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020423" y="749830"/>
              <a:ext cx="938530" cy="575310"/>
            </a:xfrm>
            <a:custGeom>
              <a:avLst/>
              <a:gdLst/>
              <a:ahLst/>
              <a:cxnLst/>
              <a:rect l="l" t="t" r="r" b="b"/>
              <a:pathLst>
                <a:path w="938529" h="575310">
                  <a:moveTo>
                    <a:pt x="0" y="0"/>
                  </a:moveTo>
                  <a:lnTo>
                    <a:pt x="9479" y="11654"/>
                  </a:lnTo>
                  <a:lnTo>
                    <a:pt x="18958" y="23309"/>
                  </a:lnTo>
                  <a:lnTo>
                    <a:pt x="28437" y="34964"/>
                  </a:lnTo>
                  <a:lnTo>
                    <a:pt x="37917" y="46619"/>
                  </a:lnTo>
                  <a:lnTo>
                    <a:pt x="47396" y="58274"/>
                  </a:lnTo>
                  <a:lnTo>
                    <a:pt x="56875" y="69929"/>
                  </a:lnTo>
                  <a:lnTo>
                    <a:pt x="66354" y="81584"/>
                  </a:lnTo>
                  <a:lnTo>
                    <a:pt x="75834" y="93239"/>
                  </a:lnTo>
                  <a:lnTo>
                    <a:pt x="85313" y="104894"/>
                  </a:lnTo>
                  <a:lnTo>
                    <a:pt x="94792" y="116548"/>
                  </a:lnTo>
                  <a:lnTo>
                    <a:pt x="104271" y="128203"/>
                  </a:lnTo>
                  <a:lnTo>
                    <a:pt x="113751" y="139858"/>
                  </a:lnTo>
                  <a:lnTo>
                    <a:pt x="123230" y="151513"/>
                  </a:lnTo>
                  <a:lnTo>
                    <a:pt x="132709" y="163168"/>
                  </a:lnTo>
                  <a:lnTo>
                    <a:pt x="142188" y="174823"/>
                  </a:lnTo>
                  <a:lnTo>
                    <a:pt x="151668" y="186478"/>
                  </a:lnTo>
                  <a:lnTo>
                    <a:pt x="161147" y="198133"/>
                  </a:lnTo>
                  <a:lnTo>
                    <a:pt x="170626" y="209788"/>
                  </a:lnTo>
                  <a:lnTo>
                    <a:pt x="180105" y="221443"/>
                  </a:lnTo>
                  <a:lnTo>
                    <a:pt x="189585" y="233097"/>
                  </a:lnTo>
                  <a:lnTo>
                    <a:pt x="199064" y="244752"/>
                  </a:lnTo>
                  <a:lnTo>
                    <a:pt x="208543" y="256407"/>
                  </a:lnTo>
                  <a:lnTo>
                    <a:pt x="218022" y="268062"/>
                  </a:lnTo>
                  <a:lnTo>
                    <a:pt x="227502" y="279717"/>
                  </a:lnTo>
                  <a:lnTo>
                    <a:pt x="236981" y="291372"/>
                  </a:lnTo>
                  <a:lnTo>
                    <a:pt x="246460" y="303027"/>
                  </a:lnTo>
                  <a:lnTo>
                    <a:pt x="255939" y="314682"/>
                  </a:lnTo>
                  <a:lnTo>
                    <a:pt x="265419" y="326337"/>
                  </a:lnTo>
                  <a:lnTo>
                    <a:pt x="274898" y="337992"/>
                  </a:lnTo>
                  <a:lnTo>
                    <a:pt x="284377" y="349646"/>
                  </a:lnTo>
                  <a:lnTo>
                    <a:pt x="293856" y="361301"/>
                  </a:lnTo>
                  <a:lnTo>
                    <a:pt x="303336" y="372956"/>
                  </a:lnTo>
                  <a:lnTo>
                    <a:pt x="312815" y="384611"/>
                  </a:lnTo>
                  <a:lnTo>
                    <a:pt x="322294" y="396266"/>
                  </a:lnTo>
                  <a:lnTo>
                    <a:pt x="331773" y="407921"/>
                  </a:lnTo>
                  <a:lnTo>
                    <a:pt x="341253" y="419576"/>
                  </a:lnTo>
                  <a:lnTo>
                    <a:pt x="350732" y="431231"/>
                  </a:lnTo>
                  <a:lnTo>
                    <a:pt x="360211" y="442886"/>
                  </a:lnTo>
                  <a:lnTo>
                    <a:pt x="369690" y="454540"/>
                  </a:lnTo>
                  <a:lnTo>
                    <a:pt x="379170" y="466195"/>
                  </a:lnTo>
                  <a:lnTo>
                    <a:pt x="388649" y="477850"/>
                  </a:lnTo>
                  <a:lnTo>
                    <a:pt x="398128" y="489505"/>
                  </a:lnTo>
                  <a:lnTo>
                    <a:pt x="407607" y="501160"/>
                  </a:lnTo>
                  <a:lnTo>
                    <a:pt x="417087" y="512815"/>
                  </a:lnTo>
                  <a:lnTo>
                    <a:pt x="426566" y="524470"/>
                  </a:lnTo>
                  <a:lnTo>
                    <a:pt x="436045" y="536125"/>
                  </a:lnTo>
                  <a:lnTo>
                    <a:pt x="445524" y="547780"/>
                  </a:lnTo>
                  <a:lnTo>
                    <a:pt x="455004" y="559435"/>
                  </a:lnTo>
                  <a:lnTo>
                    <a:pt x="464483" y="571089"/>
                  </a:lnTo>
                  <a:lnTo>
                    <a:pt x="473962" y="574974"/>
                  </a:lnTo>
                  <a:lnTo>
                    <a:pt x="483442" y="571089"/>
                  </a:lnTo>
                  <a:lnTo>
                    <a:pt x="492921" y="567204"/>
                  </a:lnTo>
                  <a:lnTo>
                    <a:pt x="502400" y="563320"/>
                  </a:lnTo>
                  <a:lnTo>
                    <a:pt x="511879" y="559435"/>
                  </a:lnTo>
                  <a:lnTo>
                    <a:pt x="521359" y="555550"/>
                  </a:lnTo>
                  <a:lnTo>
                    <a:pt x="530838" y="551665"/>
                  </a:lnTo>
                  <a:lnTo>
                    <a:pt x="540317" y="547780"/>
                  </a:lnTo>
                  <a:lnTo>
                    <a:pt x="549796" y="543895"/>
                  </a:lnTo>
                  <a:lnTo>
                    <a:pt x="559276" y="540010"/>
                  </a:lnTo>
                  <a:lnTo>
                    <a:pt x="568755" y="536125"/>
                  </a:lnTo>
                  <a:lnTo>
                    <a:pt x="578234" y="532240"/>
                  </a:lnTo>
                  <a:lnTo>
                    <a:pt x="587713" y="528355"/>
                  </a:lnTo>
                  <a:lnTo>
                    <a:pt x="597193" y="524470"/>
                  </a:lnTo>
                  <a:lnTo>
                    <a:pt x="606672" y="520585"/>
                  </a:lnTo>
                  <a:lnTo>
                    <a:pt x="616151" y="516700"/>
                  </a:lnTo>
                  <a:lnTo>
                    <a:pt x="625630" y="512815"/>
                  </a:lnTo>
                  <a:lnTo>
                    <a:pt x="635110" y="508930"/>
                  </a:lnTo>
                  <a:lnTo>
                    <a:pt x="644589" y="505045"/>
                  </a:lnTo>
                  <a:lnTo>
                    <a:pt x="654068" y="501160"/>
                  </a:lnTo>
                  <a:lnTo>
                    <a:pt x="663547" y="497275"/>
                  </a:lnTo>
                  <a:lnTo>
                    <a:pt x="673027" y="493390"/>
                  </a:lnTo>
                  <a:lnTo>
                    <a:pt x="682506" y="489505"/>
                  </a:lnTo>
                  <a:lnTo>
                    <a:pt x="691985" y="485620"/>
                  </a:lnTo>
                  <a:lnTo>
                    <a:pt x="701464" y="481735"/>
                  </a:lnTo>
                  <a:lnTo>
                    <a:pt x="710944" y="477850"/>
                  </a:lnTo>
                  <a:lnTo>
                    <a:pt x="720423" y="473965"/>
                  </a:lnTo>
                  <a:lnTo>
                    <a:pt x="729902" y="470080"/>
                  </a:lnTo>
                  <a:lnTo>
                    <a:pt x="739381" y="466195"/>
                  </a:lnTo>
                  <a:lnTo>
                    <a:pt x="748861" y="462310"/>
                  </a:lnTo>
                  <a:lnTo>
                    <a:pt x="758340" y="458425"/>
                  </a:lnTo>
                  <a:lnTo>
                    <a:pt x="767819" y="454540"/>
                  </a:lnTo>
                  <a:lnTo>
                    <a:pt x="777298" y="450656"/>
                  </a:lnTo>
                  <a:lnTo>
                    <a:pt x="786778" y="446771"/>
                  </a:lnTo>
                  <a:lnTo>
                    <a:pt x="796257" y="442886"/>
                  </a:lnTo>
                  <a:lnTo>
                    <a:pt x="805736" y="439001"/>
                  </a:lnTo>
                  <a:lnTo>
                    <a:pt x="815215" y="435116"/>
                  </a:lnTo>
                  <a:lnTo>
                    <a:pt x="824695" y="431231"/>
                  </a:lnTo>
                  <a:lnTo>
                    <a:pt x="834174" y="427346"/>
                  </a:lnTo>
                  <a:lnTo>
                    <a:pt x="843653" y="423461"/>
                  </a:lnTo>
                  <a:lnTo>
                    <a:pt x="853132" y="419576"/>
                  </a:lnTo>
                  <a:lnTo>
                    <a:pt x="862612" y="415691"/>
                  </a:lnTo>
                  <a:lnTo>
                    <a:pt x="872091" y="411806"/>
                  </a:lnTo>
                  <a:lnTo>
                    <a:pt x="881570" y="407921"/>
                  </a:lnTo>
                  <a:lnTo>
                    <a:pt x="891049" y="404036"/>
                  </a:lnTo>
                  <a:lnTo>
                    <a:pt x="900529" y="400151"/>
                  </a:lnTo>
                  <a:lnTo>
                    <a:pt x="910008" y="396266"/>
                  </a:lnTo>
                  <a:lnTo>
                    <a:pt x="919487" y="392381"/>
                  </a:lnTo>
                  <a:lnTo>
                    <a:pt x="928967" y="388496"/>
                  </a:lnTo>
                  <a:lnTo>
                    <a:pt x="938446" y="384611"/>
                  </a:lnTo>
                </a:path>
              </a:pathLst>
            </a:custGeom>
            <a:ln w="9249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989061" y="1331378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977342" y="1373997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09">
                <a:moveTo>
                  <a:pt x="21829" y="0"/>
                </a:moveTo>
                <a:lnTo>
                  <a:pt x="0" y="0"/>
                </a:lnTo>
                <a:lnTo>
                  <a:pt x="0" y="3792"/>
                </a:lnTo>
                <a:lnTo>
                  <a:pt x="21829" y="3792"/>
                </a:lnTo>
                <a:lnTo>
                  <a:pt x="21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211953" y="1373997"/>
            <a:ext cx="22225" cy="3810"/>
          </a:xfrm>
          <a:custGeom>
            <a:avLst/>
            <a:gdLst/>
            <a:ahLst/>
            <a:cxnLst/>
            <a:rect l="l" t="t" r="r" b="b"/>
            <a:pathLst>
              <a:path w="22225" h="3809">
                <a:moveTo>
                  <a:pt x="21829" y="0"/>
                </a:moveTo>
                <a:lnTo>
                  <a:pt x="0" y="0"/>
                </a:lnTo>
                <a:lnTo>
                  <a:pt x="0" y="3792"/>
                </a:lnTo>
                <a:lnTo>
                  <a:pt x="21829" y="3792"/>
                </a:lnTo>
                <a:lnTo>
                  <a:pt x="21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223672" y="1331378"/>
            <a:ext cx="311150" cy="2076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70"/>
              </a:lnSpc>
              <a:spcBef>
                <a:spcPts val="130"/>
              </a:spcBef>
              <a:tabLst>
                <a:tab pos="233679" algn="l"/>
              </a:tabLst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r>
              <a:rPr sz="3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  <a:p>
            <a:pPr marL="200660">
              <a:lnSpc>
                <a:spcPts val="1030"/>
              </a:lnSpc>
            </a:pPr>
            <a:r>
              <a:rPr sz="900" spc="25" dirty="0">
                <a:latin typeface="Lucida Sans Unicode"/>
                <a:cs typeface="Lucida Sans Unicode"/>
              </a:rPr>
              <a:t>r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49" name="object 49"/>
          <p:cNvSpPr txBox="1"/>
          <p:nvPr/>
        </p:nvSpPr>
        <p:spPr>
          <a:xfrm>
            <a:off x="4679400" y="1331378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0.5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14011" y="1331378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864111" y="1282455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864111" y="1128610"/>
            <a:ext cx="89535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864111" y="974765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864111" y="820921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864111" y="667076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864111" y="513231"/>
            <a:ext cx="90170" cy="83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" spc="-6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3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50" spc="-3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225290" y="577065"/>
            <a:ext cx="452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Lucida Sans Unicode"/>
                <a:cs typeface="Lucida Sans Unicode"/>
              </a:rPr>
              <a:t>z</a:t>
            </a:r>
            <a:r>
              <a:rPr sz="900" spc="-15" dirty="0">
                <a:latin typeface="Lucida Sans Unicode"/>
                <a:cs typeface="Lucida Sans Unicode"/>
              </a:rPr>
              <a:t> </a:t>
            </a:r>
            <a:r>
              <a:rPr sz="900" spc="-160" dirty="0">
                <a:latin typeface="Times New Roman"/>
                <a:cs typeface="Times New Roman"/>
              </a:rPr>
              <a:t>==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spc="-60" dirty="0">
                <a:latin typeface="Times New Roman"/>
                <a:cs typeface="Times New Roman"/>
              </a:rPr>
              <a:t>0</a:t>
            </a:r>
            <a:r>
              <a:rPr sz="900" spc="-60" dirty="0">
                <a:latin typeface="Lucida Sans Unicode"/>
                <a:cs typeface="Lucida Sans Unicode"/>
              </a:rPr>
              <a:t>.</a:t>
            </a:r>
            <a:r>
              <a:rPr sz="900" spc="-204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75</a:t>
            </a:r>
            <a:endParaRPr sz="9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78D1139-D0DD-27F6-6E41-DCE4544B682A}"/>
                  </a:ext>
                </a:extLst>
              </p:cNvPr>
              <p:cNvSpPr txBox="1"/>
              <p:nvPr/>
            </p:nvSpPr>
            <p:spPr>
              <a:xfrm>
                <a:off x="51766" y="1661635"/>
                <a:ext cx="5864222" cy="1484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000" dirty="0"/>
                  <a:t>► tilted absolute penalty, 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en-US" sz="100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000" dirty="0"/>
                  <a:t>, is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000" i="0">
                              <a:latin typeface="Cambria Math" panose="02040503050406030204" pitchFamily="18" charset="0"/>
                            </a:rPr>
                            <m:t>tlt</m:t>
                          </m:r>
                        </m:sup>
                      </m:sSub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10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1000" i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sz="1000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i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10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10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1000" i="0"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for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r>
                  <a:rPr lang="en-US" sz="1000" dirty="0"/>
                  <a:t>, same as absolute penalty (scaled by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000" dirty="0"/>
                  <a:t>); same penalty for under-estimating and over-estimating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for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&gt;1/2</m:t>
                    </m:r>
                  </m:oMath>
                </a14:m>
                <a:r>
                  <a:rPr lang="en-US" sz="1000" dirty="0"/>
                  <a:t>, worse (higher penalty) to under-estimate than over-estimate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for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&lt;1/2</m:t>
                    </m:r>
                  </m:oMath>
                </a14:m>
                <a:r>
                  <a:rPr lang="en-US" sz="1000" dirty="0"/>
                  <a:t>, worse (higher penalty) to over-estimate than under-estimate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78D1139-D0DD-27F6-6E41-DCE4544B6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6" y="1661635"/>
                <a:ext cx="5864222" cy="1484317"/>
              </a:xfrm>
              <a:prstGeom prst="rect">
                <a:avLst/>
              </a:prstGeom>
              <a:blipFill>
                <a:blip r:embed="rId2"/>
                <a:stretch>
                  <a:fillRect t="-41564" b="-14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2D70AC0-1C25-D4F6-4FD7-E7F83CF3A944}"/>
                  </a:ext>
                </a:extLst>
              </p:cNvPr>
              <p:cNvSpPr txBox="1"/>
              <p:nvPr/>
            </p:nvSpPr>
            <p:spPr>
              <a:xfrm>
                <a:off x="38390" y="831274"/>
                <a:ext cx="449806" cy="2530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000" i="0">
                              <a:latin typeface="Cambria Math" panose="02040503050406030204" pitchFamily="18" charset="0"/>
                            </a:rPr>
                            <m:t>tlt</m:t>
                          </m:r>
                        </m:sup>
                      </m:sSub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2D70AC0-1C25-D4F6-4FD7-E7F83CF3A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0" y="831274"/>
                <a:ext cx="449806" cy="2530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5C2D85E-F54D-B3C0-8B1A-BFE7BBB15675}"/>
                  </a:ext>
                </a:extLst>
              </p:cNvPr>
              <p:cNvSpPr txBox="1"/>
              <p:nvPr/>
            </p:nvSpPr>
            <p:spPr>
              <a:xfrm>
                <a:off x="1759533" y="814286"/>
                <a:ext cx="449806" cy="2530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000" i="0">
                              <a:latin typeface="Cambria Math" panose="02040503050406030204" pitchFamily="18" charset="0"/>
                            </a:rPr>
                            <m:t>tlt</m:t>
                          </m:r>
                        </m:sup>
                      </m:sSub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5C2D85E-F54D-B3C0-8B1A-BFE7BBB15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533" y="814286"/>
                <a:ext cx="449806" cy="2530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A3E8C38-DE2C-996A-7AF9-43A9DE3553D3}"/>
                  </a:ext>
                </a:extLst>
              </p:cNvPr>
              <p:cNvSpPr txBox="1"/>
              <p:nvPr/>
            </p:nvSpPr>
            <p:spPr>
              <a:xfrm>
                <a:off x="3429489" y="820921"/>
                <a:ext cx="449806" cy="2530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000" i="0">
                              <a:latin typeface="Cambria Math" panose="02040503050406030204" pitchFamily="18" charset="0"/>
                            </a:rPr>
                            <m:t>tlt</m:t>
                          </m:r>
                        </m:sup>
                      </m:sSub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A3E8C38-DE2C-996A-7AF9-43A9DE355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489" y="820921"/>
                <a:ext cx="449806" cy="2530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30563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Predictors and choice of penalty 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2100" y="968720"/>
            <a:ext cx="4881245" cy="13074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95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900" dirty="0">
                <a:latin typeface="Arial MT"/>
                <a:cs typeface="Arial MT"/>
              </a:rPr>
              <a:t>penalty function expresses how you feel about large, small, positive, or negative prediction errors</a:t>
            </a:r>
          </a:p>
          <a:p>
            <a:pPr marL="152400" indent="-139700">
              <a:lnSpc>
                <a:spcPct val="100000"/>
              </a:lnSpc>
              <a:spcBef>
                <a:spcPts val="865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900" dirty="0">
                <a:latin typeface="Arial MT"/>
                <a:cs typeface="Arial MT"/>
              </a:rPr>
              <a:t>different choices of penalty function yield different predictor parameters</a:t>
            </a:r>
          </a:p>
          <a:p>
            <a:pPr marL="152400" indent="-139700">
              <a:lnSpc>
                <a:spcPct val="100000"/>
              </a:lnSpc>
              <a:spcBef>
                <a:spcPts val="860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900" dirty="0">
                <a:latin typeface="Arial MT"/>
                <a:cs typeface="Arial MT"/>
              </a:rPr>
              <a:t>choice of penalty function </a:t>
            </a:r>
            <a:r>
              <a:rPr sz="900" i="1" dirty="0">
                <a:solidFill>
                  <a:srgbClr val="990000"/>
                </a:solidFill>
                <a:latin typeface="Arial"/>
                <a:cs typeface="Arial"/>
              </a:rPr>
              <a:t>shapes </a:t>
            </a:r>
            <a:r>
              <a:rPr sz="900" dirty="0">
                <a:latin typeface="Arial MT"/>
                <a:cs typeface="Arial MT"/>
              </a:rPr>
              <a:t>the histogram of prediction errors, </a:t>
            </a:r>
            <a:r>
              <a:rPr sz="900" i="1" dirty="0">
                <a:latin typeface="Arial"/>
                <a:cs typeface="Arial"/>
              </a:rPr>
              <a:t>i.e.</a:t>
            </a:r>
            <a:r>
              <a:rPr sz="900" dirty="0">
                <a:latin typeface="Arial MT"/>
                <a:cs typeface="Arial MT"/>
              </a:rPr>
              <a:t>,</a:t>
            </a:r>
          </a:p>
          <a:p>
            <a:pPr marL="2483485">
              <a:lnSpc>
                <a:spcPts val="370"/>
              </a:lnSpc>
              <a:spcBef>
                <a:spcPts val="785"/>
              </a:spcBef>
              <a:tabLst>
                <a:tab pos="2854325" algn="l"/>
              </a:tabLst>
            </a:pPr>
            <a:r>
              <a:rPr sz="550" dirty="0">
                <a:latin typeface="Arial MT"/>
                <a:cs typeface="Arial MT"/>
              </a:rPr>
              <a:t>1	</a:t>
            </a:r>
            <a:r>
              <a:rPr lang="en-US" sz="550" dirty="0">
                <a:latin typeface="Lucida Sans Unicode"/>
                <a:cs typeface="Lucida Sans Unicode"/>
              </a:rPr>
              <a:t>n</a:t>
            </a:r>
            <a:endParaRPr sz="550" dirty="0">
              <a:latin typeface="Lucida Sans Unicode"/>
              <a:cs typeface="Lucida Sans Unicode"/>
            </a:endParaRPr>
          </a:p>
          <a:p>
            <a:pPr marL="396875" algn="ctr">
              <a:lnSpc>
                <a:spcPts val="790"/>
              </a:lnSpc>
            </a:pPr>
            <a:r>
              <a:rPr sz="900" dirty="0">
                <a:latin typeface="Lucida Sans Unicode"/>
                <a:cs typeface="Lucida Sans Unicode"/>
              </a:rPr>
              <a:t>r , . . . , r</a:t>
            </a:r>
          </a:p>
          <a:p>
            <a:pPr marL="154305">
              <a:lnSpc>
                <a:spcPct val="100000"/>
              </a:lnSpc>
              <a:spcBef>
                <a:spcPts val="860"/>
              </a:spcBef>
            </a:pPr>
            <a:r>
              <a:rPr sz="900" dirty="0">
                <a:latin typeface="Arial MT"/>
                <a:cs typeface="Arial MT"/>
              </a:rPr>
              <a:t>(usually divided into bins and displayed as bar graph distribution)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733081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Histogram of residuals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2553" y="294193"/>
            <a:ext cx="2153285" cy="779145"/>
            <a:chOff x="462553" y="294193"/>
            <a:chExt cx="2153285" cy="779145"/>
          </a:xfrm>
        </p:grpSpPr>
        <p:sp>
          <p:nvSpPr>
            <p:cNvPr id="4" name="object 4"/>
            <p:cNvSpPr/>
            <p:nvPr/>
          </p:nvSpPr>
          <p:spPr>
            <a:xfrm>
              <a:off x="469213" y="300853"/>
              <a:ext cx="2139950" cy="765810"/>
            </a:xfrm>
            <a:custGeom>
              <a:avLst/>
              <a:gdLst/>
              <a:ahLst/>
              <a:cxnLst/>
              <a:rect l="l" t="t" r="r" b="b"/>
              <a:pathLst>
                <a:path w="2139950" h="765810">
                  <a:moveTo>
                    <a:pt x="2139593" y="0"/>
                  </a:moveTo>
                  <a:lnTo>
                    <a:pt x="0" y="0"/>
                  </a:lnTo>
                  <a:lnTo>
                    <a:pt x="0" y="765634"/>
                  </a:lnTo>
                  <a:lnTo>
                    <a:pt x="2139593" y="765634"/>
                  </a:lnTo>
                  <a:lnTo>
                    <a:pt x="2139593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9213" y="300853"/>
              <a:ext cx="2139950" cy="765810"/>
            </a:xfrm>
            <a:custGeom>
              <a:avLst/>
              <a:gdLst/>
              <a:ahLst/>
              <a:cxnLst/>
              <a:rect l="l" t="t" r="r" b="b"/>
              <a:pathLst>
                <a:path w="2139950" h="765810">
                  <a:moveTo>
                    <a:pt x="0" y="765634"/>
                  </a:moveTo>
                  <a:lnTo>
                    <a:pt x="0" y="0"/>
                  </a:lnTo>
                </a:path>
                <a:path w="2139950" h="765810">
                  <a:moveTo>
                    <a:pt x="356598" y="765634"/>
                  </a:moveTo>
                  <a:lnTo>
                    <a:pt x="356598" y="0"/>
                  </a:lnTo>
                </a:path>
                <a:path w="2139950" h="765810">
                  <a:moveTo>
                    <a:pt x="713197" y="765634"/>
                  </a:moveTo>
                  <a:lnTo>
                    <a:pt x="713197" y="0"/>
                  </a:lnTo>
                </a:path>
                <a:path w="2139950" h="765810">
                  <a:moveTo>
                    <a:pt x="1069796" y="765634"/>
                  </a:moveTo>
                  <a:lnTo>
                    <a:pt x="1069796" y="0"/>
                  </a:lnTo>
                </a:path>
                <a:path w="2139950" h="765810">
                  <a:moveTo>
                    <a:pt x="1426395" y="765634"/>
                  </a:moveTo>
                  <a:lnTo>
                    <a:pt x="1426395" y="0"/>
                  </a:lnTo>
                </a:path>
                <a:path w="2139950" h="765810">
                  <a:moveTo>
                    <a:pt x="1782994" y="765634"/>
                  </a:moveTo>
                  <a:lnTo>
                    <a:pt x="1782994" y="0"/>
                  </a:lnTo>
                </a:path>
                <a:path w="2139950" h="765810">
                  <a:moveTo>
                    <a:pt x="2139593" y="765634"/>
                  </a:moveTo>
                  <a:lnTo>
                    <a:pt x="2139593" y="0"/>
                  </a:lnTo>
                </a:path>
                <a:path w="2139950" h="765810">
                  <a:moveTo>
                    <a:pt x="0" y="765634"/>
                  </a:moveTo>
                  <a:lnTo>
                    <a:pt x="2139593" y="765634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9213" y="683670"/>
              <a:ext cx="2139950" cy="191770"/>
            </a:xfrm>
            <a:custGeom>
              <a:avLst/>
              <a:gdLst/>
              <a:ahLst/>
              <a:cxnLst/>
              <a:rect l="l" t="t" r="r" b="b"/>
              <a:pathLst>
                <a:path w="2139950" h="191769">
                  <a:moveTo>
                    <a:pt x="0" y="191408"/>
                  </a:moveTo>
                  <a:lnTo>
                    <a:pt x="855837" y="191408"/>
                  </a:lnTo>
                </a:path>
                <a:path w="2139950" h="191769">
                  <a:moveTo>
                    <a:pt x="1283756" y="191408"/>
                  </a:moveTo>
                  <a:lnTo>
                    <a:pt x="2139593" y="191408"/>
                  </a:lnTo>
                </a:path>
                <a:path w="2139950" h="191769">
                  <a:moveTo>
                    <a:pt x="0" y="0"/>
                  </a:moveTo>
                  <a:lnTo>
                    <a:pt x="927157" y="0"/>
                  </a:lnTo>
                </a:path>
                <a:path w="2139950" h="191769">
                  <a:moveTo>
                    <a:pt x="998477" y="0"/>
                  </a:moveTo>
                  <a:lnTo>
                    <a:pt x="1141116" y="0"/>
                  </a:lnTo>
                </a:path>
                <a:path w="2139950" h="191769">
                  <a:moveTo>
                    <a:pt x="1212436" y="0"/>
                  </a:moveTo>
                  <a:lnTo>
                    <a:pt x="2139593" y="0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213" y="300853"/>
              <a:ext cx="2139950" cy="191770"/>
            </a:xfrm>
            <a:custGeom>
              <a:avLst/>
              <a:gdLst/>
              <a:ahLst/>
              <a:cxnLst/>
              <a:rect l="l" t="t" r="r" b="b"/>
              <a:pathLst>
                <a:path w="2139950" h="191770">
                  <a:moveTo>
                    <a:pt x="0" y="191408"/>
                  </a:moveTo>
                  <a:lnTo>
                    <a:pt x="2139593" y="191408"/>
                  </a:lnTo>
                </a:path>
                <a:path w="2139950" h="191770">
                  <a:moveTo>
                    <a:pt x="0" y="0"/>
                  </a:moveTo>
                  <a:lnTo>
                    <a:pt x="2139593" y="0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3171" y="1047356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4">
                  <a:moveTo>
                    <a:pt x="71310" y="0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71310" y="19138"/>
                  </a:lnTo>
                  <a:lnTo>
                    <a:pt x="7131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3172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4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7128" y="1047356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4">
                  <a:moveTo>
                    <a:pt x="71323" y="0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71323" y="19138"/>
                  </a:lnTo>
                  <a:lnTo>
                    <a:pt x="71323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7132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4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8451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4">
                  <a:moveTo>
                    <a:pt x="71319" y="0"/>
                  </a:moveTo>
                  <a:lnTo>
                    <a:pt x="0" y="0"/>
                  </a:lnTo>
                  <a:lnTo>
                    <a:pt x="0" y="19140"/>
                  </a:lnTo>
                  <a:lnTo>
                    <a:pt x="71319" y="1914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8451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4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39771" y="1009065"/>
              <a:ext cx="71755" cy="57785"/>
            </a:xfrm>
            <a:custGeom>
              <a:avLst/>
              <a:gdLst/>
              <a:ahLst/>
              <a:cxnLst/>
              <a:rect l="l" t="t" r="r" b="b"/>
              <a:pathLst>
                <a:path w="71755" h="57784">
                  <a:moveTo>
                    <a:pt x="71319" y="0"/>
                  </a:moveTo>
                  <a:lnTo>
                    <a:pt x="0" y="0"/>
                  </a:lnTo>
                  <a:lnTo>
                    <a:pt x="0" y="57422"/>
                  </a:lnTo>
                  <a:lnTo>
                    <a:pt x="71319" y="57422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39771" y="1009065"/>
              <a:ext cx="71755" cy="57785"/>
            </a:xfrm>
            <a:custGeom>
              <a:avLst/>
              <a:gdLst/>
              <a:ahLst/>
              <a:cxnLst/>
              <a:rect l="l" t="t" r="r" b="b"/>
              <a:pathLst>
                <a:path w="71755" h="57784">
                  <a:moveTo>
                    <a:pt x="0" y="57422"/>
                  </a:moveTo>
                  <a:lnTo>
                    <a:pt x="71319" y="57422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5742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1091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4">
                  <a:moveTo>
                    <a:pt x="71319" y="0"/>
                  </a:moveTo>
                  <a:lnTo>
                    <a:pt x="0" y="0"/>
                  </a:lnTo>
                  <a:lnTo>
                    <a:pt x="0" y="19140"/>
                  </a:lnTo>
                  <a:lnTo>
                    <a:pt x="71319" y="1914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11091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4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82411" y="894220"/>
              <a:ext cx="71755" cy="172720"/>
            </a:xfrm>
            <a:custGeom>
              <a:avLst/>
              <a:gdLst/>
              <a:ahLst/>
              <a:cxnLst/>
              <a:rect l="l" t="t" r="r" b="b"/>
              <a:pathLst>
                <a:path w="71755" h="172719">
                  <a:moveTo>
                    <a:pt x="71319" y="0"/>
                  </a:moveTo>
                  <a:lnTo>
                    <a:pt x="0" y="0"/>
                  </a:lnTo>
                  <a:lnTo>
                    <a:pt x="0" y="172267"/>
                  </a:lnTo>
                  <a:lnTo>
                    <a:pt x="71319" y="172267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82411" y="894220"/>
              <a:ext cx="71755" cy="172720"/>
            </a:xfrm>
            <a:custGeom>
              <a:avLst/>
              <a:gdLst/>
              <a:ahLst/>
              <a:cxnLst/>
              <a:rect l="l" t="t" r="r" b="b"/>
              <a:pathLst>
                <a:path w="71755" h="172719">
                  <a:moveTo>
                    <a:pt x="0" y="172267"/>
                  </a:moveTo>
                  <a:lnTo>
                    <a:pt x="71319" y="172267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7226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53731" y="970783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5" h="95884">
                  <a:moveTo>
                    <a:pt x="71319" y="0"/>
                  </a:moveTo>
                  <a:lnTo>
                    <a:pt x="0" y="0"/>
                  </a:lnTo>
                  <a:lnTo>
                    <a:pt x="0" y="95704"/>
                  </a:lnTo>
                  <a:lnTo>
                    <a:pt x="71319" y="95704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53731" y="970783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5" h="95884">
                  <a:moveTo>
                    <a:pt x="0" y="95704"/>
                  </a:moveTo>
                  <a:lnTo>
                    <a:pt x="71319" y="95704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9570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25050" y="817656"/>
              <a:ext cx="71755" cy="248920"/>
            </a:xfrm>
            <a:custGeom>
              <a:avLst/>
              <a:gdLst/>
              <a:ahLst/>
              <a:cxnLst/>
              <a:rect l="l" t="t" r="r" b="b"/>
              <a:pathLst>
                <a:path w="71755" h="248919">
                  <a:moveTo>
                    <a:pt x="71319" y="0"/>
                  </a:moveTo>
                  <a:lnTo>
                    <a:pt x="0" y="0"/>
                  </a:lnTo>
                  <a:lnTo>
                    <a:pt x="0" y="248831"/>
                  </a:lnTo>
                  <a:lnTo>
                    <a:pt x="71319" y="248831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25050" y="817656"/>
              <a:ext cx="71755" cy="248920"/>
            </a:xfrm>
            <a:custGeom>
              <a:avLst/>
              <a:gdLst/>
              <a:ahLst/>
              <a:cxnLst/>
              <a:rect l="l" t="t" r="r" b="b"/>
              <a:pathLst>
                <a:path w="71755" h="248919">
                  <a:moveTo>
                    <a:pt x="0" y="248831"/>
                  </a:moveTo>
                  <a:lnTo>
                    <a:pt x="71319" y="248831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48831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96370" y="645389"/>
              <a:ext cx="71755" cy="421640"/>
            </a:xfrm>
            <a:custGeom>
              <a:avLst/>
              <a:gdLst/>
              <a:ahLst/>
              <a:cxnLst/>
              <a:rect l="l" t="t" r="r" b="b"/>
              <a:pathLst>
                <a:path w="71755" h="421640">
                  <a:moveTo>
                    <a:pt x="71319" y="0"/>
                  </a:moveTo>
                  <a:lnTo>
                    <a:pt x="0" y="0"/>
                  </a:lnTo>
                  <a:lnTo>
                    <a:pt x="0" y="421098"/>
                  </a:lnTo>
                  <a:lnTo>
                    <a:pt x="71319" y="421098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96370" y="645389"/>
              <a:ext cx="71755" cy="421640"/>
            </a:xfrm>
            <a:custGeom>
              <a:avLst/>
              <a:gdLst/>
              <a:ahLst/>
              <a:cxnLst/>
              <a:rect l="l" t="t" r="r" b="b"/>
              <a:pathLst>
                <a:path w="71755" h="421640">
                  <a:moveTo>
                    <a:pt x="0" y="421098"/>
                  </a:moveTo>
                  <a:lnTo>
                    <a:pt x="71319" y="421098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421098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67690" y="721952"/>
              <a:ext cx="71755" cy="344805"/>
            </a:xfrm>
            <a:custGeom>
              <a:avLst/>
              <a:gdLst/>
              <a:ahLst/>
              <a:cxnLst/>
              <a:rect l="l" t="t" r="r" b="b"/>
              <a:pathLst>
                <a:path w="71755" h="344805">
                  <a:moveTo>
                    <a:pt x="71319" y="0"/>
                  </a:moveTo>
                  <a:lnTo>
                    <a:pt x="0" y="0"/>
                  </a:lnTo>
                  <a:lnTo>
                    <a:pt x="0" y="344535"/>
                  </a:lnTo>
                  <a:lnTo>
                    <a:pt x="71319" y="344535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67690" y="721952"/>
              <a:ext cx="71755" cy="344805"/>
            </a:xfrm>
            <a:custGeom>
              <a:avLst/>
              <a:gdLst/>
              <a:ahLst/>
              <a:cxnLst/>
              <a:rect l="l" t="t" r="r" b="b"/>
              <a:pathLst>
                <a:path w="71755" h="344805">
                  <a:moveTo>
                    <a:pt x="0" y="344535"/>
                  </a:moveTo>
                  <a:lnTo>
                    <a:pt x="71319" y="344535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4453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39010" y="721952"/>
              <a:ext cx="71755" cy="344805"/>
            </a:xfrm>
            <a:custGeom>
              <a:avLst/>
              <a:gdLst/>
              <a:ahLst/>
              <a:cxnLst/>
              <a:rect l="l" t="t" r="r" b="b"/>
              <a:pathLst>
                <a:path w="71755" h="344805">
                  <a:moveTo>
                    <a:pt x="71319" y="0"/>
                  </a:moveTo>
                  <a:lnTo>
                    <a:pt x="0" y="0"/>
                  </a:lnTo>
                  <a:lnTo>
                    <a:pt x="0" y="344535"/>
                  </a:lnTo>
                  <a:lnTo>
                    <a:pt x="71319" y="344535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39010" y="721952"/>
              <a:ext cx="71755" cy="344805"/>
            </a:xfrm>
            <a:custGeom>
              <a:avLst/>
              <a:gdLst/>
              <a:ahLst/>
              <a:cxnLst/>
              <a:rect l="l" t="t" r="r" b="b"/>
              <a:pathLst>
                <a:path w="71755" h="344805">
                  <a:moveTo>
                    <a:pt x="0" y="344535"/>
                  </a:moveTo>
                  <a:lnTo>
                    <a:pt x="71319" y="344535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4453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10330" y="664529"/>
              <a:ext cx="71755" cy="401955"/>
            </a:xfrm>
            <a:custGeom>
              <a:avLst/>
              <a:gdLst/>
              <a:ahLst/>
              <a:cxnLst/>
              <a:rect l="l" t="t" r="r" b="b"/>
              <a:pathLst>
                <a:path w="71755" h="401955">
                  <a:moveTo>
                    <a:pt x="71319" y="0"/>
                  </a:moveTo>
                  <a:lnTo>
                    <a:pt x="0" y="0"/>
                  </a:lnTo>
                  <a:lnTo>
                    <a:pt x="0" y="401958"/>
                  </a:lnTo>
                  <a:lnTo>
                    <a:pt x="71319" y="401958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10330" y="664529"/>
              <a:ext cx="71755" cy="401955"/>
            </a:xfrm>
            <a:custGeom>
              <a:avLst/>
              <a:gdLst/>
              <a:ahLst/>
              <a:cxnLst/>
              <a:rect l="l" t="t" r="r" b="b"/>
              <a:pathLst>
                <a:path w="71755" h="401955">
                  <a:moveTo>
                    <a:pt x="0" y="401958"/>
                  </a:moveTo>
                  <a:lnTo>
                    <a:pt x="71319" y="401958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401958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81649" y="702811"/>
              <a:ext cx="71755" cy="363855"/>
            </a:xfrm>
            <a:custGeom>
              <a:avLst/>
              <a:gdLst/>
              <a:ahLst/>
              <a:cxnLst/>
              <a:rect l="l" t="t" r="r" b="b"/>
              <a:pathLst>
                <a:path w="71755" h="363855">
                  <a:moveTo>
                    <a:pt x="71319" y="0"/>
                  </a:moveTo>
                  <a:lnTo>
                    <a:pt x="0" y="0"/>
                  </a:lnTo>
                  <a:lnTo>
                    <a:pt x="0" y="363676"/>
                  </a:lnTo>
                  <a:lnTo>
                    <a:pt x="71319" y="363676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81649" y="702811"/>
              <a:ext cx="71755" cy="363855"/>
            </a:xfrm>
            <a:custGeom>
              <a:avLst/>
              <a:gdLst/>
              <a:ahLst/>
              <a:cxnLst/>
              <a:rect l="l" t="t" r="r" b="b"/>
              <a:pathLst>
                <a:path w="71755" h="363855">
                  <a:moveTo>
                    <a:pt x="0" y="363676"/>
                  </a:moveTo>
                  <a:lnTo>
                    <a:pt x="71319" y="363676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6367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52969" y="989924"/>
              <a:ext cx="71755" cy="76835"/>
            </a:xfrm>
            <a:custGeom>
              <a:avLst/>
              <a:gdLst/>
              <a:ahLst/>
              <a:cxnLst/>
              <a:rect l="l" t="t" r="r" b="b"/>
              <a:pathLst>
                <a:path w="71755" h="76834">
                  <a:moveTo>
                    <a:pt x="71319" y="0"/>
                  </a:moveTo>
                  <a:lnTo>
                    <a:pt x="0" y="0"/>
                  </a:lnTo>
                  <a:lnTo>
                    <a:pt x="0" y="76563"/>
                  </a:lnTo>
                  <a:lnTo>
                    <a:pt x="71319" y="76563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52969" y="989924"/>
              <a:ext cx="71755" cy="76835"/>
            </a:xfrm>
            <a:custGeom>
              <a:avLst/>
              <a:gdLst/>
              <a:ahLst/>
              <a:cxnLst/>
              <a:rect l="l" t="t" r="r" b="b"/>
              <a:pathLst>
                <a:path w="71755" h="76834">
                  <a:moveTo>
                    <a:pt x="0" y="76563"/>
                  </a:moveTo>
                  <a:lnTo>
                    <a:pt x="71319" y="76563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76563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24289" y="951642"/>
              <a:ext cx="71755" cy="114935"/>
            </a:xfrm>
            <a:custGeom>
              <a:avLst/>
              <a:gdLst/>
              <a:ahLst/>
              <a:cxnLst/>
              <a:rect l="l" t="t" r="r" b="b"/>
              <a:pathLst>
                <a:path w="71755" h="114934">
                  <a:moveTo>
                    <a:pt x="71319" y="0"/>
                  </a:moveTo>
                  <a:lnTo>
                    <a:pt x="0" y="0"/>
                  </a:lnTo>
                  <a:lnTo>
                    <a:pt x="0" y="114845"/>
                  </a:lnTo>
                  <a:lnTo>
                    <a:pt x="71319" y="114845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24289" y="951642"/>
              <a:ext cx="71755" cy="114935"/>
            </a:xfrm>
            <a:custGeom>
              <a:avLst/>
              <a:gdLst/>
              <a:ahLst/>
              <a:cxnLst/>
              <a:rect l="l" t="t" r="r" b="b"/>
              <a:pathLst>
                <a:path w="71755" h="114934">
                  <a:moveTo>
                    <a:pt x="0" y="114845"/>
                  </a:moveTo>
                  <a:lnTo>
                    <a:pt x="71319" y="114845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1484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895609" y="1028206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5" h="38734">
                  <a:moveTo>
                    <a:pt x="71319" y="0"/>
                  </a:moveTo>
                  <a:lnTo>
                    <a:pt x="0" y="0"/>
                  </a:lnTo>
                  <a:lnTo>
                    <a:pt x="0" y="38281"/>
                  </a:lnTo>
                  <a:lnTo>
                    <a:pt x="71319" y="38281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895609" y="1028206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5" h="38734">
                  <a:moveTo>
                    <a:pt x="0" y="38281"/>
                  </a:moveTo>
                  <a:lnTo>
                    <a:pt x="71319" y="38281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8281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66928" y="1028206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5" h="38734">
                  <a:moveTo>
                    <a:pt x="71319" y="0"/>
                  </a:moveTo>
                  <a:lnTo>
                    <a:pt x="0" y="0"/>
                  </a:lnTo>
                  <a:lnTo>
                    <a:pt x="0" y="38281"/>
                  </a:lnTo>
                  <a:lnTo>
                    <a:pt x="71319" y="38281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66928" y="1028206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5" h="38734">
                  <a:moveTo>
                    <a:pt x="0" y="38281"/>
                  </a:moveTo>
                  <a:lnTo>
                    <a:pt x="71319" y="38281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8281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038248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4">
                  <a:moveTo>
                    <a:pt x="71319" y="0"/>
                  </a:moveTo>
                  <a:lnTo>
                    <a:pt x="0" y="0"/>
                  </a:lnTo>
                  <a:lnTo>
                    <a:pt x="0" y="19140"/>
                  </a:lnTo>
                  <a:lnTo>
                    <a:pt x="71319" y="1914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038248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4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109568" y="1028206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5" h="38734">
                  <a:moveTo>
                    <a:pt x="71319" y="0"/>
                  </a:moveTo>
                  <a:lnTo>
                    <a:pt x="0" y="0"/>
                  </a:lnTo>
                  <a:lnTo>
                    <a:pt x="0" y="38281"/>
                  </a:lnTo>
                  <a:lnTo>
                    <a:pt x="71319" y="38281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109568" y="1028206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5" h="38734">
                  <a:moveTo>
                    <a:pt x="0" y="38281"/>
                  </a:moveTo>
                  <a:lnTo>
                    <a:pt x="71319" y="38281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8281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252205" y="1047356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4">
                  <a:moveTo>
                    <a:pt x="71310" y="0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71310" y="19138"/>
                  </a:lnTo>
                  <a:lnTo>
                    <a:pt x="7131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252208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4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69213" y="300853"/>
              <a:ext cx="2139950" cy="765810"/>
            </a:xfrm>
            <a:custGeom>
              <a:avLst/>
              <a:gdLst/>
              <a:ahLst/>
              <a:cxnLst/>
              <a:rect l="l" t="t" r="r" b="b"/>
              <a:pathLst>
                <a:path w="2139950" h="765810">
                  <a:moveTo>
                    <a:pt x="0" y="0"/>
                  </a:moveTo>
                  <a:lnTo>
                    <a:pt x="42791" y="60025"/>
                  </a:lnTo>
                  <a:lnTo>
                    <a:pt x="85583" y="117601"/>
                  </a:lnTo>
                  <a:lnTo>
                    <a:pt x="128375" y="172727"/>
                  </a:lnTo>
                  <a:lnTo>
                    <a:pt x="171167" y="225402"/>
                  </a:lnTo>
                  <a:lnTo>
                    <a:pt x="213959" y="275628"/>
                  </a:lnTo>
                  <a:lnTo>
                    <a:pt x="256751" y="323403"/>
                  </a:lnTo>
                  <a:lnTo>
                    <a:pt x="295977" y="365045"/>
                  </a:lnTo>
                  <a:lnTo>
                    <a:pt x="335203" y="404629"/>
                  </a:lnTo>
                  <a:lnTo>
                    <a:pt x="374428" y="442153"/>
                  </a:lnTo>
                  <a:lnTo>
                    <a:pt x="413654" y="477619"/>
                  </a:lnTo>
                  <a:lnTo>
                    <a:pt x="452880" y="511026"/>
                  </a:lnTo>
                  <a:lnTo>
                    <a:pt x="492106" y="542375"/>
                  </a:lnTo>
                  <a:lnTo>
                    <a:pt x="527766" y="569087"/>
                  </a:lnTo>
                  <a:lnTo>
                    <a:pt x="563426" y="594098"/>
                  </a:lnTo>
                  <a:lnTo>
                    <a:pt x="599086" y="617407"/>
                  </a:lnTo>
                  <a:lnTo>
                    <a:pt x="634746" y="639015"/>
                  </a:lnTo>
                  <a:lnTo>
                    <a:pt x="670406" y="658921"/>
                  </a:lnTo>
                  <a:lnTo>
                    <a:pt x="706065" y="677127"/>
                  </a:lnTo>
                  <a:lnTo>
                    <a:pt x="741725" y="693630"/>
                  </a:lnTo>
                  <a:lnTo>
                    <a:pt x="777385" y="708433"/>
                  </a:lnTo>
                  <a:lnTo>
                    <a:pt x="848705" y="732933"/>
                  </a:lnTo>
                  <a:lnTo>
                    <a:pt x="916459" y="749904"/>
                  </a:lnTo>
                  <a:lnTo>
                    <a:pt x="980647" y="760317"/>
                  </a:lnTo>
                  <a:lnTo>
                    <a:pt x="1044835" y="765217"/>
                  </a:lnTo>
                  <a:lnTo>
                    <a:pt x="1076928" y="765600"/>
                  </a:lnTo>
                  <a:lnTo>
                    <a:pt x="1109022" y="764605"/>
                  </a:lnTo>
                  <a:lnTo>
                    <a:pt x="1173210" y="758479"/>
                  </a:lnTo>
                  <a:lnTo>
                    <a:pt x="1237398" y="746842"/>
                  </a:lnTo>
                  <a:lnTo>
                    <a:pt x="1305152" y="728577"/>
                  </a:lnTo>
                  <a:lnTo>
                    <a:pt x="1376472" y="702716"/>
                  </a:lnTo>
                  <a:lnTo>
                    <a:pt x="1412131" y="687233"/>
                  </a:lnTo>
                  <a:lnTo>
                    <a:pt x="1447791" y="670049"/>
                  </a:lnTo>
                  <a:lnTo>
                    <a:pt x="1483451" y="651163"/>
                  </a:lnTo>
                  <a:lnTo>
                    <a:pt x="1519111" y="630576"/>
                  </a:lnTo>
                  <a:lnTo>
                    <a:pt x="1554771" y="608288"/>
                  </a:lnTo>
                  <a:lnTo>
                    <a:pt x="1590431" y="584298"/>
                  </a:lnTo>
                  <a:lnTo>
                    <a:pt x="1626091" y="558606"/>
                  </a:lnTo>
                  <a:lnTo>
                    <a:pt x="1661751" y="531214"/>
                  </a:lnTo>
                  <a:lnTo>
                    <a:pt x="1700977" y="499117"/>
                  </a:lnTo>
                  <a:lnTo>
                    <a:pt x="1740203" y="464961"/>
                  </a:lnTo>
                  <a:lnTo>
                    <a:pt x="1779428" y="428746"/>
                  </a:lnTo>
                  <a:lnTo>
                    <a:pt x="1818654" y="390473"/>
                  </a:lnTo>
                  <a:lnTo>
                    <a:pt x="1857880" y="350141"/>
                  </a:lnTo>
                  <a:lnTo>
                    <a:pt x="1897106" y="307751"/>
                  </a:lnTo>
                  <a:lnTo>
                    <a:pt x="1936332" y="263301"/>
                  </a:lnTo>
                  <a:lnTo>
                    <a:pt x="1979124" y="212463"/>
                  </a:lnTo>
                  <a:lnTo>
                    <a:pt x="2021916" y="159175"/>
                  </a:lnTo>
                  <a:lnTo>
                    <a:pt x="2064708" y="103437"/>
                  </a:lnTo>
                  <a:lnTo>
                    <a:pt x="2107499" y="45248"/>
                  </a:lnTo>
                  <a:lnTo>
                    <a:pt x="2139593" y="0"/>
                  </a:lnTo>
                </a:path>
              </a:pathLst>
            </a:custGeom>
            <a:ln w="13320">
              <a:solidFill>
                <a:srgbClr val="FFA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57423" y="1078744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34960" y="1134528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5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14022" y="1078744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91559" y="1134528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5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170621" y="1078744"/>
            <a:ext cx="52069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48157" y="1134528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5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507787" y="1078744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864386" y="1078744"/>
            <a:ext cx="52069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220984" y="1078744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577583" y="1078744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72846" y="1008294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35800" y="816885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10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50" spc="-7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3972" y="638751"/>
            <a:ext cx="4267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</a:rPr>
              <a:t>square</a:t>
            </a:r>
            <a:r>
              <a:rPr sz="600" spc="195" dirty="0">
                <a:latin typeface="Tahoma"/>
                <a:cs typeface="Tahoma"/>
              </a:rPr>
              <a:t> </a:t>
            </a:r>
            <a:r>
              <a:rPr sz="825" spc="-37" baseline="15151" dirty="0">
                <a:solidFill>
                  <a:srgbClr val="262626"/>
                </a:solidFill>
                <a:latin typeface="Arial MT"/>
                <a:cs typeface="Arial MT"/>
              </a:rPr>
              <a:t>20</a:t>
            </a:r>
            <a:endParaRPr sz="825" baseline="15151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35800" y="434068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solidFill>
                  <a:srgbClr val="262626"/>
                </a:solidFill>
                <a:latin typeface="Arial MT"/>
                <a:cs typeface="Arial MT"/>
              </a:rPr>
              <a:t>30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35800" y="242659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solidFill>
                  <a:srgbClr val="262626"/>
                </a:solidFill>
                <a:latin typeface="Arial MT"/>
                <a:cs typeface="Arial MT"/>
              </a:rPr>
              <a:t>40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642727" y="1008294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642727" y="838153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642727" y="668012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4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642727" y="497871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642727" y="327730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8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037732" y="294193"/>
            <a:ext cx="2153285" cy="779145"/>
            <a:chOff x="3037732" y="294193"/>
            <a:chExt cx="2153285" cy="779145"/>
          </a:xfrm>
        </p:grpSpPr>
        <p:sp>
          <p:nvSpPr>
            <p:cNvPr id="70" name="object 70"/>
            <p:cNvSpPr/>
            <p:nvPr/>
          </p:nvSpPr>
          <p:spPr>
            <a:xfrm>
              <a:off x="3044392" y="300853"/>
              <a:ext cx="2139950" cy="765810"/>
            </a:xfrm>
            <a:custGeom>
              <a:avLst/>
              <a:gdLst/>
              <a:ahLst/>
              <a:cxnLst/>
              <a:rect l="l" t="t" r="r" b="b"/>
              <a:pathLst>
                <a:path w="2139950" h="765810">
                  <a:moveTo>
                    <a:pt x="2139593" y="0"/>
                  </a:moveTo>
                  <a:lnTo>
                    <a:pt x="0" y="0"/>
                  </a:lnTo>
                  <a:lnTo>
                    <a:pt x="0" y="765634"/>
                  </a:lnTo>
                  <a:lnTo>
                    <a:pt x="2139593" y="765634"/>
                  </a:lnTo>
                  <a:lnTo>
                    <a:pt x="2139593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044392" y="300853"/>
              <a:ext cx="2139950" cy="765810"/>
            </a:xfrm>
            <a:custGeom>
              <a:avLst/>
              <a:gdLst/>
              <a:ahLst/>
              <a:cxnLst/>
              <a:rect l="l" t="t" r="r" b="b"/>
              <a:pathLst>
                <a:path w="2139950" h="765810">
                  <a:moveTo>
                    <a:pt x="0" y="765634"/>
                  </a:moveTo>
                  <a:lnTo>
                    <a:pt x="0" y="0"/>
                  </a:lnTo>
                </a:path>
                <a:path w="2139950" h="765810">
                  <a:moveTo>
                    <a:pt x="356598" y="765634"/>
                  </a:moveTo>
                  <a:lnTo>
                    <a:pt x="356598" y="0"/>
                  </a:lnTo>
                </a:path>
                <a:path w="2139950" h="765810">
                  <a:moveTo>
                    <a:pt x="713197" y="765634"/>
                  </a:moveTo>
                  <a:lnTo>
                    <a:pt x="713197" y="0"/>
                  </a:lnTo>
                </a:path>
                <a:path w="2139950" h="765810">
                  <a:moveTo>
                    <a:pt x="1069796" y="765634"/>
                  </a:moveTo>
                  <a:lnTo>
                    <a:pt x="1069796" y="0"/>
                  </a:lnTo>
                </a:path>
                <a:path w="2139950" h="765810">
                  <a:moveTo>
                    <a:pt x="1426395" y="765634"/>
                  </a:moveTo>
                  <a:lnTo>
                    <a:pt x="1426395" y="0"/>
                  </a:lnTo>
                </a:path>
                <a:path w="2139950" h="765810">
                  <a:moveTo>
                    <a:pt x="1782994" y="765634"/>
                  </a:moveTo>
                  <a:lnTo>
                    <a:pt x="1782994" y="0"/>
                  </a:lnTo>
                </a:path>
                <a:path w="2139950" h="765810">
                  <a:moveTo>
                    <a:pt x="2139593" y="765634"/>
                  </a:moveTo>
                  <a:lnTo>
                    <a:pt x="2139593" y="0"/>
                  </a:lnTo>
                </a:path>
                <a:path w="2139950" h="765810">
                  <a:moveTo>
                    <a:pt x="0" y="765634"/>
                  </a:moveTo>
                  <a:lnTo>
                    <a:pt x="2139593" y="765634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044392" y="875079"/>
              <a:ext cx="2139950" cy="0"/>
            </a:xfrm>
            <a:custGeom>
              <a:avLst/>
              <a:gdLst/>
              <a:ahLst/>
              <a:cxnLst/>
              <a:rect l="l" t="t" r="r" b="b"/>
              <a:pathLst>
                <a:path w="2139950">
                  <a:moveTo>
                    <a:pt x="0" y="0"/>
                  </a:moveTo>
                  <a:lnTo>
                    <a:pt x="784517" y="0"/>
                  </a:lnTo>
                </a:path>
                <a:path w="2139950">
                  <a:moveTo>
                    <a:pt x="1283756" y="0"/>
                  </a:moveTo>
                  <a:lnTo>
                    <a:pt x="2139593" y="0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044392" y="300853"/>
              <a:ext cx="2139950" cy="382905"/>
            </a:xfrm>
            <a:custGeom>
              <a:avLst/>
              <a:gdLst/>
              <a:ahLst/>
              <a:cxnLst/>
              <a:rect l="l" t="t" r="r" b="b"/>
              <a:pathLst>
                <a:path w="2139950" h="382905">
                  <a:moveTo>
                    <a:pt x="0" y="382817"/>
                  </a:moveTo>
                  <a:lnTo>
                    <a:pt x="2139593" y="382817"/>
                  </a:lnTo>
                </a:path>
                <a:path w="2139950" h="382905">
                  <a:moveTo>
                    <a:pt x="0" y="191408"/>
                  </a:moveTo>
                  <a:lnTo>
                    <a:pt x="2139593" y="191408"/>
                  </a:lnTo>
                </a:path>
                <a:path w="2139950" h="382905">
                  <a:moveTo>
                    <a:pt x="0" y="0"/>
                  </a:moveTo>
                  <a:lnTo>
                    <a:pt x="2139593" y="0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329660" y="1009065"/>
              <a:ext cx="71755" cy="57785"/>
            </a:xfrm>
            <a:custGeom>
              <a:avLst/>
              <a:gdLst/>
              <a:ahLst/>
              <a:cxnLst/>
              <a:rect l="l" t="t" r="r" b="b"/>
              <a:pathLst>
                <a:path w="71754" h="57784">
                  <a:moveTo>
                    <a:pt x="71323" y="0"/>
                  </a:moveTo>
                  <a:lnTo>
                    <a:pt x="0" y="0"/>
                  </a:lnTo>
                  <a:lnTo>
                    <a:pt x="0" y="57429"/>
                  </a:lnTo>
                  <a:lnTo>
                    <a:pt x="71323" y="57429"/>
                  </a:lnTo>
                  <a:lnTo>
                    <a:pt x="71323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329671" y="1009065"/>
              <a:ext cx="71755" cy="57785"/>
            </a:xfrm>
            <a:custGeom>
              <a:avLst/>
              <a:gdLst/>
              <a:ahLst/>
              <a:cxnLst/>
              <a:rect l="l" t="t" r="r" b="b"/>
              <a:pathLst>
                <a:path w="71754" h="57784">
                  <a:moveTo>
                    <a:pt x="0" y="57422"/>
                  </a:moveTo>
                  <a:lnTo>
                    <a:pt x="71319" y="57422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5742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472307" y="1028217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4" h="38734">
                  <a:moveTo>
                    <a:pt x="71323" y="0"/>
                  </a:moveTo>
                  <a:lnTo>
                    <a:pt x="0" y="0"/>
                  </a:lnTo>
                  <a:lnTo>
                    <a:pt x="0" y="38277"/>
                  </a:lnTo>
                  <a:lnTo>
                    <a:pt x="71323" y="38277"/>
                  </a:lnTo>
                  <a:lnTo>
                    <a:pt x="71323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472311" y="1028206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4" h="38734">
                  <a:moveTo>
                    <a:pt x="0" y="38281"/>
                  </a:moveTo>
                  <a:lnTo>
                    <a:pt x="71319" y="38281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8281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543630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4">
                  <a:moveTo>
                    <a:pt x="71319" y="0"/>
                  </a:moveTo>
                  <a:lnTo>
                    <a:pt x="0" y="0"/>
                  </a:lnTo>
                  <a:lnTo>
                    <a:pt x="0" y="19140"/>
                  </a:lnTo>
                  <a:lnTo>
                    <a:pt x="71319" y="1914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543630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4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614950" y="989924"/>
              <a:ext cx="71755" cy="76835"/>
            </a:xfrm>
            <a:custGeom>
              <a:avLst/>
              <a:gdLst/>
              <a:ahLst/>
              <a:cxnLst/>
              <a:rect l="l" t="t" r="r" b="b"/>
              <a:pathLst>
                <a:path w="71754" h="76834">
                  <a:moveTo>
                    <a:pt x="71319" y="0"/>
                  </a:moveTo>
                  <a:lnTo>
                    <a:pt x="0" y="0"/>
                  </a:lnTo>
                  <a:lnTo>
                    <a:pt x="0" y="76563"/>
                  </a:lnTo>
                  <a:lnTo>
                    <a:pt x="71319" y="76563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614950" y="989924"/>
              <a:ext cx="71755" cy="76835"/>
            </a:xfrm>
            <a:custGeom>
              <a:avLst/>
              <a:gdLst/>
              <a:ahLst/>
              <a:cxnLst/>
              <a:rect l="l" t="t" r="r" b="b"/>
              <a:pathLst>
                <a:path w="71754" h="76834">
                  <a:moveTo>
                    <a:pt x="0" y="76563"/>
                  </a:moveTo>
                  <a:lnTo>
                    <a:pt x="71319" y="76563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76563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686270" y="1009065"/>
              <a:ext cx="71755" cy="57785"/>
            </a:xfrm>
            <a:custGeom>
              <a:avLst/>
              <a:gdLst/>
              <a:ahLst/>
              <a:cxnLst/>
              <a:rect l="l" t="t" r="r" b="b"/>
              <a:pathLst>
                <a:path w="71754" h="57784">
                  <a:moveTo>
                    <a:pt x="71319" y="0"/>
                  </a:moveTo>
                  <a:lnTo>
                    <a:pt x="0" y="0"/>
                  </a:lnTo>
                  <a:lnTo>
                    <a:pt x="0" y="57422"/>
                  </a:lnTo>
                  <a:lnTo>
                    <a:pt x="71319" y="57422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686270" y="1009065"/>
              <a:ext cx="71755" cy="57785"/>
            </a:xfrm>
            <a:custGeom>
              <a:avLst/>
              <a:gdLst/>
              <a:ahLst/>
              <a:cxnLst/>
              <a:rect l="l" t="t" r="r" b="b"/>
              <a:pathLst>
                <a:path w="71754" h="57784">
                  <a:moveTo>
                    <a:pt x="0" y="57422"/>
                  </a:moveTo>
                  <a:lnTo>
                    <a:pt x="71319" y="57422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5742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757590" y="970783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4" h="95884">
                  <a:moveTo>
                    <a:pt x="71319" y="0"/>
                  </a:moveTo>
                  <a:lnTo>
                    <a:pt x="0" y="0"/>
                  </a:lnTo>
                  <a:lnTo>
                    <a:pt x="0" y="95704"/>
                  </a:lnTo>
                  <a:lnTo>
                    <a:pt x="71319" y="95704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757590" y="970783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4" h="95884">
                  <a:moveTo>
                    <a:pt x="0" y="95704"/>
                  </a:moveTo>
                  <a:lnTo>
                    <a:pt x="71319" y="95704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9570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828909" y="836797"/>
              <a:ext cx="71755" cy="229870"/>
            </a:xfrm>
            <a:custGeom>
              <a:avLst/>
              <a:gdLst/>
              <a:ahLst/>
              <a:cxnLst/>
              <a:rect l="l" t="t" r="r" b="b"/>
              <a:pathLst>
                <a:path w="71754" h="229869">
                  <a:moveTo>
                    <a:pt x="71319" y="0"/>
                  </a:moveTo>
                  <a:lnTo>
                    <a:pt x="0" y="0"/>
                  </a:lnTo>
                  <a:lnTo>
                    <a:pt x="0" y="229690"/>
                  </a:lnTo>
                  <a:lnTo>
                    <a:pt x="71319" y="22969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828909" y="836797"/>
              <a:ext cx="71755" cy="229870"/>
            </a:xfrm>
            <a:custGeom>
              <a:avLst/>
              <a:gdLst/>
              <a:ahLst/>
              <a:cxnLst/>
              <a:rect l="l" t="t" r="r" b="b"/>
              <a:pathLst>
                <a:path w="71754" h="229869">
                  <a:moveTo>
                    <a:pt x="0" y="229690"/>
                  </a:moveTo>
                  <a:lnTo>
                    <a:pt x="71319" y="22969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2969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00229" y="741093"/>
              <a:ext cx="71755" cy="325755"/>
            </a:xfrm>
            <a:custGeom>
              <a:avLst/>
              <a:gdLst/>
              <a:ahLst/>
              <a:cxnLst/>
              <a:rect l="l" t="t" r="r" b="b"/>
              <a:pathLst>
                <a:path w="71754" h="325755">
                  <a:moveTo>
                    <a:pt x="71319" y="0"/>
                  </a:moveTo>
                  <a:lnTo>
                    <a:pt x="0" y="0"/>
                  </a:lnTo>
                  <a:lnTo>
                    <a:pt x="0" y="325394"/>
                  </a:lnTo>
                  <a:lnTo>
                    <a:pt x="71319" y="325394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00229" y="741093"/>
              <a:ext cx="71755" cy="325755"/>
            </a:xfrm>
            <a:custGeom>
              <a:avLst/>
              <a:gdLst/>
              <a:ahLst/>
              <a:cxnLst/>
              <a:rect l="l" t="t" r="r" b="b"/>
              <a:pathLst>
                <a:path w="71754" h="325755">
                  <a:moveTo>
                    <a:pt x="0" y="325394"/>
                  </a:moveTo>
                  <a:lnTo>
                    <a:pt x="71319" y="325394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2539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971549" y="779375"/>
              <a:ext cx="71755" cy="287655"/>
            </a:xfrm>
            <a:custGeom>
              <a:avLst/>
              <a:gdLst/>
              <a:ahLst/>
              <a:cxnLst/>
              <a:rect l="l" t="t" r="r" b="b"/>
              <a:pathLst>
                <a:path w="71754" h="287655">
                  <a:moveTo>
                    <a:pt x="71319" y="0"/>
                  </a:moveTo>
                  <a:lnTo>
                    <a:pt x="0" y="0"/>
                  </a:lnTo>
                  <a:lnTo>
                    <a:pt x="0" y="287112"/>
                  </a:lnTo>
                  <a:lnTo>
                    <a:pt x="71319" y="287112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971549" y="779375"/>
              <a:ext cx="71755" cy="287655"/>
            </a:xfrm>
            <a:custGeom>
              <a:avLst/>
              <a:gdLst/>
              <a:ahLst/>
              <a:cxnLst/>
              <a:rect l="l" t="t" r="r" b="b"/>
              <a:pathLst>
                <a:path w="71754" h="287655">
                  <a:moveTo>
                    <a:pt x="0" y="287112"/>
                  </a:moveTo>
                  <a:lnTo>
                    <a:pt x="71319" y="287112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8711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042869" y="721952"/>
              <a:ext cx="71755" cy="344805"/>
            </a:xfrm>
            <a:custGeom>
              <a:avLst/>
              <a:gdLst/>
              <a:ahLst/>
              <a:cxnLst/>
              <a:rect l="l" t="t" r="r" b="b"/>
              <a:pathLst>
                <a:path w="71754" h="344805">
                  <a:moveTo>
                    <a:pt x="71319" y="0"/>
                  </a:moveTo>
                  <a:lnTo>
                    <a:pt x="0" y="0"/>
                  </a:lnTo>
                  <a:lnTo>
                    <a:pt x="0" y="344535"/>
                  </a:lnTo>
                  <a:lnTo>
                    <a:pt x="71319" y="344535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042869" y="721952"/>
              <a:ext cx="71755" cy="344805"/>
            </a:xfrm>
            <a:custGeom>
              <a:avLst/>
              <a:gdLst/>
              <a:ahLst/>
              <a:cxnLst/>
              <a:rect l="l" t="t" r="r" b="b"/>
              <a:pathLst>
                <a:path w="71754" h="344805">
                  <a:moveTo>
                    <a:pt x="0" y="344535"/>
                  </a:moveTo>
                  <a:lnTo>
                    <a:pt x="71319" y="344535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4453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114189" y="817656"/>
              <a:ext cx="71755" cy="248920"/>
            </a:xfrm>
            <a:custGeom>
              <a:avLst/>
              <a:gdLst/>
              <a:ahLst/>
              <a:cxnLst/>
              <a:rect l="l" t="t" r="r" b="b"/>
              <a:pathLst>
                <a:path w="71754" h="248919">
                  <a:moveTo>
                    <a:pt x="71319" y="0"/>
                  </a:moveTo>
                  <a:lnTo>
                    <a:pt x="0" y="0"/>
                  </a:lnTo>
                  <a:lnTo>
                    <a:pt x="0" y="248831"/>
                  </a:lnTo>
                  <a:lnTo>
                    <a:pt x="71319" y="248831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114189" y="817656"/>
              <a:ext cx="71755" cy="248920"/>
            </a:xfrm>
            <a:custGeom>
              <a:avLst/>
              <a:gdLst/>
              <a:ahLst/>
              <a:cxnLst/>
              <a:rect l="l" t="t" r="r" b="b"/>
              <a:pathLst>
                <a:path w="71754" h="248919">
                  <a:moveTo>
                    <a:pt x="0" y="248831"/>
                  </a:moveTo>
                  <a:lnTo>
                    <a:pt x="71319" y="248831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48831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185508" y="779375"/>
              <a:ext cx="71755" cy="287655"/>
            </a:xfrm>
            <a:custGeom>
              <a:avLst/>
              <a:gdLst/>
              <a:ahLst/>
              <a:cxnLst/>
              <a:rect l="l" t="t" r="r" b="b"/>
              <a:pathLst>
                <a:path w="71754" h="287655">
                  <a:moveTo>
                    <a:pt x="71319" y="0"/>
                  </a:moveTo>
                  <a:lnTo>
                    <a:pt x="0" y="0"/>
                  </a:lnTo>
                  <a:lnTo>
                    <a:pt x="0" y="287112"/>
                  </a:lnTo>
                  <a:lnTo>
                    <a:pt x="71319" y="287112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185508" y="779375"/>
              <a:ext cx="71755" cy="287655"/>
            </a:xfrm>
            <a:custGeom>
              <a:avLst/>
              <a:gdLst/>
              <a:ahLst/>
              <a:cxnLst/>
              <a:rect l="l" t="t" r="r" b="b"/>
              <a:pathLst>
                <a:path w="71754" h="287655">
                  <a:moveTo>
                    <a:pt x="0" y="287112"/>
                  </a:moveTo>
                  <a:lnTo>
                    <a:pt x="71319" y="287112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8711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256828" y="798515"/>
              <a:ext cx="71755" cy="267970"/>
            </a:xfrm>
            <a:custGeom>
              <a:avLst/>
              <a:gdLst/>
              <a:ahLst/>
              <a:cxnLst/>
              <a:rect l="l" t="t" r="r" b="b"/>
              <a:pathLst>
                <a:path w="71754" h="267969">
                  <a:moveTo>
                    <a:pt x="71319" y="0"/>
                  </a:moveTo>
                  <a:lnTo>
                    <a:pt x="0" y="0"/>
                  </a:lnTo>
                  <a:lnTo>
                    <a:pt x="0" y="267972"/>
                  </a:lnTo>
                  <a:lnTo>
                    <a:pt x="71319" y="267972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256828" y="798515"/>
              <a:ext cx="71755" cy="267970"/>
            </a:xfrm>
            <a:custGeom>
              <a:avLst/>
              <a:gdLst/>
              <a:ahLst/>
              <a:cxnLst/>
              <a:rect l="l" t="t" r="r" b="b"/>
              <a:pathLst>
                <a:path w="71754" h="267969">
                  <a:moveTo>
                    <a:pt x="0" y="267972"/>
                  </a:moveTo>
                  <a:lnTo>
                    <a:pt x="71319" y="267972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6797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328148" y="932501"/>
              <a:ext cx="71755" cy="133985"/>
            </a:xfrm>
            <a:custGeom>
              <a:avLst/>
              <a:gdLst/>
              <a:ahLst/>
              <a:cxnLst/>
              <a:rect l="l" t="t" r="r" b="b"/>
              <a:pathLst>
                <a:path w="71754" h="133984">
                  <a:moveTo>
                    <a:pt x="71319" y="0"/>
                  </a:moveTo>
                  <a:lnTo>
                    <a:pt x="0" y="0"/>
                  </a:lnTo>
                  <a:lnTo>
                    <a:pt x="0" y="133986"/>
                  </a:lnTo>
                  <a:lnTo>
                    <a:pt x="71319" y="133986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328148" y="932501"/>
              <a:ext cx="71755" cy="133985"/>
            </a:xfrm>
            <a:custGeom>
              <a:avLst/>
              <a:gdLst/>
              <a:ahLst/>
              <a:cxnLst/>
              <a:rect l="l" t="t" r="r" b="b"/>
              <a:pathLst>
                <a:path w="71754" h="133984">
                  <a:moveTo>
                    <a:pt x="0" y="133986"/>
                  </a:moveTo>
                  <a:lnTo>
                    <a:pt x="71319" y="133986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3398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399468" y="970783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4" h="95884">
                  <a:moveTo>
                    <a:pt x="71319" y="0"/>
                  </a:moveTo>
                  <a:lnTo>
                    <a:pt x="0" y="0"/>
                  </a:lnTo>
                  <a:lnTo>
                    <a:pt x="0" y="95704"/>
                  </a:lnTo>
                  <a:lnTo>
                    <a:pt x="71319" y="95704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399468" y="970783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4" h="95884">
                  <a:moveTo>
                    <a:pt x="0" y="95704"/>
                  </a:moveTo>
                  <a:lnTo>
                    <a:pt x="71319" y="95704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9570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470788" y="875079"/>
              <a:ext cx="71755" cy="191770"/>
            </a:xfrm>
            <a:custGeom>
              <a:avLst/>
              <a:gdLst/>
              <a:ahLst/>
              <a:cxnLst/>
              <a:rect l="l" t="t" r="r" b="b"/>
              <a:pathLst>
                <a:path w="71754" h="191769">
                  <a:moveTo>
                    <a:pt x="71319" y="0"/>
                  </a:moveTo>
                  <a:lnTo>
                    <a:pt x="0" y="0"/>
                  </a:lnTo>
                  <a:lnTo>
                    <a:pt x="0" y="191408"/>
                  </a:lnTo>
                  <a:lnTo>
                    <a:pt x="71319" y="191408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470788" y="875079"/>
              <a:ext cx="71755" cy="191770"/>
            </a:xfrm>
            <a:custGeom>
              <a:avLst/>
              <a:gdLst/>
              <a:ahLst/>
              <a:cxnLst/>
              <a:rect l="l" t="t" r="r" b="b"/>
              <a:pathLst>
                <a:path w="71754" h="191769">
                  <a:moveTo>
                    <a:pt x="0" y="191408"/>
                  </a:moveTo>
                  <a:lnTo>
                    <a:pt x="71319" y="191408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8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613427" y="1047356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4">
                  <a:moveTo>
                    <a:pt x="71310" y="0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71310" y="19138"/>
                  </a:lnTo>
                  <a:lnTo>
                    <a:pt x="7131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613427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4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684747" y="1009065"/>
              <a:ext cx="71755" cy="57785"/>
            </a:xfrm>
            <a:custGeom>
              <a:avLst/>
              <a:gdLst/>
              <a:ahLst/>
              <a:cxnLst/>
              <a:rect l="l" t="t" r="r" b="b"/>
              <a:pathLst>
                <a:path w="71754" h="57784">
                  <a:moveTo>
                    <a:pt x="71319" y="0"/>
                  </a:moveTo>
                  <a:lnTo>
                    <a:pt x="0" y="0"/>
                  </a:lnTo>
                  <a:lnTo>
                    <a:pt x="0" y="57422"/>
                  </a:lnTo>
                  <a:lnTo>
                    <a:pt x="71319" y="57422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684747" y="1009065"/>
              <a:ext cx="71755" cy="57785"/>
            </a:xfrm>
            <a:custGeom>
              <a:avLst/>
              <a:gdLst/>
              <a:ahLst/>
              <a:cxnLst/>
              <a:rect l="l" t="t" r="r" b="b"/>
              <a:pathLst>
                <a:path w="71754" h="57784">
                  <a:moveTo>
                    <a:pt x="0" y="57422"/>
                  </a:moveTo>
                  <a:lnTo>
                    <a:pt x="71319" y="57422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5742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756067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4">
                  <a:moveTo>
                    <a:pt x="71319" y="0"/>
                  </a:moveTo>
                  <a:lnTo>
                    <a:pt x="0" y="0"/>
                  </a:lnTo>
                  <a:lnTo>
                    <a:pt x="0" y="19140"/>
                  </a:lnTo>
                  <a:lnTo>
                    <a:pt x="71319" y="1914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756067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4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12664" y="1047356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4">
                  <a:moveTo>
                    <a:pt x="71310" y="0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71310" y="19138"/>
                  </a:lnTo>
                  <a:lnTo>
                    <a:pt x="7131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112666" y="1047347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4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044392" y="300853"/>
              <a:ext cx="2139950" cy="765810"/>
            </a:xfrm>
            <a:custGeom>
              <a:avLst/>
              <a:gdLst/>
              <a:ahLst/>
              <a:cxnLst/>
              <a:rect l="l" t="t" r="r" b="b"/>
              <a:pathLst>
                <a:path w="2139950" h="765810">
                  <a:moveTo>
                    <a:pt x="0" y="0"/>
                  </a:moveTo>
                  <a:lnTo>
                    <a:pt x="42791" y="60025"/>
                  </a:lnTo>
                  <a:lnTo>
                    <a:pt x="85583" y="117601"/>
                  </a:lnTo>
                  <a:lnTo>
                    <a:pt x="128375" y="172727"/>
                  </a:lnTo>
                  <a:lnTo>
                    <a:pt x="171167" y="225402"/>
                  </a:lnTo>
                  <a:lnTo>
                    <a:pt x="213959" y="275628"/>
                  </a:lnTo>
                  <a:lnTo>
                    <a:pt x="256751" y="323403"/>
                  </a:lnTo>
                  <a:lnTo>
                    <a:pt x="295977" y="365045"/>
                  </a:lnTo>
                  <a:lnTo>
                    <a:pt x="335203" y="404629"/>
                  </a:lnTo>
                  <a:lnTo>
                    <a:pt x="374428" y="442153"/>
                  </a:lnTo>
                  <a:lnTo>
                    <a:pt x="413654" y="477619"/>
                  </a:lnTo>
                  <a:lnTo>
                    <a:pt x="452880" y="511026"/>
                  </a:lnTo>
                  <a:lnTo>
                    <a:pt x="492106" y="542375"/>
                  </a:lnTo>
                  <a:lnTo>
                    <a:pt x="527766" y="569087"/>
                  </a:lnTo>
                  <a:lnTo>
                    <a:pt x="563426" y="594098"/>
                  </a:lnTo>
                  <a:lnTo>
                    <a:pt x="599086" y="617407"/>
                  </a:lnTo>
                  <a:lnTo>
                    <a:pt x="634746" y="639015"/>
                  </a:lnTo>
                  <a:lnTo>
                    <a:pt x="670406" y="658921"/>
                  </a:lnTo>
                  <a:lnTo>
                    <a:pt x="706065" y="677127"/>
                  </a:lnTo>
                  <a:lnTo>
                    <a:pt x="741725" y="693630"/>
                  </a:lnTo>
                  <a:lnTo>
                    <a:pt x="777385" y="708433"/>
                  </a:lnTo>
                  <a:lnTo>
                    <a:pt x="848705" y="732933"/>
                  </a:lnTo>
                  <a:lnTo>
                    <a:pt x="916459" y="749904"/>
                  </a:lnTo>
                  <a:lnTo>
                    <a:pt x="980647" y="760317"/>
                  </a:lnTo>
                  <a:lnTo>
                    <a:pt x="1044835" y="765217"/>
                  </a:lnTo>
                  <a:lnTo>
                    <a:pt x="1076928" y="765600"/>
                  </a:lnTo>
                  <a:lnTo>
                    <a:pt x="1109022" y="764605"/>
                  </a:lnTo>
                  <a:lnTo>
                    <a:pt x="1173210" y="758479"/>
                  </a:lnTo>
                  <a:lnTo>
                    <a:pt x="1237398" y="746842"/>
                  </a:lnTo>
                  <a:lnTo>
                    <a:pt x="1305152" y="728577"/>
                  </a:lnTo>
                  <a:lnTo>
                    <a:pt x="1376472" y="702716"/>
                  </a:lnTo>
                  <a:lnTo>
                    <a:pt x="1412131" y="687233"/>
                  </a:lnTo>
                  <a:lnTo>
                    <a:pt x="1447791" y="670049"/>
                  </a:lnTo>
                  <a:lnTo>
                    <a:pt x="1483451" y="651163"/>
                  </a:lnTo>
                  <a:lnTo>
                    <a:pt x="1519111" y="630576"/>
                  </a:lnTo>
                  <a:lnTo>
                    <a:pt x="1554771" y="608288"/>
                  </a:lnTo>
                  <a:lnTo>
                    <a:pt x="1590431" y="584298"/>
                  </a:lnTo>
                  <a:lnTo>
                    <a:pt x="1626091" y="558606"/>
                  </a:lnTo>
                  <a:lnTo>
                    <a:pt x="1661751" y="531214"/>
                  </a:lnTo>
                  <a:lnTo>
                    <a:pt x="1700977" y="499117"/>
                  </a:lnTo>
                  <a:lnTo>
                    <a:pt x="1740203" y="464961"/>
                  </a:lnTo>
                  <a:lnTo>
                    <a:pt x="1779428" y="428746"/>
                  </a:lnTo>
                  <a:lnTo>
                    <a:pt x="1818654" y="390473"/>
                  </a:lnTo>
                  <a:lnTo>
                    <a:pt x="1857880" y="350141"/>
                  </a:lnTo>
                  <a:lnTo>
                    <a:pt x="1897106" y="307751"/>
                  </a:lnTo>
                  <a:lnTo>
                    <a:pt x="1936332" y="263301"/>
                  </a:lnTo>
                  <a:lnTo>
                    <a:pt x="1979124" y="212463"/>
                  </a:lnTo>
                  <a:lnTo>
                    <a:pt x="2021916" y="159175"/>
                  </a:lnTo>
                  <a:lnTo>
                    <a:pt x="2064708" y="103437"/>
                  </a:lnTo>
                  <a:lnTo>
                    <a:pt x="2107499" y="45248"/>
                  </a:lnTo>
                  <a:lnTo>
                    <a:pt x="2139593" y="0"/>
                  </a:lnTo>
                </a:path>
              </a:pathLst>
            </a:custGeom>
            <a:ln w="13320">
              <a:solidFill>
                <a:srgbClr val="FFA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3032602" y="1078744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3010138" y="1134528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5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3389202" y="1078744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3366737" y="1134528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5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3745800" y="1078744"/>
            <a:ext cx="52069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3723337" y="1134528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5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4082965" y="1078744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4439565" y="1078744"/>
            <a:ext cx="52069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4796163" y="1078744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5152763" y="1078744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948025" y="1008294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910979" y="816885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10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50" spc="-7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2910979" y="625477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solidFill>
                  <a:srgbClr val="262626"/>
                </a:solidFill>
                <a:latin typeface="Arial MT"/>
                <a:cs typeface="Arial MT"/>
              </a:rPr>
              <a:t>20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2910979" y="434068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solidFill>
                  <a:srgbClr val="262626"/>
                </a:solidFill>
                <a:latin typeface="Arial MT"/>
                <a:cs typeface="Arial MT"/>
              </a:rPr>
              <a:t>30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2910979" y="242659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solidFill>
                  <a:srgbClr val="262626"/>
                </a:solidFill>
                <a:latin typeface="Arial MT"/>
                <a:cs typeface="Arial MT"/>
              </a:rPr>
              <a:t>40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5217905" y="1008294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5217905" y="838153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217905" y="668012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4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5217905" y="497871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5217905" y="327730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8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462553" y="1269200"/>
            <a:ext cx="2153285" cy="775970"/>
            <a:chOff x="462553" y="1269200"/>
            <a:chExt cx="2153285" cy="775970"/>
          </a:xfrm>
        </p:grpSpPr>
        <p:sp>
          <p:nvSpPr>
            <p:cNvPr id="136" name="object 136"/>
            <p:cNvSpPr/>
            <p:nvPr/>
          </p:nvSpPr>
          <p:spPr>
            <a:xfrm>
              <a:off x="469213" y="1272530"/>
              <a:ext cx="2139950" cy="765810"/>
            </a:xfrm>
            <a:custGeom>
              <a:avLst/>
              <a:gdLst/>
              <a:ahLst/>
              <a:cxnLst/>
              <a:rect l="l" t="t" r="r" b="b"/>
              <a:pathLst>
                <a:path w="2139950" h="765810">
                  <a:moveTo>
                    <a:pt x="2139593" y="0"/>
                  </a:moveTo>
                  <a:lnTo>
                    <a:pt x="0" y="0"/>
                  </a:lnTo>
                  <a:lnTo>
                    <a:pt x="0" y="765634"/>
                  </a:lnTo>
                  <a:lnTo>
                    <a:pt x="2139593" y="765634"/>
                  </a:lnTo>
                  <a:lnTo>
                    <a:pt x="2139593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69213" y="1272530"/>
              <a:ext cx="2139950" cy="765810"/>
            </a:xfrm>
            <a:custGeom>
              <a:avLst/>
              <a:gdLst/>
              <a:ahLst/>
              <a:cxnLst/>
              <a:rect l="l" t="t" r="r" b="b"/>
              <a:pathLst>
                <a:path w="2139950" h="765810">
                  <a:moveTo>
                    <a:pt x="0" y="765634"/>
                  </a:moveTo>
                  <a:lnTo>
                    <a:pt x="0" y="0"/>
                  </a:lnTo>
                </a:path>
                <a:path w="2139950" h="765810">
                  <a:moveTo>
                    <a:pt x="356598" y="765634"/>
                  </a:moveTo>
                  <a:lnTo>
                    <a:pt x="356598" y="0"/>
                  </a:lnTo>
                </a:path>
                <a:path w="2139950" h="765810">
                  <a:moveTo>
                    <a:pt x="713197" y="765634"/>
                  </a:moveTo>
                  <a:lnTo>
                    <a:pt x="713197" y="0"/>
                  </a:lnTo>
                </a:path>
                <a:path w="2139950" h="765810">
                  <a:moveTo>
                    <a:pt x="1069796" y="765634"/>
                  </a:moveTo>
                  <a:lnTo>
                    <a:pt x="1069796" y="0"/>
                  </a:lnTo>
                </a:path>
                <a:path w="2139950" h="765810">
                  <a:moveTo>
                    <a:pt x="1426395" y="765634"/>
                  </a:moveTo>
                  <a:lnTo>
                    <a:pt x="1426395" y="0"/>
                  </a:lnTo>
                </a:path>
                <a:path w="2139950" h="765810">
                  <a:moveTo>
                    <a:pt x="1782994" y="765634"/>
                  </a:moveTo>
                  <a:lnTo>
                    <a:pt x="1782994" y="0"/>
                  </a:lnTo>
                </a:path>
                <a:path w="2139950" h="765810">
                  <a:moveTo>
                    <a:pt x="2139593" y="765634"/>
                  </a:moveTo>
                  <a:lnTo>
                    <a:pt x="2139593" y="0"/>
                  </a:lnTo>
                </a:path>
                <a:path w="2139950" h="765810">
                  <a:moveTo>
                    <a:pt x="0" y="765634"/>
                  </a:moveTo>
                  <a:lnTo>
                    <a:pt x="2139593" y="765634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469213" y="1655347"/>
              <a:ext cx="2139950" cy="191770"/>
            </a:xfrm>
            <a:custGeom>
              <a:avLst/>
              <a:gdLst/>
              <a:ahLst/>
              <a:cxnLst/>
              <a:rect l="l" t="t" r="r" b="b"/>
              <a:pathLst>
                <a:path w="2139950" h="191769">
                  <a:moveTo>
                    <a:pt x="0" y="191408"/>
                  </a:moveTo>
                  <a:lnTo>
                    <a:pt x="713197" y="191408"/>
                  </a:lnTo>
                </a:path>
                <a:path w="2139950" h="191769">
                  <a:moveTo>
                    <a:pt x="1141116" y="191408"/>
                  </a:moveTo>
                  <a:lnTo>
                    <a:pt x="2139593" y="191408"/>
                  </a:lnTo>
                </a:path>
                <a:path w="2139950" h="191769">
                  <a:moveTo>
                    <a:pt x="0" y="0"/>
                  </a:moveTo>
                  <a:lnTo>
                    <a:pt x="927157" y="0"/>
                  </a:lnTo>
                </a:path>
                <a:path w="2139950" h="191769">
                  <a:moveTo>
                    <a:pt x="1069796" y="0"/>
                  </a:moveTo>
                  <a:lnTo>
                    <a:pt x="2139593" y="0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69213" y="1272530"/>
              <a:ext cx="2139950" cy="191770"/>
            </a:xfrm>
            <a:custGeom>
              <a:avLst/>
              <a:gdLst/>
              <a:ahLst/>
              <a:cxnLst/>
              <a:rect l="l" t="t" r="r" b="b"/>
              <a:pathLst>
                <a:path w="2139950" h="191769">
                  <a:moveTo>
                    <a:pt x="0" y="191408"/>
                  </a:moveTo>
                  <a:lnTo>
                    <a:pt x="2139593" y="191408"/>
                  </a:lnTo>
                </a:path>
                <a:path w="2139950" h="191769">
                  <a:moveTo>
                    <a:pt x="0" y="0"/>
                  </a:moveTo>
                  <a:lnTo>
                    <a:pt x="2139593" y="0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11847" y="2019033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5">
                  <a:moveTo>
                    <a:pt x="71323" y="0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71323" y="19138"/>
                  </a:lnTo>
                  <a:lnTo>
                    <a:pt x="71323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611852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5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83172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5">
                  <a:moveTo>
                    <a:pt x="71319" y="0"/>
                  </a:moveTo>
                  <a:lnTo>
                    <a:pt x="0" y="0"/>
                  </a:lnTo>
                  <a:lnTo>
                    <a:pt x="0" y="19140"/>
                  </a:lnTo>
                  <a:lnTo>
                    <a:pt x="71319" y="1914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683172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5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54492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5">
                  <a:moveTo>
                    <a:pt x="71319" y="0"/>
                  </a:moveTo>
                  <a:lnTo>
                    <a:pt x="0" y="0"/>
                  </a:lnTo>
                  <a:lnTo>
                    <a:pt x="0" y="19140"/>
                  </a:lnTo>
                  <a:lnTo>
                    <a:pt x="71319" y="1914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54492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5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825812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5">
                  <a:moveTo>
                    <a:pt x="71319" y="0"/>
                  </a:moveTo>
                  <a:lnTo>
                    <a:pt x="0" y="0"/>
                  </a:lnTo>
                  <a:lnTo>
                    <a:pt x="0" y="19140"/>
                  </a:lnTo>
                  <a:lnTo>
                    <a:pt x="71319" y="1914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825812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5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897132" y="1980742"/>
              <a:ext cx="71755" cy="57785"/>
            </a:xfrm>
            <a:custGeom>
              <a:avLst/>
              <a:gdLst/>
              <a:ahLst/>
              <a:cxnLst/>
              <a:rect l="l" t="t" r="r" b="b"/>
              <a:pathLst>
                <a:path w="71755" h="57785">
                  <a:moveTo>
                    <a:pt x="71319" y="0"/>
                  </a:moveTo>
                  <a:lnTo>
                    <a:pt x="0" y="0"/>
                  </a:lnTo>
                  <a:lnTo>
                    <a:pt x="0" y="57422"/>
                  </a:lnTo>
                  <a:lnTo>
                    <a:pt x="71319" y="57422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897132" y="1980742"/>
              <a:ext cx="71755" cy="57785"/>
            </a:xfrm>
            <a:custGeom>
              <a:avLst/>
              <a:gdLst/>
              <a:ahLst/>
              <a:cxnLst/>
              <a:rect l="l" t="t" r="r" b="b"/>
              <a:pathLst>
                <a:path w="71755" h="57785">
                  <a:moveTo>
                    <a:pt x="0" y="57422"/>
                  </a:moveTo>
                  <a:lnTo>
                    <a:pt x="71319" y="57422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5742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968451" y="1961601"/>
              <a:ext cx="71755" cy="76835"/>
            </a:xfrm>
            <a:custGeom>
              <a:avLst/>
              <a:gdLst/>
              <a:ahLst/>
              <a:cxnLst/>
              <a:rect l="l" t="t" r="r" b="b"/>
              <a:pathLst>
                <a:path w="71755" h="76835">
                  <a:moveTo>
                    <a:pt x="71319" y="0"/>
                  </a:moveTo>
                  <a:lnTo>
                    <a:pt x="0" y="0"/>
                  </a:lnTo>
                  <a:lnTo>
                    <a:pt x="0" y="76563"/>
                  </a:lnTo>
                  <a:lnTo>
                    <a:pt x="71319" y="76563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968451" y="1961601"/>
              <a:ext cx="71755" cy="76835"/>
            </a:xfrm>
            <a:custGeom>
              <a:avLst/>
              <a:gdLst/>
              <a:ahLst/>
              <a:cxnLst/>
              <a:rect l="l" t="t" r="r" b="b"/>
              <a:pathLst>
                <a:path w="71755" h="76835">
                  <a:moveTo>
                    <a:pt x="0" y="76563"/>
                  </a:moveTo>
                  <a:lnTo>
                    <a:pt x="71319" y="76563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76563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039771" y="1942460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5" h="95885">
                  <a:moveTo>
                    <a:pt x="71319" y="0"/>
                  </a:moveTo>
                  <a:lnTo>
                    <a:pt x="0" y="0"/>
                  </a:lnTo>
                  <a:lnTo>
                    <a:pt x="0" y="95704"/>
                  </a:lnTo>
                  <a:lnTo>
                    <a:pt x="71319" y="95704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039771" y="1942460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5" h="95885">
                  <a:moveTo>
                    <a:pt x="0" y="95704"/>
                  </a:moveTo>
                  <a:lnTo>
                    <a:pt x="71319" y="95704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9570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111091" y="1923319"/>
              <a:ext cx="71755" cy="114935"/>
            </a:xfrm>
            <a:custGeom>
              <a:avLst/>
              <a:gdLst/>
              <a:ahLst/>
              <a:cxnLst/>
              <a:rect l="l" t="t" r="r" b="b"/>
              <a:pathLst>
                <a:path w="71755" h="114935">
                  <a:moveTo>
                    <a:pt x="71319" y="0"/>
                  </a:moveTo>
                  <a:lnTo>
                    <a:pt x="0" y="0"/>
                  </a:lnTo>
                  <a:lnTo>
                    <a:pt x="0" y="114845"/>
                  </a:lnTo>
                  <a:lnTo>
                    <a:pt x="71319" y="114845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111091" y="1923319"/>
              <a:ext cx="71755" cy="114935"/>
            </a:xfrm>
            <a:custGeom>
              <a:avLst/>
              <a:gdLst/>
              <a:ahLst/>
              <a:cxnLst/>
              <a:rect l="l" t="t" r="r" b="b"/>
              <a:pathLst>
                <a:path w="71755" h="114935">
                  <a:moveTo>
                    <a:pt x="0" y="114845"/>
                  </a:moveTo>
                  <a:lnTo>
                    <a:pt x="71319" y="114845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1484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182411" y="1770192"/>
              <a:ext cx="71755" cy="267970"/>
            </a:xfrm>
            <a:custGeom>
              <a:avLst/>
              <a:gdLst/>
              <a:ahLst/>
              <a:cxnLst/>
              <a:rect l="l" t="t" r="r" b="b"/>
              <a:pathLst>
                <a:path w="71755" h="267969">
                  <a:moveTo>
                    <a:pt x="71319" y="0"/>
                  </a:moveTo>
                  <a:lnTo>
                    <a:pt x="0" y="0"/>
                  </a:lnTo>
                  <a:lnTo>
                    <a:pt x="0" y="267972"/>
                  </a:lnTo>
                  <a:lnTo>
                    <a:pt x="71319" y="267972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182411" y="1770192"/>
              <a:ext cx="71755" cy="267970"/>
            </a:xfrm>
            <a:custGeom>
              <a:avLst/>
              <a:gdLst/>
              <a:ahLst/>
              <a:cxnLst/>
              <a:rect l="l" t="t" r="r" b="b"/>
              <a:pathLst>
                <a:path w="71755" h="267969">
                  <a:moveTo>
                    <a:pt x="0" y="267972"/>
                  </a:moveTo>
                  <a:lnTo>
                    <a:pt x="71319" y="267972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6797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253731" y="1827615"/>
              <a:ext cx="71755" cy="210820"/>
            </a:xfrm>
            <a:custGeom>
              <a:avLst/>
              <a:gdLst/>
              <a:ahLst/>
              <a:cxnLst/>
              <a:rect l="l" t="t" r="r" b="b"/>
              <a:pathLst>
                <a:path w="71755" h="210819">
                  <a:moveTo>
                    <a:pt x="71319" y="0"/>
                  </a:moveTo>
                  <a:lnTo>
                    <a:pt x="0" y="0"/>
                  </a:lnTo>
                  <a:lnTo>
                    <a:pt x="0" y="210549"/>
                  </a:lnTo>
                  <a:lnTo>
                    <a:pt x="71319" y="210549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253731" y="1827615"/>
              <a:ext cx="71755" cy="210820"/>
            </a:xfrm>
            <a:custGeom>
              <a:avLst/>
              <a:gdLst/>
              <a:ahLst/>
              <a:cxnLst/>
              <a:rect l="l" t="t" r="r" b="b"/>
              <a:pathLst>
                <a:path w="71755" h="210819">
                  <a:moveTo>
                    <a:pt x="0" y="210549"/>
                  </a:moveTo>
                  <a:lnTo>
                    <a:pt x="71319" y="210549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10549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325050" y="1712770"/>
              <a:ext cx="71755" cy="325755"/>
            </a:xfrm>
            <a:custGeom>
              <a:avLst/>
              <a:gdLst/>
              <a:ahLst/>
              <a:cxnLst/>
              <a:rect l="l" t="t" r="r" b="b"/>
              <a:pathLst>
                <a:path w="71755" h="325755">
                  <a:moveTo>
                    <a:pt x="71319" y="0"/>
                  </a:moveTo>
                  <a:lnTo>
                    <a:pt x="0" y="0"/>
                  </a:lnTo>
                  <a:lnTo>
                    <a:pt x="0" y="325394"/>
                  </a:lnTo>
                  <a:lnTo>
                    <a:pt x="71319" y="325394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325050" y="1712770"/>
              <a:ext cx="71755" cy="325755"/>
            </a:xfrm>
            <a:custGeom>
              <a:avLst/>
              <a:gdLst/>
              <a:ahLst/>
              <a:cxnLst/>
              <a:rect l="l" t="t" r="r" b="b"/>
              <a:pathLst>
                <a:path w="71755" h="325755">
                  <a:moveTo>
                    <a:pt x="0" y="325394"/>
                  </a:moveTo>
                  <a:lnTo>
                    <a:pt x="71319" y="325394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2539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396370" y="1578784"/>
              <a:ext cx="71755" cy="459740"/>
            </a:xfrm>
            <a:custGeom>
              <a:avLst/>
              <a:gdLst/>
              <a:ahLst/>
              <a:cxnLst/>
              <a:rect l="l" t="t" r="r" b="b"/>
              <a:pathLst>
                <a:path w="71755" h="459739">
                  <a:moveTo>
                    <a:pt x="71319" y="0"/>
                  </a:moveTo>
                  <a:lnTo>
                    <a:pt x="0" y="0"/>
                  </a:lnTo>
                  <a:lnTo>
                    <a:pt x="0" y="459380"/>
                  </a:lnTo>
                  <a:lnTo>
                    <a:pt x="71319" y="45938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396370" y="1578784"/>
              <a:ext cx="71755" cy="459740"/>
            </a:xfrm>
            <a:custGeom>
              <a:avLst/>
              <a:gdLst/>
              <a:ahLst/>
              <a:cxnLst/>
              <a:rect l="l" t="t" r="r" b="b"/>
              <a:pathLst>
                <a:path w="71755" h="459739">
                  <a:moveTo>
                    <a:pt x="0" y="459380"/>
                  </a:moveTo>
                  <a:lnTo>
                    <a:pt x="71319" y="45938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45938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467690" y="1463939"/>
              <a:ext cx="71755" cy="574675"/>
            </a:xfrm>
            <a:custGeom>
              <a:avLst/>
              <a:gdLst/>
              <a:ahLst/>
              <a:cxnLst/>
              <a:rect l="l" t="t" r="r" b="b"/>
              <a:pathLst>
                <a:path w="71755" h="574675">
                  <a:moveTo>
                    <a:pt x="71319" y="0"/>
                  </a:moveTo>
                  <a:lnTo>
                    <a:pt x="0" y="0"/>
                  </a:lnTo>
                  <a:lnTo>
                    <a:pt x="0" y="574225"/>
                  </a:lnTo>
                  <a:lnTo>
                    <a:pt x="71319" y="574225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467690" y="1463939"/>
              <a:ext cx="71755" cy="574675"/>
            </a:xfrm>
            <a:custGeom>
              <a:avLst/>
              <a:gdLst/>
              <a:ahLst/>
              <a:cxnLst/>
              <a:rect l="l" t="t" r="r" b="b"/>
              <a:pathLst>
                <a:path w="71755" h="574675">
                  <a:moveTo>
                    <a:pt x="0" y="574225"/>
                  </a:moveTo>
                  <a:lnTo>
                    <a:pt x="71319" y="574225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57422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1539010" y="1751052"/>
              <a:ext cx="71755" cy="287655"/>
            </a:xfrm>
            <a:custGeom>
              <a:avLst/>
              <a:gdLst/>
              <a:ahLst/>
              <a:cxnLst/>
              <a:rect l="l" t="t" r="r" b="b"/>
              <a:pathLst>
                <a:path w="71755" h="287655">
                  <a:moveTo>
                    <a:pt x="71319" y="0"/>
                  </a:moveTo>
                  <a:lnTo>
                    <a:pt x="0" y="0"/>
                  </a:lnTo>
                  <a:lnTo>
                    <a:pt x="0" y="287112"/>
                  </a:lnTo>
                  <a:lnTo>
                    <a:pt x="71319" y="287112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1539010" y="1751052"/>
              <a:ext cx="71755" cy="287655"/>
            </a:xfrm>
            <a:custGeom>
              <a:avLst/>
              <a:gdLst/>
              <a:ahLst/>
              <a:cxnLst/>
              <a:rect l="l" t="t" r="r" b="b"/>
              <a:pathLst>
                <a:path w="71755" h="287655">
                  <a:moveTo>
                    <a:pt x="0" y="287112"/>
                  </a:moveTo>
                  <a:lnTo>
                    <a:pt x="71319" y="287112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8711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610330" y="1942460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5" h="95885">
                  <a:moveTo>
                    <a:pt x="71319" y="0"/>
                  </a:moveTo>
                  <a:lnTo>
                    <a:pt x="0" y="0"/>
                  </a:lnTo>
                  <a:lnTo>
                    <a:pt x="0" y="95704"/>
                  </a:lnTo>
                  <a:lnTo>
                    <a:pt x="71319" y="95704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1610330" y="1942460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5" h="95885">
                  <a:moveTo>
                    <a:pt x="0" y="95704"/>
                  </a:moveTo>
                  <a:lnTo>
                    <a:pt x="71319" y="95704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9570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681649" y="1942460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5" h="95885">
                  <a:moveTo>
                    <a:pt x="71319" y="0"/>
                  </a:moveTo>
                  <a:lnTo>
                    <a:pt x="0" y="0"/>
                  </a:lnTo>
                  <a:lnTo>
                    <a:pt x="0" y="95704"/>
                  </a:lnTo>
                  <a:lnTo>
                    <a:pt x="71319" y="95704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681649" y="1942460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5" h="95885">
                  <a:moveTo>
                    <a:pt x="0" y="95704"/>
                  </a:moveTo>
                  <a:lnTo>
                    <a:pt x="71319" y="95704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9570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752969" y="1980742"/>
              <a:ext cx="71755" cy="57785"/>
            </a:xfrm>
            <a:custGeom>
              <a:avLst/>
              <a:gdLst/>
              <a:ahLst/>
              <a:cxnLst/>
              <a:rect l="l" t="t" r="r" b="b"/>
              <a:pathLst>
                <a:path w="71755" h="57785">
                  <a:moveTo>
                    <a:pt x="71319" y="0"/>
                  </a:moveTo>
                  <a:lnTo>
                    <a:pt x="0" y="0"/>
                  </a:lnTo>
                  <a:lnTo>
                    <a:pt x="0" y="57422"/>
                  </a:lnTo>
                  <a:lnTo>
                    <a:pt x="71319" y="57422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1752969" y="1980742"/>
              <a:ext cx="71755" cy="57785"/>
            </a:xfrm>
            <a:custGeom>
              <a:avLst/>
              <a:gdLst/>
              <a:ahLst/>
              <a:cxnLst/>
              <a:rect l="l" t="t" r="r" b="b"/>
              <a:pathLst>
                <a:path w="71755" h="57785">
                  <a:moveTo>
                    <a:pt x="0" y="57422"/>
                  </a:moveTo>
                  <a:lnTo>
                    <a:pt x="71319" y="57422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5742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966925" y="2019033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5">
                  <a:moveTo>
                    <a:pt x="71323" y="0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71323" y="19138"/>
                  </a:lnTo>
                  <a:lnTo>
                    <a:pt x="71323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966928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5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2038248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5">
                  <a:moveTo>
                    <a:pt x="71319" y="0"/>
                  </a:moveTo>
                  <a:lnTo>
                    <a:pt x="0" y="0"/>
                  </a:lnTo>
                  <a:lnTo>
                    <a:pt x="0" y="19140"/>
                  </a:lnTo>
                  <a:lnTo>
                    <a:pt x="71319" y="1914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2038248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5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2323515" y="2019033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5">
                  <a:moveTo>
                    <a:pt x="71323" y="0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71323" y="19138"/>
                  </a:lnTo>
                  <a:lnTo>
                    <a:pt x="71323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2323528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5" h="19685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469213" y="1425657"/>
              <a:ext cx="2139950" cy="612775"/>
            </a:xfrm>
            <a:custGeom>
              <a:avLst/>
              <a:gdLst/>
              <a:ahLst/>
              <a:cxnLst/>
              <a:rect l="l" t="t" r="r" b="b"/>
              <a:pathLst>
                <a:path w="2139950" h="612775">
                  <a:moveTo>
                    <a:pt x="0" y="459380"/>
                  </a:moveTo>
                  <a:lnTo>
                    <a:pt x="1069796" y="612507"/>
                  </a:lnTo>
                  <a:lnTo>
                    <a:pt x="2139593" y="0"/>
                  </a:lnTo>
                </a:path>
              </a:pathLst>
            </a:custGeom>
            <a:ln w="13320">
              <a:solidFill>
                <a:srgbClr val="FFA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1" name="object 181"/>
          <p:cNvSpPr txBox="1"/>
          <p:nvPr/>
        </p:nvSpPr>
        <p:spPr>
          <a:xfrm>
            <a:off x="457423" y="2050421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82" name="object 182"/>
          <p:cNvSpPr/>
          <p:nvPr/>
        </p:nvSpPr>
        <p:spPr>
          <a:xfrm>
            <a:off x="434960" y="2106205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4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 txBox="1"/>
          <p:nvPr/>
        </p:nvSpPr>
        <p:spPr>
          <a:xfrm>
            <a:off x="814022" y="2050421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84" name="object 184"/>
          <p:cNvSpPr/>
          <p:nvPr/>
        </p:nvSpPr>
        <p:spPr>
          <a:xfrm>
            <a:off x="791559" y="2106205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4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 txBox="1"/>
          <p:nvPr/>
        </p:nvSpPr>
        <p:spPr>
          <a:xfrm>
            <a:off x="1170621" y="2050421"/>
            <a:ext cx="52069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86" name="object 186"/>
          <p:cNvSpPr/>
          <p:nvPr/>
        </p:nvSpPr>
        <p:spPr>
          <a:xfrm>
            <a:off x="1148157" y="2106205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4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 txBox="1"/>
          <p:nvPr/>
        </p:nvSpPr>
        <p:spPr>
          <a:xfrm>
            <a:off x="1507787" y="2050421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1864386" y="2050421"/>
            <a:ext cx="52069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2220984" y="2050421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2577583" y="2050421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372846" y="1979971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335800" y="1788562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10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50" spc="-7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71513" y="1610428"/>
            <a:ext cx="3892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</a:rPr>
              <a:t>tilted</a:t>
            </a:r>
            <a:r>
              <a:rPr sz="600" spc="360" dirty="0">
                <a:latin typeface="Tahoma"/>
                <a:cs typeface="Tahoma"/>
              </a:rPr>
              <a:t> </a:t>
            </a:r>
            <a:r>
              <a:rPr sz="825" spc="-37" baseline="15151" dirty="0">
                <a:solidFill>
                  <a:srgbClr val="262626"/>
                </a:solidFill>
                <a:latin typeface="Arial MT"/>
                <a:cs typeface="Arial MT"/>
              </a:rPr>
              <a:t>20</a:t>
            </a:r>
            <a:endParaRPr sz="825" baseline="15151">
              <a:latin typeface="Arial MT"/>
              <a:cs typeface="Arial MT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335800" y="1405745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solidFill>
                  <a:srgbClr val="262626"/>
                </a:solidFill>
                <a:latin typeface="Arial MT"/>
                <a:cs typeface="Arial MT"/>
              </a:rPr>
              <a:t>30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335800" y="1214336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solidFill>
                  <a:srgbClr val="262626"/>
                </a:solidFill>
                <a:latin typeface="Arial MT"/>
                <a:cs typeface="Arial MT"/>
              </a:rPr>
              <a:t>40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2642727" y="1979971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2642727" y="1724759"/>
            <a:ext cx="52069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2642727" y="1469548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2642727" y="1214336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00" name="object 200"/>
          <p:cNvGrpSpPr/>
          <p:nvPr/>
        </p:nvGrpSpPr>
        <p:grpSpPr>
          <a:xfrm>
            <a:off x="3037732" y="1269200"/>
            <a:ext cx="2153285" cy="775970"/>
            <a:chOff x="3037732" y="1269200"/>
            <a:chExt cx="2153285" cy="775970"/>
          </a:xfrm>
        </p:grpSpPr>
        <p:sp>
          <p:nvSpPr>
            <p:cNvPr id="201" name="object 201"/>
            <p:cNvSpPr/>
            <p:nvPr/>
          </p:nvSpPr>
          <p:spPr>
            <a:xfrm>
              <a:off x="3044392" y="1272530"/>
              <a:ext cx="2139950" cy="765810"/>
            </a:xfrm>
            <a:custGeom>
              <a:avLst/>
              <a:gdLst/>
              <a:ahLst/>
              <a:cxnLst/>
              <a:rect l="l" t="t" r="r" b="b"/>
              <a:pathLst>
                <a:path w="2139950" h="765810">
                  <a:moveTo>
                    <a:pt x="2139593" y="0"/>
                  </a:moveTo>
                  <a:lnTo>
                    <a:pt x="0" y="0"/>
                  </a:lnTo>
                  <a:lnTo>
                    <a:pt x="0" y="765634"/>
                  </a:lnTo>
                  <a:lnTo>
                    <a:pt x="2139593" y="765634"/>
                  </a:lnTo>
                  <a:lnTo>
                    <a:pt x="2139593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3044392" y="1272530"/>
              <a:ext cx="2139950" cy="765810"/>
            </a:xfrm>
            <a:custGeom>
              <a:avLst/>
              <a:gdLst/>
              <a:ahLst/>
              <a:cxnLst/>
              <a:rect l="l" t="t" r="r" b="b"/>
              <a:pathLst>
                <a:path w="2139950" h="765810">
                  <a:moveTo>
                    <a:pt x="0" y="765634"/>
                  </a:moveTo>
                  <a:lnTo>
                    <a:pt x="0" y="0"/>
                  </a:lnTo>
                </a:path>
                <a:path w="2139950" h="765810">
                  <a:moveTo>
                    <a:pt x="356598" y="765634"/>
                  </a:moveTo>
                  <a:lnTo>
                    <a:pt x="356598" y="0"/>
                  </a:lnTo>
                </a:path>
                <a:path w="2139950" h="765810">
                  <a:moveTo>
                    <a:pt x="713197" y="765634"/>
                  </a:moveTo>
                  <a:lnTo>
                    <a:pt x="713197" y="0"/>
                  </a:lnTo>
                </a:path>
                <a:path w="2139950" h="765810">
                  <a:moveTo>
                    <a:pt x="1069796" y="765634"/>
                  </a:moveTo>
                  <a:lnTo>
                    <a:pt x="1069796" y="0"/>
                  </a:lnTo>
                </a:path>
                <a:path w="2139950" h="765810">
                  <a:moveTo>
                    <a:pt x="1426395" y="765634"/>
                  </a:moveTo>
                  <a:lnTo>
                    <a:pt x="1426395" y="0"/>
                  </a:lnTo>
                </a:path>
                <a:path w="2139950" h="765810">
                  <a:moveTo>
                    <a:pt x="1782994" y="765634"/>
                  </a:moveTo>
                  <a:lnTo>
                    <a:pt x="1782994" y="0"/>
                  </a:lnTo>
                </a:path>
                <a:path w="2139950" h="765810">
                  <a:moveTo>
                    <a:pt x="2139593" y="765634"/>
                  </a:moveTo>
                  <a:lnTo>
                    <a:pt x="2139593" y="0"/>
                  </a:lnTo>
                </a:path>
                <a:path w="2139950" h="765810">
                  <a:moveTo>
                    <a:pt x="0" y="765634"/>
                  </a:moveTo>
                  <a:lnTo>
                    <a:pt x="2139593" y="765634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3044392" y="1846756"/>
              <a:ext cx="2139950" cy="0"/>
            </a:xfrm>
            <a:custGeom>
              <a:avLst/>
              <a:gdLst/>
              <a:ahLst/>
              <a:cxnLst/>
              <a:rect l="l" t="t" r="r" b="b"/>
              <a:pathLst>
                <a:path w="2139950">
                  <a:moveTo>
                    <a:pt x="0" y="0"/>
                  </a:moveTo>
                  <a:lnTo>
                    <a:pt x="570558" y="0"/>
                  </a:lnTo>
                </a:path>
                <a:path w="2139950">
                  <a:moveTo>
                    <a:pt x="713197" y="0"/>
                  </a:moveTo>
                  <a:lnTo>
                    <a:pt x="784517" y="0"/>
                  </a:lnTo>
                </a:path>
                <a:path w="2139950">
                  <a:moveTo>
                    <a:pt x="1141116" y="0"/>
                  </a:moveTo>
                  <a:lnTo>
                    <a:pt x="2139593" y="0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3044392" y="1272530"/>
              <a:ext cx="2139950" cy="382905"/>
            </a:xfrm>
            <a:custGeom>
              <a:avLst/>
              <a:gdLst/>
              <a:ahLst/>
              <a:cxnLst/>
              <a:rect l="l" t="t" r="r" b="b"/>
              <a:pathLst>
                <a:path w="2139950" h="382905">
                  <a:moveTo>
                    <a:pt x="0" y="382817"/>
                  </a:moveTo>
                  <a:lnTo>
                    <a:pt x="2139593" y="382817"/>
                  </a:lnTo>
                </a:path>
                <a:path w="2139950" h="382905">
                  <a:moveTo>
                    <a:pt x="0" y="191408"/>
                  </a:moveTo>
                  <a:lnTo>
                    <a:pt x="2139593" y="191408"/>
                  </a:lnTo>
                </a:path>
                <a:path w="2139950" h="382905">
                  <a:moveTo>
                    <a:pt x="0" y="0"/>
                  </a:moveTo>
                  <a:lnTo>
                    <a:pt x="2139593" y="0"/>
                  </a:lnTo>
                </a:path>
              </a:pathLst>
            </a:custGeom>
            <a:ln w="66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3187027" y="2019033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5">
                  <a:moveTo>
                    <a:pt x="71323" y="0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71323" y="19138"/>
                  </a:lnTo>
                  <a:lnTo>
                    <a:pt x="71323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187031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5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3258351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5">
                  <a:moveTo>
                    <a:pt x="71319" y="0"/>
                  </a:moveTo>
                  <a:lnTo>
                    <a:pt x="0" y="0"/>
                  </a:lnTo>
                  <a:lnTo>
                    <a:pt x="0" y="19140"/>
                  </a:lnTo>
                  <a:lnTo>
                    <a:pt x="71319" y="1914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3258351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5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3400983" y="1999894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4" h="38735">
                  <a:moveTo>
                    <a:pt x="71323" y="0"/>
                  </a:moveTo>
                  <a:lnTo>
                    <a:pt x="0" y="0"/>
                  </a:lnTo>
                  <a:lnTo>
                    <a:pt x="0" y="38277"/>
                  </a:lnTo>
                  <a:lnTo>
                    <a:pt x="71323" y="38277"/>
                  </a:lnTo>
                  <a:lnTo>
                    <a:pt x="71323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3400991" y="1999883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4" h="38735">
                  <a:moveTo>
                    <a:pt x="0" y="38281"/>
                  </a:moveTo>
                  <a:lnTo>
                    <a:pt x="71319" y="38281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8281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3472311" y="1999883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4" h="38735">
                  <a:moveTo>
                    <a:pt x="71319" y="0"/>
                  </a:moveTo>
                  <a:lnTo>
                    <a:pt x="0" y="0"/>
                  </a:lnTo>
                  <a:lnTo>
                    <a:pt x="0" y="38281"/>
                  </a:lnTo>
                  <a:lnTo>
                    <a:pt x="71319" y="38281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3472311" y="1999883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4" h="38735">
                  <a:moveTo>
                    <a:pt x="0" y="38281"/>
                  </a:moveTo>
                  <a:lnTo>
                    <a:pt x="71319" y="38281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8281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3543630" y="1961601"/>
              <a:ext cx="71755" cy="76835"/>
            </a:xfrm>
            <a:custGeom>
              <a:avLst/>
              <a:gdLst/>
              <a:ahLst/>
              <a:cxnLst/>
              <a:rect l="l" t="t" r="r" b="b"/>
              <a:pathLst>
                <a:path w="71754" h="76835">
                  <a:moveTo>
                    <a:pt x="71319" y="0"/>
                  </a:moveTo>
                  <a:lnTo>
                    <a:pt x="0" y="0"/>
                  </a:lnTo>
                  <a:lnTo>
                    <a:pt x="0" y="76563"/>
                  </a:lnTo>
                  <a:lnTo>
                    <a:pt x="71319" y="76563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3543630" y="1961601"/>
              <a:ext cx="71755" cy="76835"/>
            </a:xfrm>
            <a:custGeom>
              <a:avLst/>
              <a:gdLst/>
              <a:ahLst/>
              <a:cxnLst/>
              <a:rect l="l" t="t" r="r" b="b"/>
              <a:pathLst>
                <a:path w="71754" h="76835">
                  <a:moveTo>
                    <a:pt x="0" y="76563"/>
                  </a:moveTo>
                  <a:lnTo>
                    <a:pt x="71319" y="76563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76563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3614950" y="1827615"/>
              <a:ext cx="71755" cy="210820"/>
            </a:xfrm>
            <a:custGeom>
              <a:avLst/>
              <a:gdLst/>
              <a:ahLst/>
              <a:cxnLst/>
              <a:rect l="l" t="t" r="r" b="b"/>
              <a:pathLst>
                <a:path w="71754" h="210819">
                  <a:moveTo>
                    <a:pt x="71319" y="0"/>
                  </a:moveTo>
                  <a:lnTo>
                    <a:pt x="0" y="0"/>
                  </a:lnTo>
                  <a:lnTo>
                    <a:pt x="0" y="210549"/>
                  </a:lnTo>
                  <a:lnTo>
                    <a:pt x="71319" y="210549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3614950" y="1827615"/>
              <a:ext cx="71755" cy="210820"/>
            </a:xfrm>
            <a:custGeom>
              <a:avLst/>
              <a:gdLst/>
              <a:ahLst/>
              <a:cxnLst/>
              <a:rect l="l" t="t" r="r" b="b"/>
              <a:pathLst>
                <a:path w="71754" h="210819">
                  <a:moveTo>
                    <a:pt x="0" y="210549"/>
                  </a:moveTo>
                  <a:lnTo>
                    <a:pt x="71319" y="210549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10549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3686270" y="1808474"/>
              <a:ext cx="71755" cy="229870"/>
            </a:xfrm>
            <a:custGeom>
              <a:avLst/>
              <a:gdLst/>
              <a:ahLst/>
              <a:cxnLst/>
              <a:rect l="l" t="t" r="r" b="b"/>
              <a:pathLst>
                <a:path w="71754" h="229869">
                  <a:moveTo>
                    <a:pt x="71319" y="0"/>
                  </a:moveTo>
                  <a:lnTo>
                    <a:pt x="0" y="0"/>
                  </a:lnTo>
                  <a:lnTo>
                    <a:pt x="0" y="229690"/>
                  </a:lnTo>
                  <a:lnTo>
                    <a:pt x="71319" y="22969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3686270" y="1808474"/>
              <a:ext cx="71755" cy="229870"/>
            </a:xfrm>
            <a:custGeom>
              <a:avLst/>
              <a:gdLst/>
              <a:ahLst/>
              <a:cxnLst/>
              <a:rect l="l" t="t" r="r" b="b"/>
              <a:pathLst>
                <a:path w="71754" h="229869">
                  <a:moveTo>
                    <a:pt x="0" y="229690"/>
                  </a:moveTo>
                  <a:lnTo>
                    <a:pt x="71319" y="22969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2969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3757590" y="1865897"/>
              <a:ext cx="71755" cy="172720"/>
            </a:xfrm>
            <a:custGeom>
              <a:avLst/>
              <a:gdLst/>
              <a:ahLst/>
              <a:cxnLst/>
              <a:rect l="l" t="t" r="r" b="b"/>
              <a:pathLst>
                <a:path w="71754" h="172719">
                  <a:moveTo>
                    <a:pt x="71319" y="0"/>
                  </a:moveTo>
                  <a:lnTo>
                    <a:pt x="0" y="0"/>
                  </a:lnTo>
                  <a:lnTo>
                    <a:pt x="0" y="172267"/>
                  </a:lnTo>
                  <a:lnTo>
                    <a:pt x="71319" y="172267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3757590" y="1865897"/>
              <a:ext cx="71755" cy="172720"/>
            </a:xfrm>
            <a:custGeom>
              <a:avLst/>
              <a:gdLst/>
              <a:ahLst/>
              <a:cxnLst/>
              <a:rect l="l" t="t" r="r" b="b"/>
              <a:pathLst>
                <a:path w="71754" h="172719">
                  <a:moveTo>
                    <a:pt x="0" y="172267"/>
                  </a:moveTo>
                  <a:lnTo>
                    <a:pt x="71319" y="172267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7226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3828909" y="1731911"/>
              <a:ext cx="71755" cy="306705"/>
            </a:xfrm>
            <a:custGeom>
              <a:avLst/>
              <a:gdLst/>
              <a:ahLst/>
              <a:cxnLst/>
              <a:rect l="l" t="t" r="r" b="b"/>
              <a:pathLst>
                <a:path w="71754" h="306705">
                  <a:moveTo>
                    <a:pt x="71319" y="0"/>
                  </a:moveTo>
                  <a:lnTo>
                    <a:pt x="0" y="0"/>
                  </a:lnTo>
                  <a:lnTo>
                    <a:pt x="0" y="306253"/>
                  </a:lnTo>
                  <a:lnTo>
                    <a:pt x="71319" y="306253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3828909" y="1731911"/>
              <a:ext cx="71755" cy="306705"/>
            </a:xfrm>
            <a:custGeom>
              <a:avLst/>
              <a:gdLst/>
              <a:ahLst/>
              <a:cxnLst/>
              <a:rect l="l" t="t" r="r" b="b"/>
              <a:pathLst>
                <a:path w="71754" h="306705">
                  <a:moveTo>
                    <a:pt x="0" y="306253"/>
                  </a:moveTo>
                  <a:lnTo>
                    <a:pt x="71319" y="306253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06253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3900229" y="1674488"/>
              <a:ext cx="71755" cy="363855"/>
            </a:xfrm>
            <a:custGeom>
              <a:avLst/>
              <a:gdLst/>
              <a:ahLst/>
              <a:cxnLst/>
              <a:rect l="l" t="t" r="r" b="b"/>
              <a:pathLst>
                <a:path w="71754" h="363855">
                  <a:moveTo>
                    <a:pt x="71319" y="0"/>
                  </a:moveTo>
                  <a:lnTo>
                    <a:pt x="0" y="0"/>
                  </a:lnTo>
                  <a:lnTo>
                    <a:pt x="0" y="363676"/>
                  </a:lnTo>
                  <a:lnTo>
                    <a:pt x="71319" y="363676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3900229" y="1674488"/>
              <a:ext cx="71755" cy="363855"/>
            </a:xfrm>
            <a:custGeom>
              <a:avLst/>
              <a:gdLst/>
              <a:ahLst/>
              <a:cxnLst/>
              <a:rect l="l" t="t" r="r" b="b"/>
              <a:pathLst>
                <a:path w="71754" h="363855">
                  <a:moveTo>
                    <a:pt x="0" y="363676"/>
                  </a:moveTo>
                  <a:lnTo>
                    <a:pt x="71319" y="363676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6367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3971549" y="1712770"/>
              <a:ext cx="71755" cy="325755"/>
            </a:xfrm>
            <a:custGeom>
              <a:avLst/>
              <a:gdLst/>
              <a:ahLst/>
              <a:cxnLst/>
              <a:rect l="l" t="t" r="r" b="b"/>
              <a:pathLst>
                <a:path w="71754" h="325755">
                  <a:moveTo>
                    <a:pt x="71319" y="0"/>
                  </a:moveTo>
                  <a:lnTo>
                    <a:pt x="0" y="0"/>
                  </a:lnTo>
                  <a:lnTo>
                    <a:pt x="0" y="325394"/>
                  </a:lnTo>
                  <a:lnTo>
                    <a:pt x="71319" y="325394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3971549" y="1712770"/>
              <a:ext cx="71755" cy="325755"/>
            </a:xfrm>
            <a:custGeom>
              <a:avLst/>
              <a:gdLst/>
              <a:ahLst/>
              <a:cxnLst/>
              <a:rect l="l" t="t" r="r" b="b"/>
              <a:pathLst>
                <a:path w="71754" h="325755">
                  <a:moveTo>
                    <a:pt x="0" y="325394"/>
                  </a:moveTo>
                  <a:lnTo>
                    <a:pt x="71319" y="325394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2539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4042869" y="1751052"/>
              <a:ext cx="71755" cy="287655"/>
            </a:xfrm>
            <a:custGeom>
              <a:avLst/>
              <a:gdLst/>
              <a:ahLst/>
              <a:cxnLst/>
              <a:rect l="l" t="t" r="r" b="b"/>
              <a:pathLst>
                <a:path w="71754" h="287655">
                  <a:moveTo>
                    <a:pt x="71319" y="0"/>
                  </a:moveTo>
                  <a:lnTo>
                    <a:pt x="0" y="0"/>
                  </a:lnTo>
                  <a:lnTo>
                    <a:pt x="0" y="287112"/>
                  </a:lnTo>
                  <a:lnTo>
                    <a:pt x="71319" y="287112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4042869" y="1751052"/>
              <a:ext cx="71755" cy="287655"/>
            </a:xfrm>
            <a:custGeom>
              <a:avLst/>
              <a:gdLst/>
              <a:ahLst/>
              <a:cxnLst/>
              <a:rect l="l" t="t" r="r" b="b"/>
              <a:pathLst>
                <a:path w="71754" h="287655">
                  <a:moveTo>
                    <a:pt x="0" y="287112"/>
                  </a:moveTo>
                  <a:lnTo>
                    <a:pt x="71319" y="287112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8711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4114189" y="1808474"/>
              <a:ext cx="71755" cy="229870"/>
            </a:xfrm>
            <a:custGeom>
              <a:avLst/>
              <a:gdLst/>
              <a:ahLst/>
              <a:cxnLst/>
              <a:rect l="l" t="t" r="r" b="b"/>
              <a:pathLst>
                <a:path w="71754" h="229869">
                  <a:moveTo>
                    <a:pt x="71319" y="0"/>
                  </a:moveTo>
                  <a:lnTo>
                    <a:pt x="0" y="0"/>
                  </a:lnTo>
                  <a:lnTo>
                    <a:pt x="0" y="229690"/>
                  </a:lnTo>
                  <a:lnTo>
                    <a:pt x="71319" y="22969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4114189" y="1808474"/>
              <a:ext cx="71755" cy="229870"/>
            </a:xfrm>
            <a:custGeom>
              <a:avLst/>
              <a:gdLst/>
              <a:ahLst/>
              <a:cxnLst/>
              <a:rect l="l" t="t" r="r" b="b"/>
              <a:pathLst>
                <a:path w="71754" h="229869">
                  <a:moveTo>
                    <a:pt x="0" y="229690"/>
                  </a:moveTo>
                  <a:lnTo>
                    <a:pt x="71319" y="22969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22969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4185508" y="1942460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4" h="95885">
                  <a:moveTo>
                    <a:pt x="71319" y="0"/>
                  </a:moveTo>
                  <a:lnTo>
                    <a:pt x="0" y="0"/>
                  </a:lnTo>
                  <a:lnTo>
                    <a:pt x="0" y="95704"/>
                  </a:lnTo>
                  <a:lnTo>
                    <a:pt x="71319" y="95704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4185508" y="1942460"/>
              <a:ext cx="71755" cy="95885"/>
            </a:xfrm>
            <a:custGeom>
              <a:avLst/>
              <a:gdLst/>
              <a:ahLst/>
              <a:cxnLst/>
              <a:rect l="l" t="t" r="r" b="b"/>
              <a:pathLst>
                <a:path w="71754" h="95885">
                  <a:moveTo>
                    <a:pt x="0" y="95704"/>
                  </a:moveTo>
                  <a:lnTo>
                    <a:pt x="71319" y="95704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9570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4256828" y="1885038"/>
              <a:ext cx="71755" cy="153670"/>
            </a:xfrm>
            <a:custGeom>
              <a:avLst/>
              <a:gdLst/>
              <a:ahLst/>
              <a:cxnLst/>
              <a:rect l="l" t="t" r="r" b="b"/>
              <a:pathLst>
                <a:path w="71754" h="153669">
                  <a:moveTo>
                    <a:pt x="71319" y="0"/>
                  </a:moveTo>
                  <a:lnTo>
                    <a:pt x="0" y="0"/>
                  </a:lnTo>
                  <a:lnTo>
                    <a:pt x="0" y="153126"/>
                  </a:lnTo>
                  <a:lnTo>
                    <a:pt x="71319" y="153126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4256828" y="1885038"/>
              <a:ext cx="71755" cy="153670"/>
            </a:xfrm>
            <a:custGeom>
              <a:avLst/>
              <a:gdLst/>
              <a:ahLst/>
              <a:cxnLst/>
              <a:rect l="l" t="t" r="r" b="b"/>
              <a:pathLst>
                <a:path w="71754" h="153669">
                  <a:moveTo>
                    <a:pt x="0" y="153126"/>
                  </a:moveTo>
                  <a:lnTo>
                    <a:pt x="71319" y="153126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5312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4328148" y="1885038"/>
              <a:ext cx="71755" cy="153670"/>
            </a:xfrm>
            <a:custGeom>
              <a:avLst/>
              <a:gdLst/>
              <a:ahLst/>
              <a:cxnLst/>
              <a:rect l="l" t="t" r="r" b="b"/>
              <a:pathLst>
                <a:path w="71754" h="153669">
                  <a:moveTo>
                    <a:pt x="71319" y="0"/>
                  </a:moveTo>
                  <a:lnTo>
                    <a:pt x="0" y="0"/>
                  </a:lnTo>
                  <a:lnTo>
                    <a:pt x="0" y="153126"/>
                  </a:lnTo>
                  <a:lnTo>
                    <a:pt x="71319" y="153126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4328148" y="1885038"/>
              <a:ext cx="71755" cy="153670"/>
            </a:xfrm>
            <a:custGeom>
              <a:avLst/>
              <a:gdLst/>
              <a:ahLst/>
              <a:cxnLst/>
              <a:rect l="l" t="t" r="r" b="b"/>
              <a:pathLst>
                <a:path w="71754" h="153669">
                  <a:moveTo>
                    <a:pt x="0" y="153126"/>
                  </a:moveTo>
                  <a:lnTo>
                    <a:pt x="71319" y="153126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5312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4399468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5">
                  <a:moveTo>
                    <a:pt x="71319" y="0"/>
                  </a:moveTo>
                  <a:lnTo>
                    <a:pt x="0" y="0"/>
                  </a:lnTo>
                  <a:lnTo>
                    <a:pt x="0" y="19140"/>
                  </a:lnTo>
                  <a:lnTo>
                    <a:pt x="71319" y="1914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4399468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5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4470788" y="1961601"/>
              <a:ext cx="71755" cy="76835"/>
            </a:xfrm>
            <a:custGeom>
              <a:avLst/>
              <a:gdLst/>
              <a:ahLst/>
              <a:cxnLst/>
              <a:rect l="l" t="t" r="r" b="b"/>
              <a:pathLst>
                <a:path w="71754" h="76835">
                  <a:moveTo>
                    <a:pt x="71319" y="0"/>
                  </a:moveTo>
                  <a:lnTo>
                    <a:pt x="0" y="0"/>
                  </a:lnTo>
                  <a:lnTo>
                    <a:pt x="0" y="76563"/>
                  </a:lnTo>
                  <a:lnTo>
                    <a:pt x="71319" y="76563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4470788" y="1961601"/>
              <a:ext cx="71755" cy="76835"/>
            </a:xfrm>
            <a:custGeom>
              <a:avLst/>
              <a:gdLst/>
              <a:ahLst/>
              <a:cxnLst/>
              <a:rect l="l" t="t" r="r" b="b"/>
              <a:pathLst>
                <a:path w="71754" h="76835">
                  <a:moveTo>
                    <a:pt x="0" y="76563"/>
                  </a:moveTo>
                  <a:lnTo>
                    <a:pt x="71319" y="76563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76563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4542107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5">
                  <a:moveTo>
                    <a:pt x="71319" y="0"/>
                  </a:moveTo>
                  <a:lnTo>
                    <a:pt x="0" y="0"/>
                  </a:lnTo>
                  <a:lnTo>
                    <a:pt x="0" y="19140"/>
                  </a:lnTo>
                  <a:lnTo>
                    <a:pt x="71319" y="19140"/>
                  </a:lnTo>
                  <a:lnTo>
                    <a:pt x="71319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4542107" y="2019024"/>
              <a:ext cx="71755" cy="19685"/>
            </a:xfrm>
            <a:custGeom>
              <a:avLst/>
              <a:gdLst/>
              <a:ahLst/>
              <a:cxnLst/>
              <a:rect l="l" t="t" r="r" b="b"/>
              <a:pathLst>
                <a:path w="71754" h="19685">
                  <a:moveTo>
                    <a:pt x="0" y="19140"/>
                  </a:moveTo>
                  <a:lnTo>
                    <a:pt x="71319" y="19140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1914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4827384" y="1999894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4" h="38735">
                  <a:moveTo>
                    <a:pt x="71310" y="0"/>
                  </a:moveTo>
                  <a:lnTo>
                    <a:pt x="0" y="0"/>
                  </a:lnTo>
                  <a:lnTo>
                    <a:pt x="0" y="38277"/>
                  </a:lnTo>
                  <a:lnTo>
                    <a:pt x="71310" y="38277"/>
                  </a:lnTo>
                  <a:lnTo>
                    <a:pt x="7131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4827387" y="1999883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4" h="38735">
                  <a:moveTo>
                    <a:pt x="0" y="38281"/>
                  </a:moveTo>
                  <a:lnTo>
                    <a:pt x="71319" y="38281"/>
                  </a:lnTo>
                  <a:lnTo>
                    <a:pt x="71319" y="0"/>
                  </a:lnTo>
                  <a:lnTo>
                    <a:pt x="0" y="0"/>
                  </a:lnTo>
                  <a:lnTo>
                    <a:pt x="0" y="38281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3044392" y="1425657"/>
              <a:ext cx="2139950" cy="612775"/>
            </a:xfrm>
            <a:custGeom>
              <a:avLst/>
              <a:gdLst/>
              <a:ahLst/>
              <a:cxnLst/>
              <a:rect l="l" t="t" r="r" b="b"/>
              <a:pathLst>
                <a:path w="2139950" h="612775">
                  <a:moveTo>
                    <a:pt x="0" y="459380"/>
                  </a:moveTo>
                  <a:lnTo>
                    <a:pt x="1069796" y="612507"/>
                  </a:lnTo>
                  <a:lnTo>
                    <a:pt x="2139593" y="0"/>
                  </a:lnTo>
                </a:path>
              </a:pathLst>
            </a:custGeom>
            <a:ln w="13320">
              <a:solidFill>
                <a:srgbClr val="FFA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6" name="object 246"/>
          <p:cNvSpPr txBox="1"/>
          <p:nvPr/>
        </p:nvSpPr>
        <p:spPr>
          <a:xfrm>
            <a:off x="3032602" y="2050421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47" name="object 247"/>
          <p:cNvSpPr/>
          <p:nvPr/>
        </p:nvSpPr>
        <p:spPr>
          <a:xfrm>
            <a:off x="3010138" y="2106205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4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 txBox="1"/>
          <p:nvPr/>
        </p:nvSpPr>
        <p:spPr>
          <a:xfrm>
            <a:off x="3389202" y="2050421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49" name="object 249"/>
          <p:cNvSpPr/>
          <p:nvPr/>
        </p:nvSpPr>
        <p:spPr>
          <a:xfrm>
            <a:off x="3366737" y="2106205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4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 txBox="1"/>
          <p:nvPr/>
        </p:nvSpPr>
        <p:spPr>
          <a:xfrm>
            <a:off x="3745800" y="2050421"/>
            <a:ext cx="52069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51" name="object 251"/>
          <p:cNvSpPr/>
          <p:nvPr/>
        </p:nvSpPr>
        <p:spPr>
          <a:xfrm>
            <a:off x="3723337" y="2106205"/>
            <a:ext cx="31750" cy="5715"/>
          </a:xfrm>
          <a:custGeom>
            <a:avLst/>
            <a:gdLst/>
            <a:ahLst/>
            <a:cxnLst/>
            <a:rect l="l" t="t" r="r" b="b"/>
            <a:pathLst>
              <a:path w="31750" h="5714">
                <a:moveTo>
                  <a:pt x="31435" y="0"/>
                </a:moveTo>
                <a:lnTo>
                  <a:pt x="0" y="0"/>
                </a:lnTo>
                <a:lnTo>
                  <a:pt x="0" y="5461"/>
                </a:lnTo>
                <a:lnTo>
                  <a:pt x="31435" y="5461"/>
                </a:lnTo>
                <a:lnTo>
                  <a:pt x="314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 txBox="1"/>
          <p:nvPr/>
        </p:nvSpPr>
        <p:spPr>
          <a:xfrm>
            <a:off x="4082965" y="2050421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66" name="object 26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253" name="object 253"/>
          <p:cNvSpPr txBox="1"/>
          <p:nvPr/>
        </p:nvSpPr>
        <p:spPr>
          <a:xfrm>
            <a:off x="4439565" y="2050421"/>
            <a:ext cx="52069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54" name="object 254"/>
          <p:cNvSpPr txBox="1"/>
          <p:nvPr/>
        </p:nvSpPr>
        <p:spPr>
          <a:xfrm>
            <a:off x="4796163" y="2050421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55" name="object 255"/>
          <p:cNvSpPr txBox="1"/>
          <p:nvPr/>
        </p:nvSpPr>
        <p:spPr>
          <a:xfrm>
            <a:off x="243624" y="2134755"/>
            <a:ext cx="4589780" cy="156453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310005">
              <a:lnSpc>
                <a:spcPct val="100000"/>
              </a:lnSpc>
              <a:spcBef>
                <a:spcPts val="500"/>
              </a:spcBef>
              <a:tabLst>
                <a:tab pos="3900170" algn="l"/>
              </a:tabLst>
            </a:pPr>
            <a:r>
              <a:rPr sz="600" dirty="0">
                <a:latin typeface="Tahoma"/>
                <a:cs typeface="Tahoma"/>
              </a:rPr>
              <a:t>train	test</a:t>
            </a:r>
          </a:p>
        </p:txBody>
      </p:sp>
      <p:sp>
        <p:nvSpPr>
          <p:cNvPr id="256" name="object 256"/>
          <p:cNvSpPr txBox="1"/>
          <p:nvPr/>
        </p:nvSpPr>
        <p:spPr>
          <a:xfrm>
            <a:off x="5152763" y="2050421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57" name="object 257"/>
          <p:cNvSpPr txBox="1"/>
          <p:nvPr/>
        </p:nvSpPr>
        <p:spPr>
          <a:xfrm>
            <a:off x="2948025" y="1979971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58" name="object 258"/>
          <p:cNvSpPr txBox="1"/>
          <p:nvPr/>
        </p:nvSpPr>
        <p:spPr>
          <a:xfrm>
            <a:off x="2910979" y="1788562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10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50" spc="-7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59" name="object 259"/>
          <p:cNvSpPr txBox="1"/>
          <p:nvPr/>
        </p:nvSpPr>
        <p:spPr>
          <a:xfrm>
            <a:off x="2910979" y="1597154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solidFill>
                  <a:srgbClr val="262626"/>
                </a:solidFill>
                <a:latin typeface="Arial MT"/>
                <a:cs typeface="Arial MT"/>
              </a:rPr>
              <a:t>20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2910979" y="1405745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solidFill>
                  <a:srgbClr val="262626"/>
                </a:solidFill>
                <a:latin typeface="Arial MT"/>
                <a:cs typeface="Arial MT"/>
              </a:rPr>
              <a:t>30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2910979" y="1214336"/>
            <a:ext cx="9969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solidFill>
                  <a:srgbClr val="262626"/>
                </a:solidFill>
                <a:latin typeface="Arial MT"/>
                <a:cs typeface="Arial MT"/>
              </a:rPr>
              <a:t>40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5217905" y="1979971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217905" y="1724759"/>
            <a:ext cx="52069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217905" y="1469548"/>
            <a:ext cx="62230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5217905" y="1214336"/>
            <a:ext cx="62865" cy="108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solidFill>
                  <a:srgbClr val="FFA400"/>
                </a:solidFill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3FF4B1BE-B936-54E9-7065-A83CAF6BE23F}"/>
                  </a:ext>
                </a:extLst>
              </p:cNvPr>
              <p:cNvSpPr txBox="1"/>
              <p:nvPr/>
            </p:nvSpPr>
            <p:spPr>
              <a:xfrm>
                <a:off x="179456" y="2191902"/>
                <a:ext cx="5463045" cy="1000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artificial data 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=300</m:t>
                    </m:r>
                  </m:oMath>
                </a14:m>
                <a:r>
                  <a:rPr lang="en-US" sz="1000" dirty="0"/>
                  <a:t>,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000" dirty="0"/>
                  <a:t>, and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=31</m:t>
                    </m:r>
                  </m:oMath>
                </a14:m>
                <a:r>
                  <a:rPr lang="en-US" sz="1000" dirty="0"/>
                  <a:t>, using 50/50 test/train split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1000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10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0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first feature is constant; plots show histogram of residuals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0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000" i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000" i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100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tilted loss results in distribution with most residuals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1000" i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1000" dirty="0"/>
                  <a:t>, </a:t>
                </a:r>
                <a:r>
                  <a:rPr lang="en-US" sz="1000" i="1" dirty="0"/>
                  <a:t>i.e.</a:t>
                </a:r>
                <a:r>
                  <a:rPr lang="en-US" sz="1000" dirty="0"/>
                  <a:t>, predictor prefers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m:rPr>
                            <m:nor/>
                          </m:rPr>
                          <a:rPr lang="en-US" sz="1000" b="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sz="1000" b="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1000" b="0" i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1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000" b="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3FF4B1BE-B936-54E9-7065-A83CAF6BE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56" y="2191902"/>
                <a:ext cx="5463045" cy="1000017"/>
              </a:xfrm>
              <a:prstGeom prst="rect">
                <a:avLst/>
              </a:prstGeom>
              <a:blipFill>
                <a:blip r:embed="rId2"/>
                <a:stretch>
                  <a:fillRect b="-1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1968500" y="1012825"/>
            <a:ext cx="2356016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dirty="0">
                <a:solidFill>
                  <a:schemeClr val="tx1"/>
                </a:solidFill>
                <a:latin typeface="Arial MT"/>
                <a:cs typeface="Arial MT"/>
              </a:rPr>
              <a:t>Robust fitting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4" y="71378"/>
            <a:ext cx="11513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Outliers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624" y="580431"/>
            <a:ext cx="5649176" cy="24513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95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50" dirty="0">
                <a:latin typeface="Arial MT"/>
                <a:cs typeface="Arial MT"/>
              </a:rPr>
              <a:t>in some applications, a few data points are ‘way off’, or just ‘wrong’</a:t>
            </a:r>
          </a:p>
          <a:p>
            <a:pPr marL="152400" indent="-139700">
              <a:lnSpc>
                <a:spcPct val="100000"/>
              </a:lnSpc>
              <a:spcBef>
                <a:spcPts val="865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50" dirty="0">
                <a:latin typeface="Arial MT"/>
                <a:cs typeface="Arial MT"/>
              </a:rPr>
              <a:t>occurs due to transcription errors, error in decimal point position, </a:t>
            </a:r>
            <a:r>
              <a:rPr sz="1050" i="1" dirty="0">
                <a:latin typeface="Arial"/>
                <a:cs typeface="Arial"/>
              </a:rPr>
              <a:t>etc.</a:t>
            </a:r>
            <a:endParaRPr sz="1050" dirty="0">
              <a:latin typeface="Arial"/>
              <a:cs typeface="Arial"/>
            </a:endParaRPr>
          </a:p>
          <a:p>
            <a:pPr marL="152400" indent="-139700">
              <a:lnSpc>
                <a:spcPct val="100000"/>
              </a:lnSpc>
              <a:spcBef>
                <a:spcPts val="860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50" dirty="0">
                <a:latin typeface="Arial MT"/>
                <a:cs typeface="Arial MT"/>
              </a:rPr>
              <a:t>these points are called </a:t>
            </a:r>
            <a:r>
              <a:rPr sz="1050" i="1" dirty="0">
                <a:solidFill>
                  <a:srgbClr val="990000"/>
                </a:solidFill>
                <a:latin typeface="Arial"/>
                <a:cs typeface="Arial"/>
              </a:rPr>
              <a:t>outliers</a:t>
            </a:r>
            <a:endParaRPr sz="1050" dirty="0">
              <a:latin typeface="Arial"/>
              <a:cs typeface="Arial"/>
            </a:endParaRPr>
          </a:p>
          <a:p>
            <a:pPr marL="152400" indent="-139700">
              <a:lnSpc>
                <a:spcPct val="100000"/>
              </a:lnSpc>
              <a:spcBef>
                <a:spcPts val="865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50" dirty="0">
                <a:latin typeface="Arial MT"/>
                <a:cs typeface="Arial MT"/>
              </a:rPr>
              <a:t>even a few outliers in a data set can result in ERM picking a poor predictor</a:t>
            </a:r>
          </a:p>
          <a:p>
            <a:pPr marL="152400" indent="-139700">
              <a:lnSpc>
                <a:spcPct val="100000"/>
              </a:lnSpc>
              <a:spcBef>
                <a:spcPts val="860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50" dirty="0">
                <a:latin typeface="Arial MT"/>
                <a:cs typeface="Arial MT"/>
              </a:rPr>
              <a:t>several standard methods are used to remove outliers, or reduce their impact</a:t>
            </a:r>
          </a:p>
          <a:p>
            <a:pPr marL="152400" indent="-139700">
              <a:lnSpc>
                <a:spcPct val="100000"/>
              </a:lnSpc>
              <a:spcBef>
                <a:spcPts val="715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50" dirty="0">
                <a:latin typeface="Arial MT"/>
                <a:cs typeface="Arial MT"/>
              </a:rPr>
              <a:t>one simple method:</a:t>
            </a:r>
          </a:p>
          <a:p>
            <a:pPr marL="409575" lvl="1" indent="-139700">
              <a:lnSpc>
                <a:spcPct val="100000"/>
              </a:lnSpc>
              <a:spcBef>
                <a:spcPts val="615"/>
              </a:spcBef>
              <a:buClr>
                <a:srgbClr val="000099"/>
              </a:buClr>
              <a:buSzPct val="81250"/>
              <a:buFont typeface="Verdana"/>
              <a:buChar char="*"/>
              <a:tabLst>
                <a:tab pos="409575" algn="l"/>
              </a:tabLst>
            </a:pPr>
            <a:r>
              <a:rPr sz="1000" dirty="0">
                <a:latin typeface="Tahoma"/>
                <a:cs typeface="Tahoma"/>
              </a:rPr>
              <a:t>create predictor from data set</a:t>
            </a:r>
          </a:p>
          <a:p>
            <a:pPr marL="409575" lvl="1" indent="-139700">
              <a:lnSpc>
                <a:spcPct val="100000"/>
              </a:lnSpc>
              <a:spcBef>
                <a:spcPts val="434"/>
              </a:spcBef>
              <a:buClr>
                <a:srgbClr val="000099"/>
              </a:buClr>
              <a:buSzPct val="81250"/>
              <a:buFont typeface="Verdana"/>
              <a:buChar char="*"/>
              <a:tabLst>
                <a:tab pos="409575" algn="l"/>
              </a:tabLst>
            </a:pPr>
            <a:r>
              <a:rPr sz="1000" dirty="0">
                <a:latin typeface="Tahoma"/>
                <a:cs typeface="Tahoma"/>
              </a:rPr>
              <a:t>flag data points with large prediction errors as outliers</a:t>
            </a:r>
          </a:p>
          <a:p>
            <a:pPr marL="409575" lvl="1" indent="-139700">
              <a:lnSpc>
                <a:spcPct val="100000"/>
              </a:lnSpc>
              <a:spcBef>
                <a:spcPts val="434"/>
              </a:spcBef>
              <a:buClr>
                <a:srgbClr val="000099"/>
              </a:buClr>
              <a:buSzPct val="81250"/>
              <a:buFont typeface="Verdana"/>
              <a:buChar char="*"/>
              <a:tabLst>
                <a:tab pos="409575" algn="l"/>
              </a:tabLst>
            </a:pPr>
            <a:r>
              <a:rPr sz="1000" dirty="0">
                <a:latin typeface="Tahoma"/>
                <a:cs typeface="Tahoma"/>
              </a:rPr>
              <a:t>remove them from the data set and repeat</a:t>
            </a:r>
          </a:p>
          <a:p>
            <a:pPr marL="152400" indent="-139700">
              <a:lnSpc>
                <a:spcPct val="100000"/>
              </a:lnSpc>
              <a:spcBef>
                <a:spcPts val="880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50" dirty="0">
                <a:latin typeface="Arial MT"/>
                <a:cs typeface="Arial MT"/>
              </a:rPr>
              <a:t>it’s also possible to use a penalty function that is less sensitive to outlier data points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4" y="71378"/>
            <a:ext cx="19895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chemeClr val="tx1"/>
                </a:solidFill>
              </a:rPr>
              <a:t>Robust</a:t>
            </a:r>
            <a:r>
              <a:rPr sz="1200" spc="-15" dirty="0">
                <a:solidFill>
                  <a:schemeClr val="tx1"/>
                </a:solidFill>
              </a:rPr>
              <a:t> </a:t>
            </a:r>
            <a:r>
              <a:rPr sz="1200" spc="-20" dirty="0">
                <a:solidFill>
                  <a:schemeClr val="tx1"/>
                </a:solidFill>
              </a:rPr>
              <a:t>penalty</a:t>
            </a:r>
            <a:r>
              <a:rPr sz="1200" spc="-10" dirty="0">
                <a:solidFill>
                  <a:schemeClr val="tx1"/>
                </a:solidFill>
              </a:rPr>
              <a:t> </a:t>
            </a:r>
            <a:r>
              <a:rPr sz="1200" spc="-40" dirty="0"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2100" y="846892"/>
            <a:ext cx="4980940" cy="15510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95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00" dirty="0">
                <a:latin typeface="Arial MT"/>
                <a:cs typeface="Arial MT"/>
              </a:rPr>
              <a:t>we say a penalty function is </a:t>
            </a:r>
            <a:r>
              <a:rPr sz="1000" i="1" dirty="0">
                <a:solidFill>
                  <a:srgbClr val="990000"/>
                </a:solidFill>
                <a:latin typeface="Arial"/>
                <a:cs typeface="Arial"/>
              </a:rPr>
              <a:t>robust </a:t>
            </a:r>
            <a:r>
              <a:rPr sz="1000" dirty="0">
                <a:latin typeface="Arial MT"/>
                <a:cs typeface="Arial MT"/>
              </a:rPr>
              <a:t>if it has low sensitivity to outliers</a:t>
            </a:r>
          </a:p>
          <a:p>
            <a:pPr marL="152400" indent="-139700">
              <a:lnSpc>
                <a:spcPct val="100000"/>
              </a:lnSpc>
              <a:spcBef>
                <a:spcPts val="865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00" dirty="0">
                <a:latin typeface="Arial MT"/>
                <a:cs typeface="Arial MT"/>
              </a:rPr>
              <a:t>robust penalty functions grow more slowly for large prediction error values than the square penalty</a:t>
            </a:r>
          </a:p>
          <a:p>
            <a:pPr marL="152400" indent="-139700">
              <a:lnSpc>
                <a:spcPct val="100000"/>
              </a:lnSpc>
              <a:spcBef>
                <a:spcPts val="860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00" dirty="0">
                <a:latin typeface="Arial MT"/>
                <a:cs typeface="Arial MT"/>
              </a:rPr>
              <a:t>and so ‘allow’ the predictor to have a few large prediction errors (presumably for the outliers)</a:t>
            </a:r>
          </a:p>
          <a:p>
            <a:pPr marL="152400" indent="-139700">
              <a:lnSpc>
                <a:spcPct val="100000"/>
              </a:lnSpc>
              <a:spcBef>
                <a:spcPts val="865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00" dirty="0">
                <a:latin typeface="Arial MT"/>
                <a:cs typeface="Arial MT"/>
              </a:rPr>
              <a:t>so they handle outliers more gracefully</a:t>
            </a:r>
          </a:p>
          <a:p>
            <a:pPr marL="152400" indent="-139700">
              <a:lnSpc>
                <a:spcPct val="100000"/>
              </a:lnSpc>
              <a:spcBef>
                <a:spcPts val="860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00" dirty="0">
                <a:latin typeface="Arial MT"/>
                <a:cs typeface="Arial MT"/>
              </a:rPr>
              <a:t>a </a:t>
            </a:r>
            <a:r>
              <a:rPr sz="1000" i="1" dirty="0">
                <a:solidFill>
                  <a:srgbClr val="990000"/>
                </a:solidFill>
                <a:latin typeface="Arial"/>
                <a:cs typeface="Arial"/>
              </a:rPr>
              <a:t>robust predictor </a:t>
            </a:r>
            <a:r>
              <a:rPr sz="1000" dirty="0">
                <a:latin typeface="Arial MT"/>
                <a:cs typeface="Arial MT"/>
              </a:rPr>
              <a:t>might fit, </a:t>
            </a:r>
            <a:r>
              <a:rPr sz="1000" i="1" dirty="0">
                <a:latin typeface="Arial"/>
                <a:cs typeface="Arial"/>
              </a:rPr>
              <a:t>e.g.</a:t>
            </a:r>
            <a:r>
              <a:rPr sz="1000" dirty="0">
                <a:latin typeface="Arial MT"/>
                <a:cs typeface="Arial MT"/>
              </a:rPr>
              <a:t>, 98% of the data very well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4" y="71378"/>
            <a:ext cx="9227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Huber</a:t>
            </a:r>
            <a:r>
              <a:rPr sz="1200" spc="-15" dirty="0">
                <a:solidFill>
                  <a:schemeClr val="tx1"/>
                </a:solidFill>
              </a:rPr>
              <a:t> </a:t>
            </a:r>
            <a:r>
              <a:rPr sz="1200" spc="-70" dirty="0">
                <a:solidFill>
                  <a:schemeClr val="tx1"/>
                </a:solidFill>
              </a:rPr>
              <a:t>loss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C6B1A3A-614C-8DF3-3EA5-63F1039CF055}"/>
                  </a:ext>
                </a:extLst>
              </p:cNvPr>
              <p:cNvSpPr txBox="1"/>
              <p:nvPr/>
            </p:nvSpPr>
            <p:spPr>
              <a:xfrm>
                <a:off x="88991" y="1973928"/>
                <a:ext cx="5494796" cy="1271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the </a:t>
                </a:r>
                <a:r>
                  <a:rPr lang="en-US" sz="1000" i="1" dirty="0"/>
                  <a:t>Huber</a:t>
                </a:r>
                <a:r>
                  <a:rPr lang="en-US" sz="1000" dirty="0"/>
                  <a:t> penalty function is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000" i="0">
                              <a:latin typeface="Cambria Math" panose="02040503050406030204" pitchFamily="18" charset="0"/>
                            </a:rPr>
                            <m:t>hub</m:t>
                          </m:r>
                        </m:sup>
                      </m:sSup>
                      <m:d>
                        <m:d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sz="10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0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if </m:t>
                                </m:r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∣≤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en-US" sz="1000" b="0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b="0" i="0">
                                        <a:latin typeface="Cambria Math" panose="02040503050406030204" pitchFamily="18" charset="0"/>
                                      </a:rPr>
                                      <m:t>2∣</m:t>
                                    </m:r>
                                    <m:r>
                                      <a:rPr lang="en-US" sz="1000" b="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1000" b="0" i="0">
                                        <a:latin typeface="Cambria Math" panose="02040503050406030204" pitchFamily="18" charset="0"/>
                                      </a:rPr>
                                      <m:t>∣−</m:t>
                                    </m:r>
                                    <m:r>
                                      <a:rPr lang="en-US" sz="1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if </m:t>
                                </m:r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1000" b="0" i="0">
                                    <a:latin typeface="Cambria Math" panose="02040503050406030204" pitchFamily="18" charset="0"/>
                                  </a:rPr>
                                  <m:t>∣&gt;</m:t>
                                </m:r>
                                <m:r>
                                  <a:rPr lang="en-US" sz="1000" b="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00" b="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000" dirty="0"/>
                  <a:t>is a positive parameter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000" dirty="0"/>
                  <a:t>► quadratic for small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000" dirty="0"/>
                  <a:t>, affine for large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000" dirty="0"/>
                  <a:t>, with transition at value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C6B1A3A-614C-8DF3-3EA5-63F1039CF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1" y="1973928"/>
                <a:ext cx="5494796" cy="1271245"/>
              </a:xfrm>
              <a:prstGeom prst="rect">
                <a:avLst/>
              </a:prstGeom>
              <a:blipFill>
                <a:blip r:embed="rId2"/>
                <a:stretch>
                  <a:fillRect b="-1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Picture 47">
            <a:extLst>
              <a:ext uri="{FF2B5EF4-FFF2-40B4-BE49-F238E27FC236}">
                <a16:creationId xmlns:a16="http://schemas.microsoft.com/office/drawing/2014/main" id="{0430CBA2-FC1A-9B1C-02BD-F4D9B467B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586" y="268227"/>
            <a:ext cx="2525907" cy="170570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4" y="71378"/>
            <a:ext cx="10751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Huber</a:t>
            </a:r>
            <a:r>
              <a:rPr sz="1200" spc="-15" dirty="0">
                <a:solidFill>
                  <a:schemeClr val="tx1"/>
                </a:solidFill>
              </a:rPr>
              <a:t> </a:t>
            </a:r>
            <a:r>
              <a:rPr sz="1200" spc="-70" dirty="0">
                <a:solidFill>
                  <a:schemeClr val="tx1"/>
                </a:solidFill>
              </a:rPr>
              <a:t>loss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724" y="497118"/>
            <a:ext cx="3744176" cy="4360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00" dirty="0">
                <a:latin typeface="Arial MT"/>
                <a:cs typeface="Arial MT"/>
              </a:rPr>
              <a:t>linear growth for large </a:t>
            </a:r>
            <a:r>
              <a:rPr sz="1000" dirty="0">
                <a:latin typeface="Lucida Sans Unicode"/>
                <a:cs typeface="Lucida Sans Unicode"/>
              </a:rPr>
              <a:t>r </a:t>
            </a:r>
            <a:r>
              <a:rPr sz="1000" dirty="0">
                <a:latin typeface="Arial MT"/>
                <a:cs typeface="Arial MT"/>
              </a:rPr>
              <a:t>makes fit less sensitive to outliers</a:t>
            </a:r>
          </a:p>
          <a:p>
            <a:pPr marL="152400" indent="-139700">
              <a:lnSpc>
                <a:spcPct val="100000"/>
              </a:lnSpc>
              <a:spcBef>
                <a:spcPts val="860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1000" dirty="0">
                <a:latin typeface="Arial MT"/>
                <a:cs typeface="Arial MT"/>
              </a:rPr>
              <a:t>ERM with Huber loss is called a </a:t>
            </a:r>
            <a:r>
              <a:rPr sz="1000" i="1" dirty="0">
                <a:solidFill>
                  <a:srgbClr val="990000"/>
                </a:solidFill>
                <a:latin typeface="Arial"/>
                <a:cs typeface="Arial"/>
              </a:rPr>
              <a:t>robust </a:t>
            </a:r>
            <a:r>
              <a:rPr sz="1000" dirty="0">
                <a:latin typeface="Arial MT"/>
                <a:cs typeface="Arial MT"/>
              </a:rPr>
              <a:t>prediction method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6609" y="2831567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3044" y="2831567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6270" y="2831567"/>
            <a:ext cx="508634" cy="2330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  <a:tabLst>
                <a:tab pos="342265" algn="l"/>
              </a:tabLst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r>
              <a:rPr sz="5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800" spc="-20" dirty="0">
                <a:latin typeface="Tahoma"/>
                <a:cs typeface="Tahoma"/>
              </a:rPr>
              <a:t>square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loss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12351" y="2831567"/>
            <a:ext cx="11620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8786" y="2831567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00" spc="-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6263" y="2763074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6263" y="2427722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92" y="1140008"/>
            <a:ext cx="1638652" cy="168323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16263" y="2092371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6263" y="1757019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263" y="1421668"/>
            <a:ext cx="11620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6263" y="1086316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00" spc="-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91224" y="2831567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17660" y="2831567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44095" y="2831567"/>
            <a:ext cx="500380" cy="2330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38455" algn="l"/>
              </a:tabLst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r>
              <a:rPr sz="5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50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40"/>
              </a:spcBef>
            </a:pPr>
            <a:r>
              <a:rPr sz="800" dirty="0">
                <a:latin typeface="Tahoma"/>
                <a:cs typeface="Tahoma"/>
              </a:rPr>
              <a:t>Huber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loss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96966" y="2831567"/>
            <a:ext cx="11620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23402" y="2831567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00" spc="-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00878" y="2763074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00878" y="2427722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00878" y="2092371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0878" y="1757019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00878" y="1421668"/>
            <a:ext cx="11620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00878" y="1086316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00" spc="-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5708" y="1140008"/>
            <a:ext cx="1638652" cy="1683232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4566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Log Huber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46609" y="309114"/>
            <a:ext cx="2159000" cy="1443355"/>
            <a:chOff x="1746609" y="309114"/>
            <a:chExt cx="2159000" cy="1443355"/>
          </a:xfrm>
        </p:grpSpPr>
        <p:sp>
          <p:nvSpPr>
            <p:cNvPr id="4" name="object 4"/>
            <p:cNvSpPr/>
            <p:nvPr/>
          </p:nvSpPr>
          <p:spPr>
            <a:xfrm>
              <a:off x="1749467" y="311971"/>
              <a:ext cx="2156460" cy="1437640"/>
            </a:xfrm>
            <a:custGeom>
              <a:avLst/>
              <a:gdLst/>
              <a:ahLst/>
              <a:cxnLst/>
              <a:rect l="l" t="t" r="r" b="b"/>
              <a:pathLst>
                <a:path w="2156460" h="1437639">
                  <a:moveTo>
                    <a:pt x="2155852" y="0"/>
                  </a:moveTo>
                  <a:lnTo>
                    <a:pt x="0" y="0"/>
                  </a:lnTo>
                  <a:lnTo>
                    <a:pt x="0" y="1437234"/>
                  </a:lnTo>
                  <a:lnTo>
                    <a:pt x="2155852" y="1437234"/>
                  </a:lnTo>
                  <a:lnTo>
                    <a:pt x="2155852" y="0"/>
                  </a:lnTo>
                  <a:close/>
                </a:path>
              </a:pathLst>
            </a:custGeom>
            <a:solidFill>
              <a:srgbClr val="E9E9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49467" y="311971"/>
              <a:ext cx="0" cy="1437640"/>
            </a:xfrm>
            <a:custGeom>
              <a:avLst/>
              <a:gdLst/>
              <a:ahLst/>
              <a:cxnLst/>
              <a:rect l="l" t="t" r="r" b="b"/>
              <a:pathLst>
                <a:path h="1437639">
                  <a:moveTo>
                    <a:pt x="0" y="1437234"/>
                  </a:moveTo>
                  <a:lnTo>
                    <a:pt x="0" y="0"/>
                  </a:lnTo>
                </a:path>
              </a:pathLst>
            </a:custGeom>
            <a:ln w="55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720922" y="309114"/>
            <a:ext cx="391160" cy="1501775"/>
            <a:chOff x="1720922" y="309114"/>
            <a:chExt cx="391160" cy="1501775"/>
          </a:xfrm>
        </p:grpSpPr>
        <p:sp>
          <p:nvSpPr>
            <p:cNvPr id="8" name="object 8"/>
            <p:cNvSpPr/>
            <p:nvPr/>
          </p:nvSpPr>
          <p:spPr>
            <a:xfrm>
              <a:off x="1720922" y="1805907"/>
              <a:ext cx="26670" cy="5080"/>
            </a:xfrm>
            <a:custGeom>
              <a:avLst/>
              <a:gdLst/>
              <a:ahLst/>
              <a:cxnLst/>
              <a:rect l="l" t="t" r="r" b="b"/>
              <a:pathLst>
                <a:path w="26669" h="5080">
                  <a:moveTo>
                    <a:pt x="26196" y="0"/>
                  </a:moveTo>
                  <a:lnTo>
                    <a:pt x="0" y="0"/>
                  </a:lnTo>
                  <a:lnTo>
                    <a:pt x="0" y="4551"/>
                  </a:lnTo>
                  <a:lnTo>
                    <a:pt x="26196" y="4551"/>
                  </a:lnTo>
                  <a:lnTo>
                    <a:pt x="26196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08776" y="311971"/>
              <a:ext cx="0" cy="1437640"/>
            </a:xfrm>
            <a:custGeom>
              <a:avLst/>
              <a:gdLst/>
              <a:ahLst/>
              <a:cxnLst/>
              <a:rect l="l" t="t" r="r" b="b"/>
              <a:pathLst>
                <a:path h="1437639">
                  <a:moveTo>
                    <a:pt x="0" y="1437234"/>
                  </a:moveTo>
                  <a:lnTo>
                    <a:pt x="0" y="0"/>
                  </a:lnTo>
                </a:path>
              </a:pathLst>
            </a:custGeom>
            <a:ln w="55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080231" y="309114"/>
            <a:ext cx="391160" cy="1501775"/>
            <a:chOff x="2080231" y="309114"/>
            <a:chExt cx="391160" cy="1501775"/>
          </a:xfrm>
        </p:grpSpPr>
        <p:sp>
          <p:nvSpPr>
            <p:cNvPr id="12" name="object 12"/>
            <p:cNvSpPr/>
            <p:nvPr/>
          </p:nvSpPr>
          <p:spPr>
            <a:xfrm>
              <a:off x="2080231" y="1805907"/>
              <a:ext cx="26670" cy="5080"/>
            </a:xfrm>
            <a:custGeom>
              <a:avLst/>
              <a:gdLst/>
              <a:ahLst/>
              <a:cxnLst/>
              <a:rect l="l" t="t" r="r" b="b"/>
              <a:pathLst>
                <a:path w="26669" h="5080">
                  <a:moveTo>
                    <a:pt x="26196" y="0"/>
                  </a:moveTo>
                  <a:lnTo>
                    <a:pt x="0" y="0"/>
                  </a:lnTo>
                  <a:lnTo>
                    <a:pt x="0" y="4551"/>
                  </a:lnTo>
                  <a:lnTo>
                    <a:pt x="26196" y="4551"/>
                  </a:lnTo>
                  <a:lnTo>
                    <a:pt x="26196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68084" y="311971"/>
              <a:ext cx="0" cy="1437640"/>
            </a:xfrm>
            <a:custGeom>
              <a:avLst/>
              <a:gdLst/>
              <a:ahLst/>
              <a:cxnLst/>
              <a:rect l="l" t="t" r="r" b="b"/>
              <a:pathLst>
                <a:path h="1437639">
                  <a:moveTo>
                    <a:pt x="0" y="1437234"/>
                  </a:moveTo>
                  <a:lnTo>
                    <a:pt x="0" y="0"/>
                  </a:lnTo>
                </a:path>
              </a:pathLst>
            </a:custGeom>
            <a:ln w="55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439540" y="309114"/>
            <a:ext cx="391160" cy="1501775"/>
            <a:chOff x="2439540" y="309114"/>
            <a:chExt cx="391160" cy="1501775"/>
          </a:xfrm>
        </p:grpSpPr>
        <p:sp>
          <p:nvSpPr>
            <p:cNvPr id="16" name="object 16"/>
            <p:cNvSpPr/>
            <p:nvPr/>
          </p:nvSpPr>
          <p:spPr>
            <a:xfrm>
              <a:off x="2439540" y="1805907"/>
              <a:ext cx="26670" cy="5080"/>
            </a:xfrm>
            <a:custGeom>
              <a:avLst/>
              <a:gdLst/>
              <a:ahLst/>
              <a:cxnLst/>
              <a:rect l="l" t="t" r="r" b="b"/>
              <a:pathLst>
                <a:path w="26669" h="5080">
                  <a:moveTo>
                    <a:pt x="26196" y="0"/>
                  </a:moveTo>
                  <a:lnTo>
                    <a:pt x="0" y="0"/>
                  </a:lnTo>
                  <a:lnTo>
                    <a:pt x="0" y="4551"/>
                  </a:lnTo>
                  <a:lnTo>
                    <a:pt x="26196" y="4551"/>
                  </a:lnTo>
                  <a:lnTo>
                    <a:pt x="26196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27393" y="311971"/>
              <a:ext cx="0" cy="1437640"/>
            </a:xfrm>
            <a:custGeom>
              <a:avLst/>
              <a:gdLst/>
              <a:ahLst/>
              <a:cxnLst/>
              <a:rect l="l" t="t" r="r" b="b"/>
              <a:pathLst>
                <a:path h="1437639">
                  <a:moveTo>
                    <a:pt x="0" y="1437234"/>
                  </a:moveTo>
                  <a:lnTo>
                    <a:pt x="0" y="0"/>
                  </a:lnTo>
                </a:path>
              </a:pathLst>
            </a:custGeom>
            <a:ln w="55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3186702" y="311971"/>
            <a:ext cx="0" cy="1437640"/>
          </a:xfrm>
          <a:custGeom>
            <a:avLst/>
            <a:gdLst/>
            <a:ahLst/>
            <a:cxnLst/>
            <a:rect l="l" t="t" r="r" b="b"/>
            <a:pathLst>
              <a:path h="1437639">
                <a:moveTo>
                  <a:pt x="0" y="1437234"/>
                </a:moveTo>
                <a:lnTo>
                  <a:pt x="0" y="0"/>
                </a:lnTo>
              </a:path>
            </a:pathLst>
          </a:custGeom>
          <a:ln w="55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46011" y="311971"/>
            <a:ext cx="0" cy="1437640"/>
          </a:xfrm>
          <a:custGeom>
            <a:avLst/>
            <a:gdLst/>
            <a:ahLst/>
            <a:cxnLst/>
            <a:rect l="l" t="t" r="r" b="b"/>
            <a:pathLst>
              <a:path h="1437639">
                <a:moveTo>
                  <a:pt x="0" y="1437234"/>
                </a:moveTo>
                <a:lnTo>
                  <a:pt x="0" y="0"/>
                </a:lnTo>
              </a:path>
            </a:pathLst>
          </a:custGeom>
          <a:ln w="55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905319" y="311971"/>
            <a:ext cx="0" cy="1437640"/>
          </a:xfrm>
          <a:custGeom>
            <a:avLst/>
            <a:gdLst/>
            <a:ahLst/>
            <a:cxnLst/>
            <a:rect l="l" t="t" r="r" b="b"/>
            <a:pathLst>
              <a:path h="1437639">
                <a:moveTo>
                  <a:pt x="0" y="1437234"/>
                </a:moveTo>
                <a:lnTo>
                  <a:pt x="0" y="0"/>
                </a:lnTo>
              </a:path>
            </a:pathLst>
          </a:custGeom>
          <a:ln w="55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49467" y="1030589"/>
            <a:ext cx="2156460" cy="718820"/>
          </a:xfrm>
          <a:custGeom>
            <a:avLst/>
            <a:gdLst/>
            <a:ahLst/>
            <a:cxnLst/>
            <a:rect l="l" t="t" r="r" b="b"/>
            <a:pathLst>
              <a:path w="2156460" h="718819">
                <a:moveTo>
                  <a:pt x="0" y="718617"/>
                </a:moveTo>
                <a:lnTo>
                  <a:pt x="2155852" y="718617"/>
                </a:lnTo>
              </a:path>
              <a:path w="2156460" h="718819">
                <a:moveTo>
                  <a:pt x="0" y="359308"/>
                </a:moveTo>
                <a:lnTo>
                  <a:pt x="2155852" y="359308"/>
                </a:lnTo>
              </a:path>
              <a:path w="2156460" h="718819">
                <a:moveTo>
                  <a:pt x="0" y="0"/>
                </a:moveTo>
                <a:lnTo>
                  <a:pt x="2155852" y="0"/>
                </a:lnTo>
              </a:path>
            </a:pathLst>
          </a:custGeom>
          <a:ln w="55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667045" y="979977"/>
            <a:ext cx="56515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749467" y="671280"/>
            <a:ext cx="2156460" cy="0"/>
          </a:xfrm>
          <a:custGeom>
            <a:avLst/>
            <a:gdLst/>
            <a:ahLst/>
            <a:cxnLst/>
            <a:rect l="l" t="t" r="r" b="b"/>
            <a:pathLst>
              <a:path w="2156460">
                <a:moveTo>
                  <a:pt x="0" y="0"/>
                </a:moveTo>
                <a:lnTo>
                  <a:pt x="2155852" y="0"/>
                </a:lnTo>
              </a:path>
            </a:pathLst>
          </a:custGeom>
          <a:ln w="55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667045" y="620669"/>
            <a:ext cx="56515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49467" y="311971"/>
            <a:ext cx="2156460" cy="0"/>
          </a:xfrm>
          <a:custGeom>
            <a:avLst/>
            <a:gdLst/>
            <a:ahLst/>
            <a:cxnLst/>
            <a:rect l="l" t="t" r="r" b="b"/>
            <a:pathLst>
              <a:path w="2156460">
                <a:moveTo>
                  <a:pt x="0" y="0"/>
                </a:moveTo>
                <a:lnTo>
                  <a:pt x="2155852" y="0"/>
                </a:lnTo>
              </a:path>
            </a:pathLst>
          </a:custGeom>
          <a:ln w="55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667045" y="261360"/>
            <a:ext cx="56515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-50" dirty="0">
                <a:solidFill>
                  <a:srgbClr val="262626"/>
                </a:solidFill>
                <a:latin typeface="Arial MT"/>
                <a:cs typeface="Arial MT"/>
              </a:rPr>
              <a:t>4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727267" y="309196"/>
            <a:ext cx="2200275" cy="1462405"/>
            <a:chOff x="1727267" y="309196"/>
            <a:chExt cx="2200275" cy="1462405"/>
          </a:xfrm>
        </p:grpSpPr>
        <p:sp>
          <p:nvSpPr>
            <p:cNvPr id="32" name="object 32"/>
            <p:cNvSpPr/>
            <p:nvPr/>
          </p:nvSpPr>
          <p:spPr>
            <a:xfrm>
              <a:off x="1749467" y="600416"/>
              <a:ext cx="2156460" cy="1149350"/>
            </a:xfrm>
            <a:custGeom>
              <a:avLst/>
              <a:gdLst/>
              <a:ahLst/>
              <a:cxnLst/>
              <a:rect l="l" t="t" r="r" b="b"/>
              <a:pathLst>
                <a:path w="2156460" h="1149350">
                  <a:moveTo>
                    <a:pt x="0" y="0"/>
                  </a:moveTo>
                  <a:lnTo>
                    <a:pt x="35930" y="24362"/>
                  </a:lnTo>
                  <a:lnTo>
                    <a:pt x="71861" y="49579"/>
                  </a:lnTo>
                  <a:lnTo>
                    <a:pt x="107792" y="75713"/>
                  </a:lnTo>
                  <a:lnTo>
                    <a:pt x="143723" y="102834"/>
                  </a:lnTo>
                  <a:lnTo>
                    <a:pt x="179654" y="131019"/>
                  </a:lnTo>
                  <a:lnTo>
                    <a:pt x="215585" y="160354"/>
                  </a:lnTo>
                  <a:lnTo>
                    <a:pt x="251516" y="190938"/>
                  </a:lnTo>
                  <a:lnTo>
                    <a:pt x="287446" y="222882"/>
                  </a:lnTo>
                  <a:lnTo>
                    <a:pt x="323377" y="256312"/>
                  </a:lnTo>
                  <a:lnTo>
                    <a:pt x="359308" y="291374"/>
                  </a:lnTo>
                  <a:lnTo>
                    <a:pt x="395239" y="328234"/>
                  </a:lnTo>
                  <a:lnTo>
                    <a:pt x="431170" y="367088"/>
                  </a:lnTo>
                  <a:lnTo>
                    <a:pt x="467101" y="408163"/>
                  </a:lnTo>
                  <a:lnTo>
                    <a:pt x="503032" y="451729"/>
                  </a:lnTo>
                  <a:lnTo>
                    <a:pt x="538963" y="498107"/>
                  </a:lnTo>
                  <a:lnTo>
                    <a:pt x="574893" y="547687"/>
                  </a:lnTo>
                  <a:lnTo>
                    <a:pt x="610824" y="600942"/>
                  </a:lnTo>
                  <a:lnTo>
                    <a:pt x="646755" y="658462"/>
                  </a:lnTo>
                  <a:lnTo>
                    <a:pt x="682686" y="720990"/>
                  </a:lnTo>
                  <a:lnTo>
                    <a:pt x="718617" y="789481"/>
                  </a:lnTo>
                  <a:lnTo>
                    <a:pt x="754548" y="857750"/>
                  </a:lnTo>
                  <a:lnTo>
                    <a:pt x="790479" y="918833"/>
                  </a:lnTo>
                  <a:lnTo>
                    <a:pt x="826410" y="972729"/>
                  </a:lnTo>
                  <a:lnTo>
                    <a:pt x="862340" y="1019439"/>
                  </a:lnTo>
                  <a:lnTo>
                    <a:pt x="898271" y="1058963"/>
                  </a:lnTo>
                  <a:lnTo>
                    <a:pt x="934202" y="1091301"/>
                  </a:lnTo>
                  <a:lnTo>
                    <a:pt x="970133" y="1116452"/>
                  </a:lnTo>
                  <a:lnTo>
                    <a:pt x="1006064" y="1134418"/>
                  </a:lnTo>
                  <a:lnTo>
                    <a:pt x="1077926" y="1148790"/>
                  </a:lnTo>
                  <a:lnTo>
                    <a:pt x="1113857" y="1145197"/>
                  </a:lnTo>
                  <a:lnTo>
                    <a:pt x="1185718" y="1116452"/>
                  </a:lnTo>
                  <a:lnTo>
                    <a:pt x="1221649" y="1091301"/>
                  </a:lnTo>
                  <a:lnTo>
                    <a:pt x="1257580" y="1058963"/>
                  </a:lnTo>
                  <a:lnTo>
                    <a:pt x="1293511" y="1019439"/>
                  </a:lnTo>
                  <a:lnTo>
                    <a:pt x="1329442" y="972729"/>
                  </a:lnTo>
                  <a:lnTo>
                    <a:pt x="1365373" y="918833"/>
                  </a:lnTo>
                  <a:lnTo>
                    <a:pt x="1401304" y="857750"/>
                  </a:lnTo>
                  <a:lnTo>
                    <a:pt x="1437234" y="789481"/>
                  </a:lnTo>
                  <a:lnTo>
                    <a:pt x="1473165" y="720990"/>
                  </a:lnTo>
                  <a:lnTo>
                    <a:pt x="1509096" y="658462"/>
                  </a:lnTo>
                  <a:lnTo>
                    <a:pt x="1545027" y="600942"/>
                  </a:lnTo>
                  <a:lnTo>
                    <a:pt x="1580958" y="547687"/>
                  </a:lnTo>
                  <a:lnTo>
                    <a:pt x="1616889" y="498107"/>
                  </a:lnTo>
                  <a:lnTo>
                    <a:pt x="1652820" y="451729"/>
                  </a:lnTo>
                  <a:lnTo>
                    <a:pt x="1688751" y="408163"/>
                  </a:lnTo>
                  <a:lnTo>
                    <a:pt x="1724681" y="367088"/>
                  </a:lnTo>
                  <a:lnTo>
                    <a:pt x="1760612" y="328234"/>
                  </a:lnTo>
                  <a:lnTo>
                    <a:pt x="1796543" y="291374"/>
                  </a:lnTo>
                  <a:lnTo>
                    <a:pt x="1832474" y="256312"/>
                  </a:lnTo>
                  <a:lnTo>
                    <a:pt x="1868405" y="222882"/>
                  </a:lnTo>
                  <a:lnTo>
                    <a:pt x="1904336" y="190938"/>
                  </a:lnTo>
                  <a:lnTo>
                    <a:pt x="1940267" y="160354"/>
                  </a:lnTo>
                  <a:lnTo>
                    <a:pt x="1976198" y="131019"/>
                  </a:lnTo>
                  <a:lnTo>
                    <a:pt x="2012128" y="102834"/>
                  </a:lnTo>
                  <a:lnTo>
                    <a:pt x="2048059" y="75713"/>
                  </a:lnTo>
                  <a:lnTo>
                    <a:pt x="2083990" y="49579"/>
                  </a:lnTo>
                  <a:lnTo>
                    <a:pt x="2119921" y="24362"/>
                  </a:lnTo>
                  <a:lnTo>
                    <a:pt x="2155852" y="0"/>
                  </a:lnTo>
                </a:path>
              </a:pathLst>
            </a:custGeom>
            <a:ln w="444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49467" y="600416"/>
              <a:ext cx="2156460" cy="1149350"/>
            </a:xfrm>
            <a:custGeom>
              <a:avLst/>
              <a:gdLst/>
              <a:ahLst/>
              <a:cxnLst/>
              <a:rect l="l" t="t" r="r" b="b"/>
              <a:pathLst>
                <a:path w="2156460" h="1149350">
                  <a:moveTo>
                    <a:pt x="1296034" y="1148790"/>
                  </a:moveTo>
                  <a:lnTo>
                    <a:pt x="1329442" y="1045794"/>
                  </a:lnTo>
                  <a:lnTo>
                    <a:pt x="1365373" y="949836"/>
                  </a:lnTo>
                  <a:lnTo>
                    <a:pt x="1401304" y="865195"/>
                  </a:lnTo>
                  <a:lnTo>
                    <a:pt x="1437234" y="789481"/>
                  </a:lnTo>
                  <a:lnTo>
                    <a:pt x="1473165" y="720990"/>
                  </a:lnTo>
                  <a:lnTo>
                    <a:pt x="1509096" y="658462"/>
                  </a:lnTo>
                  <a:lnTo>
                    <a:pt x="1545027" y="600942"/>
                  </a:lnTo>
                  <a:lnTo>
                    <a:pt x="1580958" y="547687"/>
                  </a:lnTo>
                  <a:lnTo>
                    <a:pt x="1616889" y="498107"/>
                  </a:lnTo>
                  <a:lnTo>
                    <a:pt x="1652820" y="451729"/>
                  </a:lnTo>
                  <a:lnTo>
                    <a:pt x="1688751" y="408163"/>
                  </a:lnTo>
                  <a:lnTo>
                    <a:pt x="1724681" y="367088"/>
                  </a:lnTo>
                  <a:lnTo>
                    <a:pt x="1760612" y="328234"/>
                  </a:lnTo>
                  <a:lnTo>
                    <a:pt x="1796543" y="291374"/>
                  </a:lnTo>
                  <a:lnTo>
                    <a:pt x="1832474" y="256312"/>
                  </a:lnTo>
                  <a:lnTo>
                    <a:pt x="1868405" y="222882"/>
                  </a:lnTo>
                  <a:lnTo>
                    <a:pt x="1904336" y="190938"/>
                  </a:lnTo>
                  <a:lnTo>
                    <a:pt x="1940267" y="160354"/>
                  </a:lnTo>
                  <a:lnTo>
                    <a:pt x="1976198" y="131019"/>
                  </a:lnTo>
                  <a:lnTo>
                    <a:pt x="2012128" y="102834"/>
                  </a:lnTo>
                  <a:lnTo>
                    <a:pt x="2048059" y="75713"/>
                  </a:lnTo>
                  <a:lnTo>
                    <a:pt x="2083990" y="49579"/>
                  </a:lnTo>
                  <a:lnTo>
                    <a:pt x="2119921" y="24362"/>
                  </a:lnTo>
                  <a:lnTo>
                    <a:pt x="2155852" y="0"/>
                  </a:lnTo>
                </a:path>
                <a:path w="2156460" h="1149350">
                  <a:moveTo>
                    <a:pt x="0" y="0"/>
                  </a:moveTo>
                  <a:lnTo>
                    <a:pt x="35930" y="24362"/>
                  </a:lnTo>
                  <a:lnTo>
                    <a:pt x="71861" y="49579"/>
                  </a:lnTo>
                  <a:lnTo>
                    <a:pt x="107792" y="75713"/>
                  </a:lnTo>
                  <a:lnTo>
                    <a:pt x="143723" y="102834"/>
                  </a:lnTo>
                  <a:lnTo>
                    <a:pt x="179654" y="131019"/>
                  </a:lnTo>
                  <a:lnTo>
                    <a:pt x="215585" y="160354"/>
                  </a:lnTo>
                  <a:lnTo>
                    <a:pt x="251516" y="190938"/>
                  </a:lnTo>
                  <a:lnTo>
                    <a:pt x="287446" y="222882"/>
                  </a:lnTo>
                  <a:lnTo>
                    <a:pt x="323377" y="256312"/>
                  </a:lnTo>
                  <a:lnTo>
                    <a:pt x="359308" y="291374"/>
                  </a:lnTo>
                  <a:lnTo>
                    <a:pt x="395239" y="328234"/>
                  </a:lnTo>
                  <a:lnTo>
                    <a:pt x="431170" y="367088"/>
                  </a:lnTo>
                  <a:lnTo>
                    <a:pt x="467101" y="408163"/>
                  </a:lnTo>
                  <a:lnTo>
                    <a:pt x="503032" y="451729"/>
                  </a:lnTo>
                  <a:lnTo>
                    <a:pt x="538963" y="498107"/>
                  </a:lnTo>
                  <a:lnTo>
                    <a:pt x="574893" y="547687"/>
                  </a:lnTo>
                  <a:lnTo>
                    <a:pt x="610824" y="600942"/>
                  </a:lnTo>
                  <a:lnTo>
                    <a:pt x="646755" y="658462"/>
                  </a:lnTo>
                  <a:lnTo>
                    <a:pt x="682686" y="720990"/>
                  </a:lnTo>
                  <a:lnTo>
                    <a:pt x="718617" y="789481"/>
                  </a:lnTo>
                  <a:lnTo>
                    <a:pt x="754548" y="865195"/>
                  </a:lnTo>
                  <a:lnTo>
                    <a:pt x="790479" y="949836"/>
                  </a:lnTo>
                  <a:lnTo>
                    <a:pt x="826410" y="1045794"/>
                  </a:lnTo>
                  <a:lnTo>
                    <a:pt x="859817" y="1148790"/>
                  </a:lnTo>
                </a:path>
              </a:pathLst>
            </a:custGeom>
            <a:ln w="5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08776" y="311971"/>
              <a:ext cx="1437640" cy="1437640"/>
            </a:xfrm>
            <a:custGeom>
              <a:avLst/>
              <a:gdLst/>
              <a:ahLst/>
              <a:cxnLst/>
              <a:rect l="l" t="t" r="r" b="b"/>
              <a:pathLst>
                <a:path w="1437639" h="1437639">
                  <a:moveTo>
                    <a:pt x="0" y="0"/>
                  </a:moveTo>
                  <a:lnTo>
                    <a:pt x="35930" y="140130"/>
                  </a:lnTo>
                  <a:lnTo>
                    <a:pt x="71861" y="273074"/>
                  </a:lnTo>
                  <a:lnTo>
                    <a:pt x="107792" y="398832"/>
                  </a:lnTo>
                  <a:lnTo>
                    <a:pt x="143723" y="517404"/>
                  </a:lnTo>
                  <a:lnTo>
                    <a:pt x="179654" y="628790"/>
                  </a:lnTo>
                  <a:lnTo>
                    <a:pt x="215585" y="732989"/>
                  </a:lnTo>
                  <a:lnTo>
                    <a:pt x="251516" y="830003"/>
                  </a:lnTo>
                  <a:lnTo>
                    <a:pt x="287446" y="919830"/>
                  </a:lnTo>
                  <a:lnTo>
                    <a:pt x="323377" y="1002471"/>
                  </a:lnTo>
                  <a:lnTo>
                    <a:pt x="359308" y="1077926"/>
                  </a:lnTo>
                  <a:lnTo>
                    <a:pt x="395239" y="1146194"/>
                  </a:lnTo>
                  <a:lnTo>
                    <a:pt x="431170" y="1207277"/>
                  </a:lnTo>
                  <a:lnTo>
                    <a:pt x="467101" y="1261173"/>
                  </a:lnTo>
                  <a:lnTo>
                    <a:pt x="503032" y="1307883"/>
                  </a:lnTo>
                  <a:lnTo>
                    <a:pt x="538963" y="1347407"/>
                  </a:lnTo>
                  <a:lnTo>
                    <a:pt x="574893" y="1379745"/>
                  </a:lnTo>
                  <a:lnTo>
                    <a:pt x="610824" y="1404897"/>
                  </a:lnTo>
                  <a:lnTo>
                    <a:pt x="646755" y="1422862"/>
                  </a:lnTo>
                  <a:lnTo>
                    <a:pt x="718617" y="1437234"/>
                  </a:lnTo>
                  <a:lnTo>
                    <a:pt x="754548" y="1433641"/>
                  </a:lnTo>
                  <a:lnTo>
                    <a:pt x="826410" y="1404897"/>
                  </a:lnTo>
                  <a:lnTo>
                    <a:pt x="862340" y="1379745"/>
                  </a:lnTo>
                  <a:lnTo>
                    <a:pt x="898271" y="1347407"/>
                  </a:lnTo>
                  <a:lnTo>
                    <a:pt x="934202" y="1307883"/>
                  </a:lnTo>
                  <a:lnTo>
                    <a:pt x="970133" y="1261173"/>
                  </a:lnTo>
                  <a:lnTo>
                    <a:pt x="1006064" y="1207277"/>
                  </a:lnTo>
                  <a:lnTo>
                    <a:pt x="1041995" y="1146194"/>
                  </a:lnTo>
                  <a:lnTo>
                    <a:pt x="1077926" y="1077926"/>
                  </a:lnTo>
                  <a:lnTo>
                    <a:pt x="1113857" y="1002471"/>
                  </a:lnTo>
                  <a:lnTo>
                    <a:pt x="1149787" y="919830"/>
                  </a:lnTo>
                  <a:lnTo>
                    <a:pt x="1185718" y="830003"/>
                  </a:lnTo>
                  <a:lnTo>
                    <a:pt x="1221649" y="732989"/>
                  </a:lnTo>
                  <a:lnTo>
                    <a:pt x="1257580" y="628790"/>
                  </a:lnTo>
                  <a:lnTo>
                    <a:pt x="1293511" y="517404"/>
                  </a:lnTo>
                  <a:lnTo>
                    <a:pt x="1329442" y="398832"/>
                  </a:lnTo>
                  <a:lnTo>
                    <a:pt x="1365373" y="273074"/>
                  </a:lnTo>
                  <a:lnTo>
                    <a:pt x="1401304" y="140130"/>
                  </a:lnTo>
                  <a:lnTo>
                    <a:pt x="1437234" y="0"/>
                  </a:lnTo>
                </a:path>
              </a:pathLst>
            </a:custGeom>
            <a:ln w="55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99417" y="1510468"/>
              <a:ext cx="111125" cy="0"/>
            </a:xfrm>
            <a:custGeom>
              <a:avLst/>
              <a:gdLst/>
              <a:ahLst/>
              <a:cxnLst/>
              <a:rect l="l" t="t" r="r" b="b"/>
              <a:pathLst>
                <a:path w="111125">
                  <a:moveTo>
                    <a:pt x="0" y="0"/>
                  </a:moveTo>
                  <a:lnTo>
                    <a:pt x="111000" y="0"/>
                  </a:lnTo>
                </a:path>
              </a:pathLst>
            </a:custGeom>
            <a:ln w="444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99417" y="1589643"/>
              <a:ext cx="111125" cy="0"/>
            </a:xfrm>
            <a:custGeom>
              <a:avLst/>
              <a:gdLst/>
              <a:ahLst/>
              <a:cxnLst/>
              <a:rect l="l" t="t" r="r" b="b"/>
              <a:pathLst>
                <a:path w="111125">
                  <a:moveTo>
                    <a:pt x="0" y="0"/>
                  </a:moveTo>
                  <a:lnTo>
                    <a:pt x="111000" y="0"/>
                  </a:lnTo>
                </a:path>
              </a:pathLst>
            </a:custGeom>
            <a:ln w="55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99417" y="1668818"/>
              <a:ext cx="111125" cy="0"/>
            </a:xfrm>
            <a:custGeom>
              <a:avLst/>
              <a:gdLst/>
              <a:ahLst/>
              <a:cxnLst/>
              <a:rect l="l" t="t" r="r" b="b"/>
              <a:pathLst>
                <a:path w="111125">
                  <a:moveTo>
                    <a:pt x="0" y="0"/>
                  </a:moveTo>
                  <a:lnTo>
                    <a:pt x="111000" y="0"/>
                  </a:lnTo>
                </a:path>
              </a:pathLst>
            </a:custGeom>
            <a:ln w="55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667045" y="1339286"/>
            <a:ext cx="570865" cy="4546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450">
              <a:latin typeface="Arial MT"/>
              <a:cs typeface="Arial MT"/>
            </a:endParaRPr>
          </a:p>
          <a:p>
            <a:pPr marL="287655" marR="5080">
              <a:lnSpc>
                <a:spcPct val="115399"/>
              </a:lnSpc>
              <a:spcBef>
                <a:spcPts val="320"/>
              </a:spcBef>
            </a:pPr>
            <a:r>
              <a:rPr sz="450" spc="-10" dirty="0">
                <a:solidFill>
                  <a:srgbClr val="262626"/>
                </a:solidFill>
                <a:latin typeface="Arial MT"/>
                <a:cs typeface="Arial MT"/>
              </a:rPr>
              <a:t>log Huber</a:t>
            </a:r>
            <a:r>
              <a:rPr sz="450" spc="5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50" spc="-10" dirty="0">
                <a:solidFill>
                  <a:srgbClr val="262626"/>
                </a:solidFill>
                <a:latin typeface="Arial MT"/>
                <a:cs typeface="Arial MT"/>
              </a:rPr>
              <a:t>logarithmic</a:t>
            </a:r>
            <a:r>
              <a:rPr sz="450" spc="5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50" spc="-10" dirty="0">
                <a:solidFill>
                  <a:srgbClr val="262626"/>
                </a:solidFill>
                <a:latin typeface="Arial MT"/>
                <a:cs typeface="Arial MT"/>
              </a:rPr>
              <a:t>quadratic</a:t>
            </a:r>
            <a:endParaRPr sz="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D2B1C7F-FFF3-1087-63D6-7EB8962B94BB}"/>
                  </a:ext>
                </a:extLst>
              </p:cNvPr>
              <p:cNvSpPr txBox="1"/>
              <p:nvPr/>
            </p:nvSpPr>
            <p:spPr>
              <a:xfrm>
                <a:off x="249973" y="1850086"/>
                <a:ext cx="4962635" cy="1228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quadratic for small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100" dirty="0"/>
                  <a:t>, logarithmic for large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1100" dirty="0"/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 i="0">
                              <a:latin typeface="Cambria Math" panose="02040503050406030204" pitchFamily="18" charset="0"/>
                            </a:rPr>
                            <m:t>dh</m:t>
                          </m:r>
                        </m:sup>
                      </m:sSup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11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100" b="0" i="1">
                                    <a:latin typeface="Cambria Math" panose="02040503050406030204" pitchFamily="18" charset="0"/>
                                  </a:rPr>
                                  <m:t>if </m:t>
                                </m:r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1100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∣≤</m:t>
                                </m:r>
                                <m:r>
                                  <a:rPr lang="en-US" sz="1100" b="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 lang="en-US" sz="1100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100" b="0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b="0" i="0">
                                        <a:latin typeface="Cambria Math" panose="02040503050406030204" pitchFamily="18" charset="0"/>
                                      </a:rPr>
                                      <m:t>1−2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100" b="0" i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1100" b="0" i="0">
                                        <a:latin typeface="Cambria Math" panose="02040503050406030204" pitchFamily="18" charset="0"/>
                                      </a:rPr>
                                      <m:t>⁡</m:t>
                                    </m:r>
                                    <m:d>
                                      <m:dPr>
                                        <m:ctrlPr>
                                          <a:rPr lang="en-US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  <m:r>
                                      <a:rPr lang="en-US" sz="1100" b="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100" b="0" i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r>
                                      <a:rPr lang="en-US" sz="1100" b="0" i="0">
                                        <a:latin typeface="Cambria Math" panose="02040503050406030204" pitchFamily="18" charset="0"/>
                                      </a:rPr>
                                      <m:t>⁡</m:t>
                                    </m:r>
                                    <m:d>
                                      <m:dPr>
                                        <m:ctrlPr>
                                          <a:rPr lang="en-US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100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en-US" sz="1100" b="0" i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100" b="0" i="1">
                                    <a:latin typeface="Cambria Math" panose="02040503050406030204" pitchFamily="18" charset="0"/>
                                  </a:rPr>
                                  <m:t>if </m:t>
                                </m:r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1100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∣&gt;</m:t>
                                </m:r>
                                <m:r>
                                  <a:rPr lang="en-US" sz="1100" b="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b="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1100" dirty="0"/>
                  <a:t>► diminishing incremental penalty at large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D2B1C7F-FFF3-1087-63D6-7EB8962B9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73" y="1850086"/>
                <a:ext cx="4962635" cy="1228221"/>
              </a:xfrm>
              <a:prstGeom prst="rect">
                <a:avLst/>
              </a:prstGeom>
              <a:blipFill>
                <a:blip r:embed="rId2"/>
                <a:stretch>
                  <a:fillRect b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4566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chemeClr val="tx1"/>
                </a:solidFill>
              </a:rPr>
              <a:t>Log</a:t>
            </a:r>
            <a:r>
              <a:rPr sz="1200" spc="-20" dirty="0">
                <a:solidFill>
                  <a:schemeClr val="tx1"/>
                </a:solidFill>
              </a:rPr>
              <a:t> </a:t>
            </a:r>
            <a:r>
              <a:rPr sz="1200" spc="-10" dirty="0">
                <a:solidFill>
                  <a:schemeClr val="tx1"/>
                </a:solidFill>
              </a:rPr>
              <a:t>Huber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9415" y="2154022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5851" y="2154022"/>
            <a:ext cx="1095375" cy="2330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38455" algn="l"/>
                <a:tab pos="665480" algn="l"/>
                <a:tab pos="991869" algn="l"/>
              </a:tabLst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r>
              <a:rPr sz="5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r>
              <a:rPr sz="5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r>
              <a:rPr sz="5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500">
              <a:latin typeface="Arial MT"/>
              <a:cs typeface="Arial MT"/>
            </a:endParaRPr>
          </a:p>
          <a:p>
            <a:pPr marL="256540">
              <a:lnSpc>
                <a:spcPct val="100000"/>
              </a:lnSpc>
              <a:spcBef>
                <a:spcPts val="40"/>
              </a:spcBef>
            </a:pPr>
            <a:r>
              <a:rPr sz="800" dirty="0">
                <a:latin typeface="Tahoma"/>
                <a:cs typeface="Tahoma"/>
              </a:rPr>
              <a:t>log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Huber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loss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1593" y="2154022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00" spc="-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9069" y="2085529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9069" y="1750177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9069" y="1414826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9069" y="1079474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9069" y="744123"/>
            <a:ext cx="11620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9069" y="408771"/>
            <a:ext cx="11557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8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500" spc="-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3899" y="462463"/>
            <a:ext cx="1638652" cy="168323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81724" y="2647284"/>
            <a:ext cx="2753576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dirty="0">
                <a:solidFill>
                  <a:srgbClr val="000099"/>
                </a:solidFill>
                <a:latin typeface="Verdana"/>
                <a:cs typeface="Verdana"/>
              </a:rPr>
              <a:t>* </a:t>
            </a:r>
            <a:r>
              <a:rPr sz="900" dirty="0">
                <a:latin typeface="Arial MT"/>
                <a:cs typeface="Arial MT"/>
              </a:rPr>
              <a:t>even less sensitive to outliers than Huber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14566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Error histogram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206" y="1155286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6427" y="1155286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648" y="1155286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4870" y="1155286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4091" y="1155286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3313" y="1155286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5906" y="1123976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5906" y="970679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906" y="817382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25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006" y="390409"/>
            <a:ext cx="749067" cy="76648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35906" y="664084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5906" y="510787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5906" y="357490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59676" y="1034136"/>
            <a:ext cx="8255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900"/>
              </a:lnSpc>
              <a:spcBef>
                <a:spcPts val="10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train</a:t>
            </a:r>
            <a:r>
              <a:rPr sz="250" spc="5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20" dirty="0">
                <a:solidFill>
                  <a:srgbClr val="262626"/>
                </a:solidFill>
                <a:latin typeface="Arial MT"/>
                <a:cs typeface="Arial MT"/>
              </a:rPr>
              <a:t>test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7083" y="704435"/>
            <a:ext cx="22732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30" dirty="0">
                <a:latin typeface="Tahoma"/>
                <a:cs typeface="Tahoma"/>
              </a:rPr>
              <a:t>square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47348" y="390409"/>
            <a:ext cx="767080" cy="767080"/>
          </a:xfrm>
          <a:custGeom>
            <a:avLst/>
            <a:gdLst/>
            <a:ahLst/>
            <a:cxnLst/>
            <a:rect l="l" t="t" r="r" b="b"/>
            <a:pathLst>
              <a:path w="767080" h="767080">
                <a:moveTo>
                  <a:pt x="766752" y="0"/>
                </a:moveTo>
                <a:lnTo>
                  <a:pt x="0" y="0"/>
                </a:lnTo>
                <a:lnTo>
                  <a:pt x="0" y="766485"/>
                </a:lnTo>
                <a:lnTo>
                  <a:pt x="766752" y="766485"/>
                </a:lnTo>
                <a:lnTo>
                  <a:pt x="766752" y="0"/>
                </a:lnTo>
                <a:close/>
              </a:path>
            </a:pathLst>
          </a:custGeom>
          <a:solidFill>
            <a:srgbClr val="E9E9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435053" y="115528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432125" y="388821"/>
            <a:ext cx="144780" cy="800735"/>
            <a:chOff x="2432125" y="388821"/>
            <a:chExt cx="144780" cy="800735"/>
          </a:xfrm>
        </p:grpSpPr>
        <p:sp>
          <p:nvSpPr>
            <p:cNvPr id="21" name="object 21"/>
            <p:cNvSpPr/>
            <p:nvPr/>
          </p:nvSpPr>
          <p:spPr>
            <a:xfrm>
              <a:off x="2432125" y="1187133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69" h="2540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75140" y="390409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562845" y="115528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559917" y="388821"/>
            <a:ext cx="144780" cy="800735"/>
            <a:chOff x="2559917" y="388821"/>
            <a:chExt cx="144780" cy="800735"/>
          </a:xfrm>
        </p:grpSpPr>
        <p:sp>
          <p:nvSpPr>
            <p:cNvPr id="25" name="object 25"/>
            <p:cNvSpPr/>
            <p:nvPr/>
          </p:nvSpPr>
          <p:spPr>
            <a:xfrm>
              <a:off x="2559917" y="1187133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69" h="2540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02932" y="390409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690637" y="1155286"/>
            <a:ext cx="3746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687709" y="388821"/>
            <a:ext cx="144780" cy="800735"/>
            <a:chOff x="2687709" y="388821"/>
            <a:chExt cx="144780" cy="800735"/>
          </a:xfrm>
        </p:grpSpPr>
        <p:sp>
          <p:nvSpPr>
            <p:cNvPr id="29" name="object 29"/>
            <p:cNvSpPr/>
            <p:nvPr/>
          </p:nvSpPr>
          <p:spPr>
            <a:xfrm>
              <a:off x="2687709" y="1187133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69" h="2540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30724" y="390409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809792" y="115528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958516" y="390409"/>
            <a:ext cx="0" cy="767080"/>
          </a:xfrm>
          <a:custGeom>
            <a:avLst/>
            <a:gdLst/>
            <a:ahLst/>
            <a:cxnLst/>
            <a:rect l="l" t="t" r="r" b="b"/>
            <a:pathLst>
              <a:path h="767080">
                <a:moveTo>
                  <a:pt x="0" y="766485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937584" y="1155286"/>
            <a:ext cx="3746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086308" y="390409"/>
            <a:ext cx="0" cy="767080"/>
          </a:xfrm>
          <a:custGeom>
            <a:avLst/>
            <a:gdLst/>
            <a:ahLst/>
            <a:cxnLst/>
            <a:rect l="l" t="t" r="r" b="b"/>
            <a:pathLst>
              <a:path h="767080">
                <a:moveTo>
                  <a:pt x="0" y="766485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065376" y="115528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93168" y="115528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97465" y="112397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447348" y="1061084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397465" y="1028165"/>
            <a:ext cx="4254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447348" y="965273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381000" y="932355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447348" y="869462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381000" y="836544"/>
            <a:ext cx="5905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447348" y="773652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381000" y="740733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20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447348" y="677841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381000" y="644922"/>
            <a:ext cx="5905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25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447348" y="582030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381000" y="549112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30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447348" y="486219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381000" y="453301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35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381000" y="357490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40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447348" y="983991"/>
            <a:ext cx="767080" cy="173355"/>
            <a:chOff x="2447348" y="983991"/>
            <a:chExt cx="767080" cy="173355"/>
          </a:xfrm>
        </p:grpSpPr>
        <p:sp>
          <p:nvSpPr>
            <p:cNvPr id="54" name="object 54"/>
            <p:cNvSpPr/>
            <p:nvPr/>
          </p:nvSpPr>
          <p:spPr>
            <a:xfrm>
              <a:off x="2626245" y="984440"/>
              <a:ext cx="26034" cy="172720"/>
            </a:xfrm>
            <a:custGeom>
              <a:avLst/>
              <a:gdLst/>
              <a:ahLst/>
              <a:cxnLst/>
              <a:rect l="l" t="t" r="r" b="b"/>
              <a:pathLst>
                <a:path w="26035" h="172719">
                  <a:moveTo>
                    <a:pt x="25565" y="0"/>
                  </a:moveTo>
                  <a:lnTo>
                    <a:pt x="0" y="0"/>
                  </a:lnTo>
                  <a:lnTo>
                    <a:pt x="0" y="172466"/>
                  </a:lnTo>
                  <a:lnTo>
                    <a:pt x="25565" y="172466"/>
                  </a:lnTo>
                  <a:lnTo>
                    <a:pt x="25565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26257" y="984435"/>
              <a:ext cx="26034" cy="172720"/>
            </a:xfrm>
            <a:custGeom>
              <a:avLst/>
              <a:gdLst/>
              <a:ahLst/>
              <a:cxnLst/>
              <a:rect l="l" t="t" r="r" b="b"/>
              <a:pathLst>
                <a:path w="26035" h="172719">
                  <a:moveTo>
                    <a:pt x="0" y="172459"/>
                  </a:moveTo>
                  <a:lnTo>
                    <a:pt x="25558" y="172459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72459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651815" y="1061084"/>
              <a:ext cx="26034" cy="95885"/>
            </a:xfrm>
            <a:custGeom>
              <a:avLst/>
              <a:gdLst/>
              <a:ahLst/>
              <a:cxnLst/>
              <a:rect l="l" t="t" r="r" b="b"/>
              <a:pathLst>
                <a:path w="26035" h="95884">
                  <a:moveTo>
                    <a:pt x="25558" y="0"/>
                  </a:moveTo>
                  <a:lnTo>
                    <a:pt x="0" y="0"/>
                  </a:lnTo>
                  <a:lnTo>
                    <a:pt x="0" y="95810"/>
                  </a:lnTo>
                  <a:lnTo>
                    <a:pt x="25558" y="95810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651815" y="1061084"/>
              <a:ext cx="26034" cy="95885"/>
            </a:xfrm>
            <a:custGeom>
              <a:avLst/>
              <a:gdLst/>
              <a:ahLst/>
              <a:cxnLst/>
              <a:rect l="l" t="t" r="r" b="b"/>
              <a:pathLst>
                <a:path w="26035" h="95884">
                  <a:moveTo>
                    <a:pt x="0" y="95810"/>
                  </a:moveTo>
                  <a:lnTo>
                    <a:pt x="25558" y="95810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9581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677374" y="1118570"/>
              <a:ext cx="26034" cy="38735"/>
            </a:xfrm>
            <a:custGeom>
              <a:avLst/>
              <a:gdLst/>
              <a:ahLst/>
              <a:cxnLst/>
              <a:rect l="l" t="t" r="r" b="b"/>
              <a:pathLst>
                <a:path w="26035" h="38734">
                  <a:moveTo>
                    <a:pt x="25558" y="0"/>
                  </a:moveTo>
                  <a:lnTo>
                    <a:pt x="0" y="0"/>
                  </a:lnTo>
                  <a:lnTo>
                    <a:pt x="0" y="38324"/>
                  </a:lnTo>
                  <a:lnTo>
                    <a:pt x="25558" y="38324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677374" y="1118570"/>
              <a:ext cx="26034" cy="38735"/>
            </a:xfrm>
            <a:custGeom>
              <a:avLst/>
              <a:gdLst/>
              <a:ahLst/>
              <a:cxnLst/>
              <a:rect l="l" t="t" r="r" b="b"/>
              <a:pathLst>
                <a:path w="26035" h="38734">
                  <a:moveTo>
                    <a:pt x="0" y="38324"/>
                  </a:moveTo>
                  <a:lnTo>
                    <a:pt x="25558" y="38324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3832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702932" y="109940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4">
                  <a:moveTo>
                    <a:pt x="25558" y="0"/>
                  </a:moveTo>
                  <a:lnTo>
                    <a:pt x="0" y="0"/>
                  </a:lnTo>
                  <a:lnTo>
                    <a:pt x="0" y="57486"/>
                  </a:lnTo>
                  <a:lnTo>
                    <a:pt x="25558" y="57486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702932" y="109940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4">
                  <a:moveTo>
                    <a:pt x="0" y="57486"/>
                  </a:moveTo>
                  <a:lnTo>
                    <a:pt x="25558" y="57486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5748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728490" y="109940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4">
                  <a:moveTo>
                    <a:pt x="25558" y="0"/>
                  </a:moveTo>
                  <a:lnTo>
                    <a:pt x="0" y="0"/>
                  </a:lnTo>
                  <a:lnTo>
                    <a:pt x="0" y="57486"/>
                  </a:lnTo>
                  <a:lnTo>
                    <a:pt x="25558" y="57486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728490" y="109940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4">
                  <a:moveTo>
                    <a:pt x="0" y="57486"/>
                  </a:moveTo>
                  <a:lnTo>
                    <a:pt x="25558" y="57486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5748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754049" y="1003597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25558" y="0"/>
                  </a:moveTo>
                  <a:lnTo>
                    <a:pt x="0" y="0"/>
                  </a:lnTo>
                  <a:lnTo>
                    <a:pt x="0" y="153297"/>
                  </a:lnTo>
                  <a:lnTo>
                    <a:pt x="25558" y="153297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754049" y="1003597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0" y="153297"/>
                  </a:moveTo>
                  <a:lnTo>
                    <a:pt x="25558" y="153297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5329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779607" y="1041922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25558" y="0"/>
                  </a:moveTo>
                  <a:lnTo>
                    <a:pt x="0" y="0"/>
                  </a:lnTo>
                  <a:lnTo>
                    <a:pt x="0" y="114972"/>
                  </a:lnTo>
                  <a:lnTo>
                    <a:pt x="25558" y="114972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779607" y="1041922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0" y="114972"/>
                  </a:moveTo>
                  <a:lnTo>
                    <a:pt x="25558" y="11497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1497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805166" y="1061084"/>
              <a:ext cx="26034" cy="95885"/>
            </a:xfrm>
            <a:custGeom>
              <a:avLst/>
              <a:gdLst/>
              <a:ahLst/>
              <a:cxnLst/>
              <a:rect l="l" t="t" r="r" b="b"/>
              <a:pathLst>
                <a:path w="26035" h="95884">
                  <a:moveTo>
                    <a:pt x="25558" y="0"/>
                  </a:moveTo>
                  <a:lnTo>
                    <a:pt x="0" y="0"/>
                  </a:lnTo>
                  <a:lnTo>
                    <a:pt x="0" y="95810"/>
                  </a:lnTo>
                  <a:lnTo>
                    <a:pt x="25558" y="95810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805166" y="1061084"/>
              <a:ext cx="26034" cy="95885"/>
            </a:xfrm>
            <a:custGeom>
              <a:avLst/>
              <a:gdLst/>
              <a:ahLst/>
              <a:cxnLst/>
              <a:rect l="l" t="t" r="r" b="b"/>
              <a:pathLst>
                <a:path w="26035" h="95884">
                  <a:moveTo>
                    <a:pt x="0" y="95810"/>
                  </a:moveTo>
                  <a:lnTo>
                    <a:pt x="25558" y="95810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9581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830724" y="1080246"/>
              <a:ext cx="26034" cy="76835"/>
            </a:xfrm>
            <a:custGeom>
              <a:avLst/>
              <a:gdLst/>
              <a:ahLst/>
              <a:cxnLst/>
              <a:rect l="l" t="t" r="r" b="b"/>
              <a:pathLst>
                <a:path w="26035" h="76834">
                  <a:moveTo>
                    <a:pt x="25558" y="0"/>
                  </a:moveTo>
                  <a:lnTo>
                    <a:pt x="0" y="0"/>
                  </a:lnTo>
                  <a:lnTo>
                    <a:pt x="0" y="76648"/>
                  </a:lnTo>
                  <a:lnTo>
                    <a:pt x="25558" y="76648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830724" y="1080246"/>
              <a:ext cx="26034" cy="76835"/>
            </a:xfrm>
            <a:custGeom>
              <a:avLst/>
              <a:gdLst/>
              <a:ahLst/>
              <a:cxnLst/>
              <a:rect l="l" t="t" r="r" b="b"/>
              <a:pathLst>
                <a:path w="26035" h="76834">
                  <a:moveTo>
                    <a:pt x="0" y="76648"/>
                  </a:moveTo>
                  <a:lnTo>
                    <a:pt x="25558" y="76648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76648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856283" y="984435"/>
              <a:ext cx="26034" cy="172720"/>
            </a:xfrm>
            <a:custGeom>
              <a:avLst/>
              <a:gdLst/>
              <a:ahLst/>
              <a:cxnLst/>
              <a:rect l="l" t="t" r="r" b="b"/>
              <a:pathLst>
                <a:path w="26035" h="172719">
                  <a:moveTo>
                    <a:pt x="25558" y="0"/>
                  </a:moveTo>
                  <a:lnTo>
                    <a:pt x="0" y="0"/>
                  </a:lnTo>
                  <a:lnTo>
                    <a:pt x="0" y="172459"/>
                  </a:lnTo>
                  <a:lnTo>
                    <a:pt x="25558" y="172459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856283" y="984435"/>
              <a:ext cx="26034" cy="172720"/>
            </a:xfrm>
            <a:custGeom>
              <a:avLst/>
              <a:gdLst/>
              <a:ahLst/>
              <a:cxnLst/>
              <a:rect l="l" t="t" r="r" b="b"/>
              <a:pathLst>
                <a:path w="26035" h="172719">
                  <a:moveTo>
                    <a:pt x="0" y="172459"/>
                  </a:moveTo>
                  <a:lnTo>
                    <a:pt x="25558" y="172459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72459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881841" y="1022759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25558" y="0"/>
                  </a:moveTo>
                  <a:lnTo>
                    <a:pt x="0" y="0"/>
                  </a:lnTo>
                  <a:lnTo>
                    <a:pt x="0" y="134135"/>
                  </a:lnTo>
                  <a:lnTo>
                    <a:pt x="25558" y="134135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881841" y="1022759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0" y="134135"/>
                  </a:moveTo>
                  <a:lnTo>
                    <a:pt x="25558" y="134135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3413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907399" y="984435"/>
              <a:ext cx="26034" cy="172720"/>
            </a:xfrm>
            <a:custGeom>
              <a:avLst/>
              <a:gdLst/>
              <a:ahLst/>
              <a:cxnLst/>
              <a:rect l="l" t="t" r="r" b="b"/>
              <a:pathLst>
                <a:path w="26035" h="172719">
                  <a:moveTo>
                    <a:pt x="25558" y="0"/>
                  </a:moveTo>
                  <a:lnTo>
                    <a:pt x="0" y="0"/>
                  </a:lnTo>
                  <a:lnTo>
                    <a:pt x="0" y="172459"/>
                  </a:lnTo>
                  <a:lnTo>
                    <a:pt x="25558" y="172459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907399" y="984435"/>
              <a:ext cx="26034" cy="172720"/>
            </a:xfrm>
            <a:custGeom>
              <a:avLst/>
              <a:gdLst/>
              <a:ahLst/>
              <a:cxnLst/>
              <a:rect l="l" t="t" r="r" b="b"/>
              <a:pathLst>
                <a:path w="26035" h="172719">
                  <a:moveTo>
                    <a:pt x="0" y="172459"/>
                  </a:moveTo>
                  <a:lnTo>
                    <a:pt x="25558" y="172459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72459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932958" y="1080246"/>
              <a:ext cx="26034" cy="76835"/>
            </a:xfrm>
            <a:custGeom>
              <a:avLst/>
              <a:gdLst/>
              <a:ahLst/>
              <a:cxnLst/>
              <a:rect l="l" t="t" r="r" b="b"/>
              <a:pathLst>
                <a:path w="26035" h="76834">
                  <a:moveTo>
                    <a:pt x="25558" y="0"/>
                  </a:moveTo>
                  <a:lnTo>
                    <a:pt x="0" y="0"/>
                  </a:lnTo>
                  <a:lnTo>
                    <a:pt x="0" y="76648"/>
                  </a:lnTo>
                  <a:lnTo>
                    <a:pt x="25558" y="76648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932958" y="1080246"/>
              <a:ext cx="26034" cy="76835"/>
            </a:xfrm>
            <a:custGeom>
              <a:avLst/>
              <a:gdLst/>
              <a:ahLst/>
              <a:cxnLst/>
              <a:rect l="l" t="t" r="r" b="b"/>
              <a:pathLst>
                <a:path w="26035" h="76834">
                  <a:moveTo>
                    <a:pt x="0" y="76648"/>
                  </a:moveTo>
                  <a:lnTo>
                    <a:pt x="25558" y="76648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76648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958516" y="109940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4">
                  <a:moveTo>
                    <a:pt x="25558" y="0"/>
                  </a:moveTo>
                  <a:lnTo>
                    <a:pt x="0" y="0"/>
                  </a:lnTo>
                  <a:lnTo>
                    <a:pt x="0" y="57486"/>
                  </a:lnTo>
                  <a:lnTo>
                    <a:pt x="25558" y="57486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958516" y="109940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4">
                  <a:moveTo>
                    <a:pt x="0" y="57486"/>
                  </a:moveTo>
                  <a:lnTo>
                    <a:pt x="25558" y="57486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5748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009633" y="1118577"/>
              <a:ext cx="26034" cy="38735"/>
            </a:xfrm>
            <a:custGeom>
              <a:avLst/>
              <a:gdLst/>
              <a:ahLst/>
              <a:cxnLst/>
              <a:rect l="l" t="t" r="r" b="b"/>
              <a:pathLst>
                <a:path w="26035" h="38734">
                  <a:moveTo>
                    <a:pt x="25552" y="0"/>
                  </a:moveTo>
                  <a:lnTo>
                    <a:pt x="0" y="0"/>
                  </a:lnTo>
                  <a:lnTo>
                    <a:pt x="0" y="38328"/>
                  </a:lnTo>
                  <a:lnTo>
                    <a:pt x="25552" y="38328"/>
                  </a:lnTo>
                  <a:lnTo>
                    <a:pt x="25552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009633" y="1118570"/>
              <a:ext cx="26034" cy="38735"/>
            </a:xfrm>
            <a:custGeom>
              <a:avLst/>
              <a:gdLst/>
              <a:ahLst/>
              <a:cxnLst/>
              <a:rect l="l" t="t" r="r" b="b"/>
              <a:pathLst>
                <a:path w="26035" h="38734">
                  <a:moveTo>
                    <a:pt x="0" y="38324"/>
                  </a:moveTo>
                  <a:lnTo>
                    <a:pt x="25558" y="38324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3832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035191" y="1041922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25558" y="0"/>
                  </a:moveTo>
                  <a:lnTo>
                    <a:pt x="0" y="0"/>
                  </a:lnTo>
                  <a:lnTo>
                    <a:pt x="0" y="114972"/>
                  </a:lnTo>
                  <a:lnTo>
                    <a:pt x="25558" y="114972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035191" y="1041922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0" y="114972"/>
                  </a:moveTo>
                  <a:lnTo>
                    <a:pt x="25558" y="11497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1497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/>
          <p:nvPr/>
        </p:nvSpPr>
        <p:spPr>
          <a:xfrm>
            <a:off x="3992468" y="390409"/>
            <a:ext cx="767080" cy="767080"/>
          </a:xfrm>
          <a:custGeom>
            <a:avLst/>
            <a:gdLst/>
            <a:ahLst/>
            <a:cxnLst/>
            <a:rect l="l" t="t" r="r" b="b"/>
            <a:pathLst>
              <a:path w="767079" h="767080">
                <a:moveTo>
                  <a:pt x="766752" y="0"/>
                </a:moveTo>
                <a:lnTo>
                  <a:pt x="0" y="0"/>
                </a:lnTo>
                <a:lnTo>
                  <a:pt x="0" y="766485"/>
                </a:lnTo>
                <a:lnTo>
                  <a:pt x="766752" y="766485"/>
                </a:lnTo>
                <a:lnTo>
                  <a:pt x="766752" y="0"/>
                </a:lnTo>
                <a:close/>
              </a:path>
            </a:pathLst>
          </a:custGeom>
          <a:solidFill>
            <a:srgbClr val="E9E9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3980173" y="115528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3977245" y="388821"/>
            <a:ext cx="144780" cy="800735"/>
            <a:chOff x="3977245" y="388821"/>
            <a:chExt cx="144780" cy="800735"/>
          </a:xfrm>
        </p:grpSpPr>
        <p:sp>
          <p:nvSpPr>
            <p:cNvPr id="89" name="object 89"/>
            <p:cNvSpPr/>
            <p:nvPr/>
          </p:nvSpPr>
          <p:spPr>
            <a:xfrm>
              <a:off x="3977245" y="1187133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70" h="2540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120260" y="390409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4107965" y="115528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4105037" y="388821"/>
            <a:ext cx="144780" cy="800735"/>
            <a:chOff x="4105037" y="388821"/>
            <a:chExt cx="144780" cy="800735"/>
          </a:xfrm>
        </p:grpSpPr>
        <p:sp>
          <p:nvSpPr>
            <p:cNvPr id="93" name="object 93"/>
            <p:cNvSpPr/>
            <p:nvPr/>
          </p:nvSpPr>
          <p:spPr>
            <a:xfrm>
              <a:off x="4105037" y="1187133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70" h="2540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248052" y="390409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4235757" y="1155286"/>
            <a:ext cx="3746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4232829" y="388821"/>
            <a:ext cx="144780" cy="800735"/>
            <a:chOff x="4232829" y="388821"/>
            <a:chExt cx="144780" cy="800735"/>
          </a:xfrm>
        </p:grpSpPr>
        <p:sp>
          <p:nvSpPr>
            <p:cNvPr id="97" name="object 97"/>
            <p:cNvSpPr/>
            <p:nvPr/>
          </p:nvSpPr>
          <p:spPr>
            <a:xfrm>
              <a:off x="4232829" y="1187133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70" h="2540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375844" y="390409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4354912" y="115528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4503636" y="390409"/>
            <a:ext cx="0" cy="767080"/>
          </a:xfrm>
          <a:custGeom>
            <a:avLst/>
            <a:gdLst/>
            <a:ahLst/>
            <a:cxnLst/>
            <a:rect l="l" t="t" r="r" b="b"/>
            <a:pathLst>
              <a:path h="767080">
                <a:moveTo>
                  <a:pt x="0" y="766485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4482704" y="1155286"/>
            <a:ext cx="3746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4631428" y="390409"/>
            <a:ext cx="0" cy="767080"/>
          </a:xfrm>
          <a:custGeom>
            <a:avLst/>
            <a:gdLst/>
            <a:ahLst/>
            <a:cxnLst/>
            <a:rect l="l" t="t" r="r" b="b"/>
            <a:pathLst>
              <a:path h="767080">
                <a:moveTo>
                  <a:pt x="0" y="766485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4610496" y="115528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738288" y="115528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942585" y="112397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3992468" y="1061084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3942585" y="1028165"/>
            <a:ext cx="4254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3992468" y="965273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3926121" y="932355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3992468" y="869462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3926121" y="836544"/>
            <a:ext cx="5905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3992468" y="773652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3926121" y="740733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20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3992468" y="677841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3926121" y="644922"/>
            <a:ext cx="5905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25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3992468" y="582030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3926121" y="549112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30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3992468" y="486219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3926121" y="453301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35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926121" y="357490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40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3992468" y="983991"/>
            <a:ext cx="767080" cy="173355"/>
            <a:chOff x="3992468" y="983991"/>
            <a:chExt cx="767080" cy="173355"/>
          </a:xfrm>
        </p:grpSpPr>
        <p:sp>
          <p:nvSpPr>
            <p:cNvPr id="122" name="object 122"/>
            <p:cNvSpPr/>
            <p:nvPr/>
          </p:nvSpPr>
          <p:spPr>
            <a:xfrm>
              <a:off x="4171366" y="984440"/>
              <a:ext cx="26034" cy="172720"/>
            </a:xfrm>
            <a:custGeom>
              <a:avLst/>
              <a:gdLst/>
              <a:ahLst/>
              <a:cxnLst/>
              <a:rect l="l" t="t" r="r" b="b"/>
              <a:pathLst>
                <a:path w="26035" h="172719">
                  <a:moveTo>
                    <a:pt x="25565" y="0"/>
                  </a:moveTo>
                  <a:lnTo>
                    <a:pt x="0" y="0"/>
                  </a:lnTo>
                  <a:lnTo>
                    <a:pt x="0" y="172466"/>
                  </a:lnTo>
                  <a:lnTo>
                    <a:pt x="25565" y="172466"/>
                  </a:lnTo>
                  <a:lnTo>
                    <a:pt x="25565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171377" y="984435"/>
              <a:ext cx="26034" cy="172720"/>
            </a:xfrm>
            <a:custGeom>
              <a:avLst/>
              <a:gdLst/>
              <a:ahLst/>
              <a:cxnLst/>
              <a:rect l="l" t="t" r="r" b="b"/>
              <a:pathLst>
                <a:path w="26035" h="172719">
                  <a:moveTo>
                    <a:pt x="0" y="172459"/>
                  </a:moveTo>
                  <a:lnTo>
                    <a:pt x="25558" y="172459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72459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196935" y="1061084"/>
              <a:ext cx="26034" cy="95885"/>
            </a:xfrm>
            <a:custGeom>
              <a:avLst/>
              <a:gdLst/>
              <a:ahLst/>
              <a:cxnLst/>
              <a:rect l="l" t="t" r="r" b="b"/>
              <a:pathLst>
                <a:path w="26035" h="95884">
                  <a:moveTo>
                    <a:pt x="25558" y="0"/>
                  </a:moveTo>
                  <a:lnTo>
                    <a:pt x="0" y="0"/>
                  </a:lnTo>
                  <a:lnTo>
                    <a:pt x="0" y="95810"/>
                  </a:lnTo>
                  <a:lnTo>
                    <a:pt x="25558" y="95810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196935" y="1061084"/>
              <a:ext cx="26034" cy="95885"/>
            </a:xfrm>
            <a:custGeom>
              <a:avLst/>
              <a:gdLst/>
              <a:ahLst/>
              <a:cxnLst/>
              <a:rect l="l" t="t" r="r" b="b"/>
              <a:pathLst>
                <a:path w="26035" h="95884">
                  <a:moveTo>
                    <a:pt x="0" y="95810"/>
                  </a:moveTo>
                  <a:lnTo>
                    <a:pt x="25558" y="95810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9581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222494" y="1118570"/>
              <a:ext cx="26034" cy="38735"/>
            </a:xfrm>
            <a:custGeom>
              <a:avLst/>
              <a:gdLst/>
              <a:ahLst/>
              <a:cxnLst/>
              <a:rect l="l" t="t" r="r" b="b"/>
              <a:pathLst>
                <a:path w="26035" h="38734">
                  <a:moveTo>
                    <a:pt x="25558" y="0"/>
                  </a:moveTo>
                  <a:lnTo>
                    <a:pt x="0" y="0"/>
                  </a:lnTo>
                  <a:lnTo>
                    <a:pt x="0" y="38324"/>
                  </a:lnTo>
                  <a:lnTo>
                    <a:pt x="25558" y="38324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222494" y="1118570"/>
              <a:ext cx="26034" cy="38735"/>
            </a:xfrm>
            <a:custGeom>
              <a:avLst/>
              <a:gdLst/>
              <a:ahLst/>
              <a:cxnLst/>
              <a:rect l="l" t="t" r="r" b="b"/>
              <a:pathLst>
                <a:path w="26035" h="38734">
                  <a:moveTo>
                    <a:pt x="0" y="38324"/>
                  </a:moveTo>
                  <a:lnTo>
                    <a:pt x="25558" y="38324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3832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248052" y="109940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4">
                  <a:moveTo>
                    <a:pt x="25558" y="0"/>
                  </a:moveTo>
                  <a:lnTo>
                    <a:pt x="0" y="0"/>
                  </a:lnTo>
                  <a:lnTo>
                    <a:pt x="0" y="57486"/>
                  </a:lnTo>
                  <a:lnTo>
                    <a:pt x="25558" y="57486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248052" y="109940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4">
                  <a:moveTo>
                    <a:pt x="0" y="57486"/>
                  </a:moveTo>
                  <a:lnTo>
                    <a:pt x="25558" y="57486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5748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273611" y="109940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4">
                  <a:moveTo>
                    <a:pt x="25558" y="0"/>
                  </a:moveTo>
                  <a:lnTo>
                    <a:pt x="0" y="0"/>
                  </a:lnTo>
                  <a:lnTo>
                    <a:pt x="0" y="57486"/>
                  </a:lnTo>
                  <a:lnTo>
                    <a:pt x="25558" y="57486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273611" y="109940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4">
                  <a:moveTo>
                    <a:pt x="0" y="57486"/>
                  </a:moveTo>
                  <a:lnTo>
                    <a:pt x="25558" y="57486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5748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299169" y="1003597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25558" y="0"/>
                  </a:moveTo>
                  <a:lnTo>
                    <a:pt x="0" y="0"/>
                  </a:lnTo>
                  <a:lnTo>
                    <a:pt x="0" y="153297"/>
                  </a:lnTo>
                  <a:lnTo>
                    <a:pt x="25558" y="153297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299169" y="1003597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0" y="153297"/>
                  </a:moveTo>
                  <a:lnTo>
                    <a:pt x="25558" y="153297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5329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324728" y="1041922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25558" y="0"/>
                  </a:moveTo>
                  <a:lnTo>
                    <a:pt x="0" y="0"/>
                  </a:lnTo>
                  <a:lnTo>
                    <a:pt x="0" y="114972"/>
                  </a:lnTo>
                  <a:lnTo>
                    <a:pt x="25558" y="114972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324728" y="1041922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0" y="114972"/>
                  </a:moveTo>
                  <a:lnTo>
                    <a:pt x="25558" y="11497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1497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350286" y="1061084"/>
              <a:ext cx="26034" cy="95885"/>
            </a:xfrm>
            <a:custGeom>
              <a:avLst/>
              <a:gdLst/>
              <a:ahLst/>
              <a:cxnLst/>
              <a:rect l="l" t="t" r="r" b="b"/>
              <a:pathLst>
                <a:path w="26035" h="95884">
                  <a:moveTo>
                    <a:pt x="25558" y="0"/>
                  </a:moveTo>
                  <a:lnTo>
                    <a:pt x="0" y="0"/>
                  </a:lnTo>
                  <a:lnTo>
                    <a:pt x="0" y="95810"/>
                  </a:lnTo>
                  <a:lnTo>
                    <a:pt x="25558" y="95810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350286" y="1061084"/>
              <a:ext cx="26034" cy="95885"/>
            </a:xfrm>
            <a:custGeom>
              <a:avLst/>
              <a:gdLst/>
              <a:ahLst/>
              <a:cxnLst/>
              <a:rect l="l" t="t" r="r" b="b"/>
              <a:pathLst>
                <a:path w="26035" h="95884">
                  <a:moveTo>
                    <a:pt x="0" y="95810"/>
                  </a:moveTo>
                  <a:lnTo>
                    <a:pt x="25558" y="95810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9581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4375844" y="1080246"/>
              <a:ext cx="26034" cy="76835"/>
            </a:xfrm>
            <a:custGeom>
              <a:avLst/>
              <a:gdLst/>
              <a:ahLst/>
              <a:cxnLst/>
              <a:rect l="l" t="t" r="r" b="b"/>
              <a:pathLst>
                <a:path w="26035" h="76834">
                  <a:moveTo>
                    <a:pt x="25558" y="0"/>
                  </a:moveTo>
                  <a:lnTo>
                    <a:pt x="0" y="0"/>
                  </a:lnTo>
                  <a:lnTo>
                    <a:pt x="0" y="76648"/>
                  </a:lnTo>
                  <a:lnTo>
                    <a:pt x="25558" y="76648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375844" y="1080246"/>
              <a:ext cx="26034" cy="76835"/>
            </a:xfrm>
            <a:custGeom>
              <a:avLst/>
              <a:gdLst/>
              <a:ahLst/>
              <a:cxnLst/>
              <a:rect l="l" t="t" r="r" b="b"/>
              <a:pathLst>
                <a:path w="26035" h="76834">
                  <a:moveTo>
                    <a:pt x="0" y="76648"/>
                  </a:moveTo>
                  <a:lnTo>
                    <a:pt x="25558" y="76648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76648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401403" y="984435"/>
              <a:ext cx="26034" cy="172720"/>
            </a:xfrm>
            <a:custGeom>
              <a:avLst/>
              <a:gdLst/>
              <a:ahLst/>
              <a:cxnLst/>
              <a:rect l="l" t="t" r="r" b="b"/>
              <a:pathLst>
                <a:path w="26035" h="172719">
                  <a:moveTo>
                    <a:pt x="25558" y="0"/>
                  </a:moveTo>
                  <a:lnTo>
                    <a:pt x="0" y="0"/>
                  </a:lnTo>
                  <a:lnTo>
                    <a:pt x="0" y="172459"/>
                  </a:lnTo>
                  <a:lnTo>
                    <a:pt x="25558" y="172459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401403" y="984435"/>
              <a:ext cx="26034" cy="172720"/>
            </a:xfrm>
            <a:custGeom>
              <a:avLst/>
              <a:gdLst/>
              <a:ahLst/>
              <a:cxnLst/>
              <a:rect l="l" t="t" r="r" b="b"/>
              <a:pathLst>
                <a:path w="26035" h="172719">
                  <a:moveTo>
                    <a:pt x="0" y="172459"/>
                  </a:moveTo>
                  <a:lnTo>
                    <a:pt x="25558" y="172459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72459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426961" y="1022759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25558" y="0"/>
                  </a:moveTo>
                  <a:lnTo>
                    <a:pt x="0" y="0"/>
                  </a:lnTo>
                  <a:lnTo>
                    <a:pt x="0" y="134135"/>
                  </a:lnTo>
                  <a:lnTo>
                    <a:pt x="25558" y="134135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426961" y="1022759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0" y="134135"/>
                  </a:moveTo>
                  <a:lnTo>
                    <a:pt x="25558" y="134135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3413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4452520" y="984435"/>
              <a:ext cx="26034" cy="172720"/>
            </a:xfrm>
            <a:custGeom>
              <a:avLst/>
              <a:gdLst/>
              <a:ahLst/>
              <a:cxnLst/>
              <a:rect l="l" t="t" r="r" b="b"/>
              <a:pathLst>
                <a:path w="26035" h="172719">
                  <a:moveTo>
                    <a:pt x="25558" y="0"/>
                  </a:moveTo>
                  <a:lnTo>
                    <a:pt x="0" y="0"/>
                  </a:lnTo>
                  <a:lnTo>
                    <a:pt x="0" y="172459"/>
                  </a:lnTo>
                  <a:lnTo>
                    <a:pt x="25558" y="172459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452520" y="984435"/>
              <a:ext cx="26034" cy="172720"/>
            </a:xfrm>
            <a:custGeom>
              <a:avLst/>
              <a:gdLst/>
              <a:ahLst/>
              <a:cxnLst/>
              <a:rect l="l" t="t" r="r" b="b"/>
              <a:pathLst>
                <a:path w="26035" h="172719">
                  <a:moveTo>
                    <a:pt x="0" y="172459"/>
                  </a:moveTo>
                  <a:lnTo>
                    <a:pt x="25558" y="172459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72459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4478078" y="1080246"/>
              <a:ext cx="26034" cy="76835"/>
            </a:xfrm>
            <a:custGeom>
              <a:avLst/>
              <a:gdLst/>
              <a:ahLst/>
              <a:cxnLst/>
              <a:rect l="l" t="t" r="r" b="b"/>
              <a:pathLst>
                <a:path w="26035" h="76834">
                  <a:moveTo>
                    <a:pt x="25558" y="0"/>
                  </a:moveTo>
                  <a:lnTo>
                    <a:pt x="0" y="0"/>
                  </a:lnTo>
                  <a:lnTo>
                    <a:pt x="0" y="76648"/>
                  </a:lnTo>
                  <a:lnTo>
                    <a:pt x="25558" y="76648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478078" y="1080246"/>
              <a:ext cx="26034" cy="76835"/>
            </a:xfrm>
            <a:custGeom>
              <a:avLst/>
              <a:gdLst/>
              <a:ahLst/>
              <a:cxnLst/>
              <a:rect l="l" t="t" r="r" b="b"/>
              <a:pathLst>
                <a:path w="26035" h="76834">
                  <a:moveTo>
                    <a:pt x="0" y="76648"/>
                  </a:moveTo>
                  <a:lnTo>
                    <a:pt x="25558" y="76648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76648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503636" y="109940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4">
                  <a:moveTo>
                    <a:pt x="25558" y="0"/>
                  </a:moveTo>
                  <a:lnTo>
                    <a:pt x="0" y="0"/>
                  </a:lnTo>
                  <a:lnTo>
                    <a:pt x="0" y="57486"/>
                  </a:lnTo>
                  <a:lnTo>
                    <a:pt x="25558" y="57486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4503636" y="109940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4">
                  <a:moveTo>
                    <a:pt x="0" y="57486"/>
                  </a:moveTo>
                  <a:lnTo>
                    <a:pt x="25558" y="57486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5748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4554753" y="1118577"/>
              <a:ext cx="26034" cy="38735"/>
            </a:xfrm>
            <a:custGeom>
              <a:avLst/>
              <a:gdLst/>
              <a:ahLst/>
              <a:cxnLst/>
              <a:rect l="l" t="t" r="r" b="b"/>
              <a:pathLst>
                <a:path w="26035" h="38734">
                  <a:moveTo>
                    <a:pt x="25552" y="0"/>
                  </a:moveTo>
                  <a:lnTo>
                    <a:pt x="0" y="0"/>
                  </a:lnTo>
                  <a:lnTo>
                    <a:pt x="0" y="38328"/>
                  </a:lnTo>
                  <a:lnTo>
                    <a:pt x="25552" y="38328"/>
                  </a:lnTo>
                  <a:lnTo>
                    <a:pt x="25552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554753" y="1118570"/>
              <a:ext cx="26034" cy="38735"/>
            </a:xfrm>
            <a:custGeom>
              <a:avLst/>
              <a:gdLst/>
              <a:ahLst/>
              <a:cxnLst/>
              <a:rect l="l" t="t" r="r" b="b"/>
              <a:pathLst>
                <a:path w="26035" h="38734">
                  <a:moveTo>
                    <a:pt x="0" y="38324"/>
                  </a:moveTo>
                  <a:lnTo>
                    <a:pt x="25558" y="38324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3832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4580312" y="1041922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25558" y="0"/>
                  </a:moveTo>
                  <a:lnTo>
                    <a:pt x="0" y="0"/>
                  </a:lnTo>
                  <a:lnTo>
                    <a:pt x="0" y="114972"/>
                  </a:lnTo>
                  <a:lnTo>
                    <a:pt x="25558" y="114972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580312" y="1041922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0" y="114972"/>
                  </a:moveTo>
                  <a:lnTo>
                    <a:pt x="25558" y="11497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1497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" name="object 154"/>
          <p:cNvSpPr txBox="1"/>
          <p:nvPr/>
        </p:nvSpPr>
        <p:spPr>
          <a:xfrm>
            <a:off x="877206" y="2011901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026427" y="2011901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175648" y="2011901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1324870" y="2011901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1474091" y="2011901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1623313" y="2011901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835906" y="1980591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835906" y="1827294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835906" y="1673997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835906" y="1520700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835906" y="1367402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835906" y="1214105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250">
              <a:latin typeface="Arial MT"/>
              <a:cs typeface="Arial MT"/>
            </a:endParaRPr>
          </a:p>
        </p:txBody>
      </p:sp>
      <p:pic>
        <p:nvPicPr>
          <p:cNvPr id="166" name="object 16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9006" y="1247024"/>
            <a:ext cx="749067" cy="766485"/>
          </a:xfrm>
          <a:prstGeom prst="rect">
            <a:avLst/>
          </a:prstGeom>
        </p:spPr>
      </p:pic>
      <p:sp>
        <p:nvSpPr>
          <p:cNvPr id="167" name="object 167"/>
          <p:cNvSpPr txBox="1"/>
          <p:nvPr/>
        </p:nvSpPr>
        <p:spPr>
          <a:xfrm>
            <a:off x="1559676" y="1890751"/>
            <a:ext cx="8255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900"/>
              </a:lnSpc>
              <a:spcBef>
                <a:spcPts val="10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train</a:t>
            </a:r>
            <a:r>
              <a:rPr sz="250" spc="5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20" dirty="0">
                <a:solidFill>
                  <a:srgbClr val="262626"/>
                </a:solidFill>
                <a:latin typeface="Arial MT"/>
                <a:cs typeface="Arial MT"/>
              </a:rPr>
              <a:t>test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544677" y="1561050"/>
            <a:ext cx="2197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/>
                <a:cs typeface="Tahoma"/>
              </a:rPr>
              <a:t>Huber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2447348" y="1247024"/>
            <a:ext cx="767080" cy="767080"/>
          </a:xfrm>
          <a:custGeom>
            <a:avLst/>
            <a:gdLst/>
            <a:ahLst/>
            <a:cxnLst/>
            <a:rect l="l" t="t" r="r" b="b"/>
            <a:pathLst>
              <a:path w="767080" h="767080">
                <a:moveTo>
                  <a:pt x="766752" y="0"/>
                </a:moveTo>
                <a:lnTo>
                  <a:pt x="0" y="0"/>
                </a:lnTo>
                <a:lnTo>
                  <a:pt x="0" y="766485"/>
                </a:lnTo>
                <a:lnTo>
                  <a:pt x="766752" y="766485"/>
                </a:lnTo>
                <a:lnTo>
                  <a:pt x="766752" y="0"/>
                </a:lnTo>
                <a:close/>
              </a:path>
            </a:pathLst>
          </a:custGeom>
          <a:solidFill>
            <a:srgbClr val="E9E9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2435053" y="2011901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171" name="object 171"/>
          <p:cNvGrpSpPr/>
          <p:nvPr/>
        </p:nvGrpSpPr>
        <p:grpSpPr>
          <a:xfrm>
            <a:off x="2432125" y="1245436"/>
            <a:ext cx="144780" cy="800735"/>
            <a:chOff x="2432125" y="1245436"/>
            <a:chExt cx="144780" cy="800735"/>
          </a:xfrm>
        </p:grpSpPr>
        <p:sp>
          <p:nvSpPr>
            <p:cNvPr id="172" name="object 172"/>
            <p:cNvSpPr/>
            <p:nvPr/>
          </p:nvSpPr>
          <p:spPr>
            <a:xfrm>
              <a:off x="2432125" y="2043748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69" h="2539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2575140" y="1247024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4" name="object 174"/>
          <p:cNvSpPr txBox="1"/>
          <p:nvPr/>
        </p:nvSpPr>
        <p:spPr>
          <a:xfrm>
            <a:off x="2562845" y="2011901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2559917" y="1245436"/>
            <a:ext cx="144780" cy="800735"/>
            <a:chOff x="2559917" y="1245436"/>
            <a:chExt cx="144780" cy="800735"/>
          </a:xfrm>
        </p:grpSpPr>
        <p:sp>
          <p:nvSpPr>
            <p:cNvPr id="176" name="object 176"/>
            <p:cNvSpPr/>
            <p:nvPr/>
          </p:nvSpPr>
          <p:spPr>
            <a:xfrm>
              <a:off x="2559917" y="2043748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69" h="2539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2702932" y="1247024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8" name="object 178"/>
          <p:cNvSpPr txBox="1"/>
          <p:nvPr/>
        </p:nvSpPr>
        <p:spPr>
          <a:xfrm>
            <a:off x="2690637" y="2011901"/>
            <a:ext cx="3746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2687709" y="1245436"/>
            <a:ext cx="144780" cy="800735"/>
            <a:chOff x="2687709" y="1245436"/>
            <a:chExt cx="144780" cy="800735"/>
          </a:xfrm>
        </p:grpSpPr>
        <p:sp>
          <p:nvSpPr>
            <p:cNvPr id="180" name="object 180"/>
            <p:cNvSpPr/>
            <p:nvPr/>
          </p:nvSpPr>
          <p:spPr>
            <a:xfrm>
              <a:off x="2687709" y="2043748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69" h="2539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2830724" y="1247024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2" name="object 182"/>
          <p:cNvSpPr txBox="1"/>
          <p:nvPr/>
        </p:nvSpPr>
        <p:spPr>
          <a:xfrm>
            <a:off x="2809792" y="2011901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83" name="object 183"/>
          <p:cNvSpPr/>
          <p:nvPr/>
        </p:nvSpPr>
        <p:spPr>
          <a:xfrm>
            <a:off x="2958516" y="1247024"/>
            <a:ext cx="0" cy="767080"/>
          </a:xfrm>
          <a:custGeom>
            <a:avLst/>
            <a:gdLst/>
            <a:ahLst/>
            <a:cxnLst/>
            <a:rect l="l" t="t" r="r" b="b"/>
            <a:pathLst>
              <a:path h="767080">
                <a:moveTo>
                  <a:pt x="0" y="766485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 txBox="1"/>
          <p:nvPr/>
        </p:nvSpPr>
        <p:spPr>
          <a:xfrm>
            <a:off x="2937584" y="2011901"/>
            <a:ext cx="3746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85" name="object 185"/>
          <p:cNvSpPr/>
          <p:nvPr/>
        </p:nvSpPr>
        <p:spPr>
          <a:xfrm>
            <a:off x="3086308" y="1247024"/>
            <a:ext cx="0" cy="767080"/>
          </a:xfrm>
          <a:custGeom>
            <a:avLst/>
            <a:gdLst/>
            <a:ahLst/>
            <a:cxnLst/>
            <a:rect l="l" t="t" r="r" b="b"/>
            <a:pathLst>
              <a:path h="767080">
                <a:moveTo>
                  <a:pt x="0" y="766485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 txBox="1"/>
          <p:nvPr/>
        </p:nvSpPr>
        <p:spPr>
          <a:xfrm>
            <a:off x="3065376" y="2011901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3193168" y="2011901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2397465" y="1980591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89" name="object 189"/>
          <p:cNvSpPr/>
          <p:nvPr/>
        </p:nvSpPr>
        <p:spPr>
          <a:xfrm>
            <a:off x="2447348" y="1917699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 txBox="1"/>
          <p:nvPr/>
        </p:nvSpPr>
        <p:spPr>
          <a:xfrm>
            <a:off x="2397465" y="1884780"/>
            <a:ext cx="4254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91" name="object 191"/>
          <p:cNvSpPr/>
          <p:nvPr/>
        </p:nvSpPr>
        <p:spPr>
          <a:xfrm>
            <a:off x="2447348" y="1821888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 txBox="1"/>
          <p:nvPr/>
        </p:nvSpPr>
        <p:spPr>
          <a:xfrm>
            <a:off x="2381000" y="1788970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93" name="object 193"/>
          <p:cNvSpPr/>
          <p:nvPr/>
        </p:nvSpPr>
        <p:spPr>
          <a:xfrm>
            <a:off x="2447348" y="172607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 txBox="1"/>
          <p:nvPr/>
        </p:nvSpPr>
        <p:spPr>
          <a:xfrm>
            <a:off x="2381000" y="1693159"/>
            <a:ext cx="5905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95" name="object 195"/>
          <p:cNvSpPr/>
          <p:nvPr/>
        </p:nvSpPr>
        <p:spPr>
          <a:xfrm>
            <a:off x="2447348" y="1630266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 txBox="1"/>
          <p:nvPr/>
        </p:nvSpPr>
        <p:spPr>
          <a:xfrm>
            <a:off x="2381000" y="1597348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20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97" name="object 197"/>
          <p:cNvSpPr/>
          <p:nvPr/>
        </p:nvSpPr>
        <p:spPr>
          <a:xfrm>
            <a:off x="2447348" y="1534456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 txBox="1"/>
          <p:nvPr/>
        </p:nvSpPr>
        <p:spPr>
          <a:xfrm>
            <a:off x="2381000" y="1501537"/>
            <a:ext cx="5905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25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99" name="object 199"/>
          <p:cNvSpPr/>
          <p:nvPr/>
        </p:nvSpPr>
        <p:spPr>
          <a:xfrm>
            <a:off x="2447348" y="1438645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 txBox="1"/>
          <p:nvPr/>
        </p:nvSpPr>
        <p:spPr>
          <a:xfrm>
            <a:off x="2381000" y="1405727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30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01" name="object 201"/>
          <p:cNvSpPr/>
          <p:nvPr/>
        </p:nvSpPr>
        <p:spPr>
          <a:xfrm>
            <a:off x="2447348" y="1342834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 txBox="1"/>
          <p:nvPr/>
        </p:nvSpPr>
        <p:spPr>
          <a:xfrm>
            <a:off x="2381000" y="1309916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35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2381000" y="1214105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40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204" name="object 204"/>
          <p:cNvGrpSpPr/>
          <p:nvPr/>
        </p:nvGrpSpPr>
        <p:grpSpPr>
          <a:xfrm>
            <a:off x="2447348" y="1361553"/>
            <a:ext cx="767080" cy="652780"/>
            <a:chOff x="2447348" y="1361553"/>
            <a:chExt cx="767080" cy="652780"/>
          </a:xfrm>
        </p:grpSpPr>
        <p:sp>
          <p:nvSpPr>
            <p:cNvPr id="205" name="object 205"/>
            <p:cNvSpPr/>
            <p:nvPr/>
          </p:nvSpPr>
          <p:spPr>
            <a:xfrm>
              <a:off x="2524023" y="195602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5">
                  <a:moveTo>
                    <a:pt x="25552" y="0"/>
                  </a:moveTo>
                  <a:lnTo>
                    <a:pt x="0" y="0"/>
                  </a:lnTo>
                  <a:lnTo>
                    <a:pt x="0" y="57492"/>
                  </a:lnTo>
                  <a:lnTo>
                    <a:pt x="25552" y="57492"/>
                  </a:lnTo>
                  <a:lnTo>
                    <a:pt x="25552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2524023" y="1956023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5">
                  <a:moveTo>
                    <a:pt x="0" y="57486"/>
                  </a:moveTo>
                  <a:lnTo>
                    <a:pt x="25558" y="57486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5748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549582" y="1860212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25558" y="0"/>
                  </a:moveTo>
                  <a:lnTo>
                    <a:pt x="0" y="0"/>
                  </a:lnTo>
                  <a:lnTo>
                    <a:pt x="0" y="153297"/>
                  </a:lnTo>
                  <a:lnTo>
                    <a:pt x="25558" y="153297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549582" y="1860212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0" y="153297"/>
                  </a:moveTo>
                  <a:lnTo>
                    <a:pt x="25558" y="153297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5329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779598" y="1898548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25565" y="0"/>
                  </a:moveTo>
                  <a:lnTo>
                    <a:pt x="0" y="0"/>
                  </a:lnTo>
                  <a:lnTo>
                    <a:pt x="0" y="114973"/>
                  </a:lnTo>
                  <a:lnTo>
                    <a:pt x="25565" y="114973"/>
                  </a:lnTo>
                  <a:lnTo>
                    <a:pt x="25565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779607" y="1898537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0" y="114972"/>
                  </a:moveTo>
                  <a:lnTo>
                    <a:pt x="25558" y="11497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1497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2805166" y="1630267"/>
              <a:ext cx="26034" cy="383540"/>
            </a:xfrm>
            <a:custGeom>
              <a:avLst/>
              <a:gdLst/>
              <a:ahLst/>
              <a:cxnLst/>
              <a:rect l="l" t="t" r="r" b="b"/>
              <a:pathLst>
                <a:path w="26035" h="383539">
                  <a:moveTo>
                    <a:pt x="25558" y="0"/>
                  </a:moveTo>
                  <a:lnTo>
                    <a:pt x="0" y="0"/>
                  </a:lnTo>
                  <a:lnTo>
                    <a:pt x="0" y="383242"/>
                  </a:lnTo>
                  <a:lnTo>
                    <a:pt x="25558" y="383242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2805166" y="1630267"/>
              <a:ext cx="26034" cy="383540"/>
            </a:xfrm>
            <a:custGeom>
              <a:avLst/>
              <a:gdLst/>
              <a:ahLst/>
              <a:cxnLst/>
              <a:rect l="l" t="t" r="r" b="b"/>
              <a:pathLst>
                <a:path w="26035" h="383539">
                  <a:moveTo>
                    <a:pt x="0" y="383242"/>
                  </a:moveTo>
                  <a:lnTo>
                    <a:pt x="25558" y="38324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38324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2830724" y="1361997"/>
              <a:ext cx="26034" cy="651510"/>
            </a:xfrm>
            <a:custGeom>
              <a:avLst/>
              <a:gdLst/>
              <a:ahLst/>
              <a:cxnLst/>
              <a:rect l="l" t="t" r="r" b="b"/>
              <a:pathLst>
                <a:path w="26035" h="651510">
                  <a:moveTo>
                    <a:pt x="25558" y="0"/>
                  </a:moveTo>
                  <a:lnTo>
                    <a:pt x="0" y="0"/>
                  </a:lnTo>
                  <a:lnTo>
                    <a:pt x="0" y="651512"/>
                  </a:lnTo>
                  <a:lnTo>
                    <a:pt x="25558" y="651512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2830724" y="1361997"/>
              <a:ext cx="26034" cy="651510"/>
            </a:xfrm>
            <a:custGeom>
              <a:avLst/>
              <a:gdLst/>
              <a:ahLst/>
              <a:cxnLst/>
              <a:rect l="l" t="t" r="r" b="b"/>
              <a:pathLst>
                <a:path w="26035" h="651510">
                  <a:moveTo>
                    <a:pt x="0" y="651512"/>
                  </a:moveTo>
                  <a:lnTo>
                    <a:pt x="25558" y="65151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65151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2856283" y="1898537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25558" y="0"/>
                  </a:moveTo>
                  <a:lnTo>
                    <a:pt x="0" y="0"/>
                  </a:lnTo>
                  <a:lnTo>
                    <a:pt x="0" y="114972"/>
                  </a:lnTo>
                  <a:lnTo>
                    <a:pt x="25558" y="114972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2856283" y="1898537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0" y="114972"/>
                  </a:moveTo>
                  <a:lnTo>
                    <a:pt x="25558" y="11497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1497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3137420" y="1860219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25552" y="0"/>
                  </a:moveTo>
                  <a:lnTo>
                    <a:pt x="0" y="0"/>
                  </a:lnTo>
                  <a:lnTo>
                    <a:pt x="0" y="153301"/>
                  </a:lnTo>
                  <a:lnTo>
                    <a:pt x="25552" y="153301"/>
                  </a:lnTo>
                  <a:lnTo>
                    <a:pt x="25552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3137425" y="1860212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0" y="153297"/>
                  </a:moveTo>
                  <a:lnTo>
                    <a:pt x="25558" y="153297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5329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9" name="object 219"/>
          <p:cNvSpPr/>
          <p:nvPr/>
        </p:nvSpPr>
        <p:spPr>
          <a:xfrm>
            <a:off x="3992468" y="1247024"/>
            <a:ext cx="767080" cy="767080"/>
          </a:xfrm>
          <a:custGeom>
            <a:avLst/>
            <a:gdLst/>
            <a:ahLst/>
            <a:cxnLst/>
            <a:rect l="l" t="t" r="r" b="b"/>
            <a:pathLst>
              <a:path w="767079" h="767080">
                <a:moveTo>
                  <a:pt x="766752" y="0"/>
                </a:moveTo>
                <a:lnTo>
                  <a:pt x="0" y="0"/>
                </a:lnTo>
                <a:lnTo>
                  <a:pt x="0" y="766485"/>
                </a:lnTo>
                <a:lnTo>
                  <a:pt x="766752" y="766485"/>
                </a:lnTo>
                <a:lnTo>
                  <a:pt x="766752" y="0"/>
                </a:lnTo>
                <a:close/>
              </a:path>
            </a:pathLst>
          </a:custGeom>
          <a:solidFill>
            <a:srgbClr val="E9E9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 txBox="1"/>
          <p:nvPr/>
        </p:nvSpPr>
        <p:spPr>
          <a:xfrm>
            <a:off x="3980173" y="2011901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221" name="object 221"/>
          <p:cNvGrpSpPr/>
          <p:nvPr/>
        </p:nvGrpSpPr>
        <p:grpSpPr>
          <a:xfrm>
            <a:off x="3977245" y="1245436"/>
            <a:ext cx="144780" cy="800735"/>
            <a:chOff x="3977245" y="1245436"/>
            <a:chExt cx="144780" cy="800735"/>
          </a:xfrm>
        </p:grpSpPr>
        <p:sp>
          <p:nvSpPr>
            <p:cNvPr id="222" name="object 222"/>
            <p:cNvSpPr/>
            <p:nvPr/>
          </p:nvSpPr>
          <p:spPr>
            <a:xfrm>
              <a:off x="3977245" y="2043748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70" h="2539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4120260" y="1247024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4" name="object 224"/>
          <p:cNvSpPr txBox="1"/>
          <p:nvPr/>
        </p:nvSpPr>
        <p:spPr>
          <a:xfrm>
            <a:off x="4107965" y="2011901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225" name="object 225"/>
          <p:cNvGrpSpPr/>
          <p:nvPr/>
        </p:nvGrpSpPr>
        <p:grpSpPr>
          <a:xfrm>
            <a:off x="4105037" y="1245436"/>
            <a:ext cx="144780" cy="800735"/>
            <a:chOff x="4105037" y="1245436"/>
            <a:chExt cx="144780" cy="800735"/>
          </a:xfrm>
        </p:grpSpPr>
        <p:sp>
          <p:nvSpPr>
            <p:cNvPr id="226" name="object 226"/>
            <p:cNvSpPr/>
            <p:nvPr/>
          </p:nvSpPr>
          <p:spPr>
            <a:xfrm>
              <a:off x="4105037" y="2043748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70" h="2539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4248052" y="1247024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8" name="object 228"/>
          <p:cNvSpPr txBox="1"/>
          <p:nvPr/>
        </p:nvSpPr>
        <p:spPr>
          <a:xfrm>
            <a:off x="4235757" y="2011901"/>
            <a:ext cx="3746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229" name="object 229"/>
          <p:cNvGrpSpPr/>
          <p:nvPr/>
        </p:nvGrpSpPr>
        <p:grpSpPr>
          <a:xfrm>
            <a:off x="4232829" y="1245436"/>
            <a:ext cx="144780" cy="800735"/>
            <a:chOff x="4232829" y="1245436"/>
            <a:chExt cx="144780" cy="800735"/>
          </a:xfrm>
        </p:grpSpPr>
        <p:sp>
          <p:nvSpPr>
            <p:cNvPr id="230" name="object 230"/>
            <p:cNvSpPr/>
            <p:nvPr/>
          </p:nvSpPr>
          <p:spPr>
            <a:xfrm>
              <a:off x="4232829" y="2043748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70" h="2539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4375844" y="1247024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2" name="object 232"/>
          <p:cNvSpPr txBox="1"/>
          <p:nvPr/>
        </p:nvSpPr>
        <p:spPr>
          <a:xfrm>
            <a:off x="4354912" y="2011901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33" name="object 233"/>
          <p:cNvSpPr/>
          <p:nvPr/>
        </p:nvSpPr>
        <p:spPr>
          <a:xfrm>
            <a:off x="4503636" y="1247024"/>
            <a:ext cx="0" cy="767080"/>
          </a:xfrm>
          <a:custGeom>
            <a:avLst/>
            <a:gdLst/>
            <a:ahLst/>
            <a:cxnLst/>
            <a:rect l="l" t="t" r="r" b="b"/>
            <a:pathLst>
              <a:path h="767080">
                <a:moveTo>
                  <a:pt x="0" y="766485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 txBox="1"/>
          <p:nvPr/>
        </p:nvSpPr>
        <p:spPr>
          <a:xfrm>
            <a:off x="4482704" y="2011901"/>
            <a:ext cx="3746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35" name="object 235"/>
          <p:cNvSpPr/>
          <p:nvPr/>
        </p:nvSpPr>
        <p:spPr>
          <a:xfrm>
            <a:off x="4631428" y="1247024"/>
            <a:ext cx="0" cy="767080"/>
          </a:xfrm>
          <a:custGeom>
            <a:avLst/>
            <a:gdLst/>
            <a:ahLst/>
            <a:cxnLst/>
            <a:rect l="l" t="t" r="r" b="b"/>
            <a:pathLst>
              <a:path h="767080">
                <a:moveTo>
                  <a:pt x="0" y="766485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 txBox="1"/>
          <p:nvPr/>
        </p:nvSpPr>
        <p:spPr>
          <a:xfrm>
            <a:off x="4610496" y="2011901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4738288" y="2011901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38" name="object 238"/>
          <p:cNvSpPr txBox="1"/>
          <p:nvPr/>
        </p:nvSpPr>
        <p:spPr>
          <a:xfrm>
            <a:off x="3942585" y="1980591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39" name="object 239"/>
          <p:cNvSpPr/>
          <p:nvPr/>
        </p:nvSpPr>
        <p:spPr>
          <a:xfrm>
            <a:off x="3992468" y="1917699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 txBox="1"/>
          <p:nvPr/>
        </p:nvSpPr>
        <p:spPr>
          <a:xfrm>
            <a:off x="3942585" y="1884780"/>
            <a:ext cx="4254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41" name="object 241"/>
          <p:cNvSpPr/>
          <p:nvPr/>
        </p:nvSpPr>
        <p:spPr>
          <a:xfrm>
            <a:off x="3992468" y="1821888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 txBox="1"/>
          <p:nvPr/>
        </p:nvSpPr>
        <p:spPr>
          <a:xfrm>
            <a:off x="3926121" y="1788970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43" name="object 243"/>
          <p:cNvSpPr/>
          <p:nvPr/>
        </p:nvSpPr>
        <p:spPr>
          <a:xfrm>
            <a:off x="3992468" y="1726077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 txBox="1"/>
          <p:nvPr/>
        </p:nvSpPr>
        <p:spPr>
          <a:xfrm>
            <a:off x="3926121" y="1693159"/>
            <a:ext cx="5905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45" name="object 245"/>
          <p:cNvSpPr/>
          <p:nvPr/>
        </p:nvSpPr>
        <p:spPr>
          <a:xfrm>
            <a:off x="3992468" y="1630266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 txBox="1"/>
          <p:nvPr/>
        </p:nvSpPr>
        <p:spPr>
          <a:xfrm>
            <a:off x="3926121" y="1597348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20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47" name="object 247"/>
          <p:cNvSpPr/>
          <p:nvPr/>
        </p:nvSpPr>
        <p:spPr>
          <a:xfrm>
            <a:off x="3992468" y="1534456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 txBox="1"/>
          <p:nvPr/>
        </p:nvSpPr>
        <p:spPr>
          <a:xfrm>
            <a:off x="3926121" y="1501537"/>
            <a:ext cx="5905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25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49" name="object 249"/>
          <p:cNvSpPr/>
          <p:nvPr/>
        </p:nvSpPr>
        <p:spPr>
          <a:xfrm>
            <a:off x="3992468" y="1438645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 txBox="1"/>
          <p:nvPr/>
        </p:nvSpPr>
        <p:spPr>
          <a:xfrm>
            <a:off x="3926121" y="1405727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30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51" name="object 251"/>
          <p:cNvSpPr/>
          <p:nvPr/>
        </p:nvSpPr>
        <p:spPr>
          <a:xfrm>
            <a:off x="3992468" y="1342834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 txBox="1"/>
          <p:nvPr/>
        </p:nvSpPr>
        <p:spPr>
          <a:xfrm>
            <a:off x="3926121" y="1309916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35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3926121" y="1214105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40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254" name="object 254"/>
          <p:cNvGrpSpPr/>
          <p:nvPr/>
        </p:nvGrpSpPr>
        <p:grpSpPr>
          <a:xfrm>
            <a:off x="3992468" y="1361553"/>
            <a:ext cx="767080" cy="652780"/>
            <a:chOff x="3992468" y="1361553"/>
            <a:chExt cx="767080" cy="652780"/>
          </a:xfrm>
        </p:grpSpPr>
        <p:sp>
          <p:nvSpPr>
            <p:cNvPr id="255" name="object 255"/>
            <p:cNvSpPr/>
            <p:nvPr/>
          </p:nvSpPr>
          <p:spPr>
            <a:xfrm>
              <a:off x="4069143" y="195602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5">
                  <a:moveTo>
                    <a:pt x="25552" y="0"/>
                  </a:moveTo>
                  <a:lnTo>
                    <a:pt x="0" y="0"/>
                  </a:lnTo>
                  <a:lnTo>
                    <a:pt x="0" y="57492"/>
                  </a:lnTo>
                  <a:lnTo>
                    <a:pt x="25552" y="57492"/>
                  </a:lnTo>
                  <a:lnTo>
                    <a:pt x="25552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4069143" y="1956023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5">
                  <a:moveTo>
                    <a:pt x="0" y="57486"/>
                  </a:moveTo>
                  <a:lnTo>
                    <a:pt x="25558" y="57486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5748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4094702" y="1860212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25558" y="0"/>
                  </a:moveTo>
                  <a:lnTo>
                    <a:pt x="0" y="0"/>
                  </a:lnTo>
                  <a:lnTo>
                    <a:pt x="0" y="153297"/>
                  </a:lnTo>
                  <a:lnTo>
                    <a:pt x="25558" y="153297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4094702" y="1860212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0" y="153297"/>
                  </a:moveTo>
                  <a:lnTo>
                    <a:pt x="25558" y="153297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5329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4324718" y="1898548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25565" y="0"/>
                  </a:moveTo>
                  <a:lnTo>
                    <a:pt x="0" y="0"/>
                  </a:lnTo>
                  <a:lnTo>
                    <a:pt x="0" y="114973"/>
                  </a:lnTo>
                  <a:lnTo>
                    <a:pt x="25565" y="114973"/>
                  </a:lnTo>
                  <a:lnTo>
                    <a:pt x="25565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4324728" y="1898537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0" y="114972"/>
                  </a:moveTo>
                  <a:lnTo>
                    <a:pt x="25558" y="11497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1497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4350286" y="1630267"/>
              <a:ext cx="26034" cy="383540"/>
            </a:xfrm>
            <a:custGeom>
              <a:avLst/>
              <a:gdLst/>
              <a:ahLst/>
              <a:cxnLst/>
              <a:rect l="l" t="t" r="r" b="b"/>
              <a:pathLst>
                <a:path w="26035" h="383539">
                  <a:moveTo>
                    <a:pt x="25558" y="0"/>
                  </a:moveTo>
                  <a:lnTo>
                    <a:pt x="0" y="0"/>
                  </a:lnTo>
                  <a:lnTo>
                    <a:pt x="0" y="383242"/>
                  </a:lnTo>
                  <a:lnTo>
                    <a:pt x="25558" y="383242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4350286" y="1630267"/>
              <a:ext cx="26034" cy="383540"/>
            </a:xfrm>
            <a:custGeom>
              <a:avLst/>
              <a:gdLst/>
              <a:ahLst/>
              <a:cxnLst/>
              <a:rect l="l" t="t" r="r" b="b"/>
              <a:pathLst>
                <a:path w="26035" h="383539">
                  <a:moveTo>
                    <a:pt x="0" y="383242"/>
                  </a:moveTo>
                  <a:lnTo>
                    <a:pt x="25558" y="38324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38324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4375844" y="1361997"/>
              <a:ext cx="26034" cy="651510"/>
            </a:xfrm>
            <a:custGeom>
              <a:avLst/>
              <a:gdLst/>
              <a:ahLst/>
              <a:cxnLst/>
              <a:rect l="l" t="t" r="r" b="b"/>
              <a:pathLst>
                <a:path w="26035" h="651510">
                  <a:moveTo>
                    <a:pt x="25558" y="0"/>
                  </a:moveTo>
                  <a:lnTo>
                    <a:pt x="0" y="0"/>
                  </a:lnTo>
                  <a:lnTo>
                    <a:pt x="0" y="651512"/>
                  </a:lnTo>
                  <a:lnTo>
                    <a:pt x="25558" y="651512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4375844" y="1361997"/>
              <a:ext cx="26034" cy="651510"/>
            </a:xfrm>
            <a:custGeom>
              <a:avLst/>
              <a:gdLst/>
              <a:ahLst/>
              <a:cxnLst/>
              <a:rect l="l" t="t" r="r" b="b"/>
              <a:pathLst>
                <a:path w="26035" h="651510">
                  <a:moveTo>
                    <a:pt x="0" y="651512"/>
                  </a:moveTo>
                  <a:lnTo>
                    <a:pt x="25558" y="65151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65151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4401403" y="1898537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25558" y="0"/>
                  </a:moveTo>
                  <a:lnTo>
                    <a:pt x="0" y="0"/>
                  </a:lnTo>
                  <a:lnTo>
                    <a:pt x="0" y="114972"/>
                  </a:lnTo>
                  <a:lnTo>
                    <a:pt x="25558" y="114972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4401403" y="1898537"/>
              <a:ext cx="26034" cy="115570"/>
            </a:xfrm>
            <a:custGeom>
              <a:avLst/>
              <a:gdLst/>
              <a:ahLst/>
              <a:cxnLst/>
              <a:rect l="l" t="t" r="r" b="b"/>
              <a:pathLst>
                <a:path w="26035" h="115569">
                  <a:moveTo>
                    <a:pt x="0" y="114972"/>
                  </a:moveTo>
                  <a:lnTo>
                    <a:pt x="25558" y="11497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1497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4682541" y="1860219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25552" y="0"/>
                  </a:moveTo>
                  <a:lnTo>
                    <a:pt x="0" y="0"/>
                  </a:lnTo>
                  <a:lnTo>
                    <a:pt x="0" y="153301"/>
                  </a:lnTo>
                  <a:lnTo>
                    <a:pt x="25552" y="153301"/>
                  </a:lnTo>
                  <a:lnTo>
                    <a:pt x="25552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4682545" y="1860212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0" y="153297"/>
                  </a:moveTo>
                  <a:lnTo>
                    <a:pt x="25558" y="153297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5329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9" name="object 269"/>
          <p:cNvSpPr txBox="1"/>
          <p:nvPr/>
        </p:nvSpPr>
        <p:spPr>
          <a:xfrm>
            <a:off x="877206" y="2868516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70" name="object 270"/>
          <p:cNvSpPr txBox="1"/>
          <p:nvPr/>
        </p:nvSpPr>
        <p:spPr>
          <a:xfrm>
            <a:off x="1026427" y="2868516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71" name="object 271"/>
          <p:cNvSpPr txBox="1"/>
          <p:nvPr/>
        </p:nvSpPr>
        <p:spPr>
          <a:xfrm>
            <a:off x="1175648" y="2868516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72" name="object 272"/>
          <p:cNvSpPr txBox="1"/>
          <p:nvPr/>
        </p:nvSpPr>
        <p:spPr>
          <a:xfrm>
            <a:off x="1324870" y="2868516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1474091" y="2868516"/>
            <a:ext cx="21590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r>
              <a:rPr sz="250" spc="370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74" name="object 274"/>
          <p:cNvSpPr txBox="1"/>
          <p:nvPr/>
        </p:nvSpPr>
        <p:spPr>
          <a:xfrm>
            <a:off x="835906" y="2837206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75" name="object 275"/>
          <p:cNvSpPr txBox="1"/>
          <p:nvPr/>
        </p:nvSpPr>
        <p:spPr>
          <a:xfrm>
            <a:off x="835906" y="2683909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76" name="object 276"/>
          <p:cNvSpPr txBox="1"/>
          <p:nvPr/>
        </p:nvSpPr>
        <p:spPr>
          <a:xfrm>
            <a:off x="835906" y="2530612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0.4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77" name="object 277"/>
          <p:cNvSpPr txBox="1"/>
          <p:nvPr/>
        </p:nvSpPr>
        <p:spPr>
          <a:xfrm>
            <a:off x="835906" y="2377314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0.6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78" name="object 278"/>
          <p:cNvSpPr txBox="1"/>
          <p:nvPr/>
        </p:nvSpPr>
        <p:spPr>
          <a:xfrm>
            <a:off x="835906" y="2224017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0.8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79" name="object 279"/>
          <p:cNvSpPr txBox="1"/>
          <p:nvPr/>
        </p:nvSpPr>
        <p:spPr>
          <a:xfrm>
            <a:off x="835906" y="2070720"/>
            <a:ext cx="6667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.0</a:t>
            </a:r>
            <a:endParaRPr sz="250">
              <a:latin typeface="Arial MT"/>
              <a:cs typeface="Arial MT"/>
            </a:endParaRPr>
          </a:p>
        </p:txBody>
      </p:sp>
      <p:pic>
        <p:nvPicPr>
          <p:cNvPr id="280" name="object 28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006" y="2103639"/>
            <a:ext cx="749067" cy="766485"/>
          </a:xfrm>
          <a:prstGeom prst="rect">
            <a:avLst/>
          </a:prstGeom>
        </p:spPr>
      </p:pic>
      <p:sp>
        <p:nvSpPr>
          <p:cNvPr id="281" name="object 281"/>
          <p:cNvSpPr txBox="1"/>
          <p:nvPr/>
        </p:nvSpPr>
        <p:spPr>
          <a:xfrm>
            <a:off x="1559676" y="2747366"/>
            <a:ext cx="8255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900"/>
              </a:lnSpc>
              <a:spcBef>
                <a:spcPts val="10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train</a:t>
            </a:r>
            <a:r>
              <a:rPr sz="250" spc="5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20" dirty="0">
                <a:solidFill>
                  <a:srgbClr val="262626"/>
                </a:solidFill>
                <a:latin typeface="Arial MT"/>
                <a:cs typeface="Arial MT"/>
              </a:rPr>
              <a:t>test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82" name="object 282"/>
          <p:cNvSpPr txBox="1"/>
          <p:nvPr/>
        </p:nvSpPr>
        <p:spPr>
          <a:xfrm>
            <a:off x="425323" y="2417665"/>
            <a:ext cx="3390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/>
                <a:cs typeface="Tahoma"/>
              </a:rPr>
              <a:t>log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Huber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83" name="object 283"/>
          <p:cNvSpPr txBox="1"/>
          <p:nvPr/>
        </p:nvSpPr>
        <p:spPr>
          <a:xfrm>
            <a:off x="1237564" y="2929158"/>
            <a:ext cx="93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latin typeface="Tahoma"/>
                <a:cs typeface="Tahoma"/>
              </a:rPr>
              <a:t>fit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84" name="object 284"/>
          <p:cNvSpPr/>
          <p:nvPr/>
        </p:nvSpPr>
        <p:spPr>
          <a:xfrm>
            <a:off x="2447348" y="2103639"/>
            <a:ext cx="767080" cy="767080"/>
          </a:xfrm>
          <a:custGeom>
            <a:avLst/>
            <a:gdLst/>
            <a:ahLst/>
            <a:cxnLst/>
            <a:rect l="l" t="t" r="r" b="b"/>
            <a:pathLst>
              <a:path w="767080" h="767080">
                <a:moveTo>
                  <a:pt x="766752" y="0"/>
                </a:moveTo>
                <a:lnTo>
                  <a:pt x="0" y="0"/>
                </a:lnTo>
                <a:lnTo>
                  <a:pt x="0" y="766485"/>
                </a:lnTo>
                <a:lnTo>
                  <a:pt x="766752" y="766485"/>
                </a:lnTo>
                <a:lnTo>
                  <a:pt x="766752" y="0"/>
                </a:lnTo>
                <a:close/>
              </a:path>
            </a:pathLst>
          </a:custGeom>
          <a:solidFill>
            <a:srgbClr val="E9E9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 txBox="1"/>
          <p:nvPr/>
        </p:nvSpPr>
        <p:spPr>
          <a:xfrm>
            <a:off x="2435053" y="286851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286" name="object 286"/>
          <p:cNvGrpSpPr/>
          <p:nvPr/>
        </p:nvGrpSpPr>
        <p:grpSpPr>
          <a:xfrm>
            <a:off x="2432125" y="2102051"/>
            <a:ext cx="144780" cy="800735"/>
            <a:chOff x="2432125" y="2102051"/>
            <a:chExt cx="144780" cy="800735"/>
          </a:xfrm>
        </p:grpSpPr>
        <p:sp>
          <p:nvSpPr>
            <p:cNvPr id="287" name="object 287"/>
            <p:cNvSpPr/>
            <p:nvPr/>
          </p:nvSpPr>
          <p:spPr>
            <a:xfrm>
              <a:off x="2432125" y="2900363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69" h="2539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2575140" y="2103639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9" name="object 289"/>
          <p:cNvSpPr txBox="1"/>
          <p:nvPr/>
        </p:nvSpPr>
        <p:spPr>
          <a:xfrm>
            <a:off x="2562845" y="286851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290" name="object 290"/>
          <p:cNvGrpSpPr/>
          <p:nvPr/>
        </p:nvGrpSpPr>
        <p:grpSpPr>
          <a:xfrm>
            <a:off x="2559917" y="2102051"/>
            <a:ext cx="528320" cy="800735"/>
            <a:chOff x="2559917" y="2102051"/>
            <a:chExt cx="528320" cy="800735"/>
          </a:xfrm>
        </p:grpSpPr>
        <p:sp>
          <p:nvSpPr>
            <p:cNvPr id="291" name="object 291"/>
            <p:cNvSpPr/>
            <p:nvPr/>
          </p:nvSpPr>
          <p:spPr>
            <a:xfrm>
              <a:off x="2559917" y="2900363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69" h="2539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2702932" y="2103639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2687709" y="2900363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69" h="2539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2830724" y="2103639"/>
              <a:ext cx="255904" cy="767080"/>
            </a:xfrm>
            <a:custGeom>
              <a:avLst/>
              <a:gdLst/>
              <a:ahLst/>
              <a:cxnLst/>
              <a:rect l="l" t="t" r="r" b="b"/>
              <a:pathLst>
                <a:path w="255905" h="767080">
                  <a:moveTo>
                    <a:pt x="0" y="766485"/>
                  </a:moveTo>
                  <a:lnTo>
                    <a:pt x="0" y="0"/>
                  </a:lnTo>
                </a:path>
                <a:path w="255905" h="767080">
                  <a:moveTo>
                    <a:pt x="127792" y="766485"/>
                  </a:moveTo>
                  <a:lnTo>
                    <a:pt x="127792" y="0"/>
                  </a:lnTo>
                </a:path>
                <a:path w="255905" h="767080">
                  <a:moveTo>
                    <a:pt x="255584" y="766485"/>
                  </a:moveTo>
                  <a:lnTo>
                    <a:pt x="255584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5" name="object 295"/>
          <p:cNvSpPr txBox="1"/>
          <p:nvPr/>
        </p:nvSpPr>
        <p:spPr>
          <a:xfrm>
            <a:off x="3065376" y="286851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3193168" y="286851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97" name="object 297"/>
          <p:cNvSpPr txBox="1"/>
          <p:nvPr/>
        </p:nvSpPr>
        <p:spPr>
          <a:xfrm>
            <a:off x="2397465" y="283720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98" name="object 298"/>
          <p:cNvSpPr/>
          <p:nvPr/>
        </p:nvSpPr>
        <p:spPr>
          <a:xfrm>
            <a:off x="2447348" y="2774314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 txBox="1"/>
          <p:nvPr/>
        </p:nvSpPr>
        <p:spPr>
          <a:xfrm>
            <a:off x="2397465" y="2741395"/>
            <a:ext cx="4254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00" name="object 300"/>
          <p:cNvSpPr/>
          <p:nvPr/>
        </p:nvSpPr>
        <p:spPr>
          <a:xfrm>
            <a:off x="2447348" y="2678503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 txBox="1"/>
          <p:nvPr/>
        </p:nvSpPr>
        <p:spPr>
          <a:xfrm>
            <a:off x="2381000" y="2645585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02" name="object 302"/>
          <p:cNvSpPr/>
          <p:nvPr/>
        </p:nvSpPr>
        <p:spPr>
          <a:xfrm>
            <a:off x="2447348" y="2582692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 txBox="1"/>
          <p:nvPr/>
        </p:nvSpPr>
        <p:spPr>
          <a:xfrm>
            <a:off x="2381000" y="2549774"/>
            <a:ext cx="5905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04" name="object 304"/>
          <p:cNvSpPr/>
          <p:nvPr/>
        </p:nvSpPr>
        <p:spPr>
          <a:xfrm>
            <a:off x="2447348" y="2486882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 txBox="1"/>
          <p:nvPr/>
        </p:nvSpPr>
        <p:spPr>
          <a:xfrm>
            <a:off x="2381000" y="2453963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20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06" name="object 306"/>
          <p:cNvSpPr/>
          <p:nvPr/>
        </p:nvSpPr>
        <p:spPr>
          <a:xfrm>
            <a:off x="2447348" y="2391071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 txBox="1"/>
          <p:nvPr/>
        </p:nvSpPr>
        <p:spPr>
          <a:xfrm>
            <a:off x="2381000" y="2358152"/>
            <a:ext cx="5905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25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08" name="object 308"/>
          <p:cNvSpPr/>
          <p:nvPr/>
        </p:nvSpPr>
        <p:spPr>
          <a:xfrm>
            <a:off x="2447348" y="2295260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 txBox="1"/>
          <p:nvPr/>
        </p:nvSpPr>
        <p:spPr>
          <a:xfrm>
            <a:off x="2381000" y="2262342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30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10" name="object 310"/>
          <p:cNvSpPr/>
          <p:nvPr/>
        </p:nvSpPr>
        <p:spPr>
          <a:xfrm>
            <a:off x="2447348" y="2199449"/>
            <a:ext cx="767080" cy="0"/>
          </a:xfrm>
          <a:custGeom>
            <a:avLst/>
            <a:gdLst/>
            <a:ahLst/>
            <a:cxnLst/>
            <a:rect l="l" t="t" r="r" b="b"/>
            <a:pathLst>
              <a:path w="767080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 txBox="1"/>
          <p:nvPr/>
        </p:nvSpPr>
        <p:spPr>
          <a:xfrm>
            <a:off x="2381000" y="2166531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35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12" name="object 312"/>
          <p:cNvSpPr txBox="1"/>
          <p:nvPr/>
        </p:nvSpPr>
        <p:spPr>
          <a:xfrm>
            <a:off x="2381000" y="2070720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40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313" name="object 313"/>
          <p:cNvGrpSpPr/>
          <p:nvPr/>
        </p:nvGrpSpPr>
        <p:grpSpPr>
          <a:xfrm>
            <a:off x="2447348" y="2179843"/>
            <a:ext cx="767080" cy="690880"/>
            <a:chOff x="2447348" y="2179843"/>
            <a:chExt cx="767080" cy="690880"/>
          </a:xfrm>
        </p:grpSpPr>
        <p:sp>
          <p:nvSpPr>
            <p:cNvPr id="314" name="object 314"/>
            <p:cNvSpPr/>
            <p:nvPr/>
          </p:nvSpPr>
          <p:spPr>
            <a:xfrm>
              <a:off x="2498458" y="2812643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5">
                  <a:moveTo>
                    <a:pt x="25565" y="0"/>
                  </a:moveTo>
                  <a:lnTo>
                    <a:pt x="0" y="0"/>
                  </a:lnTo>
                  <a:lnTo>
                    <a:pt x="0" y="57492"/>
                  </a:lnTo>
                  <a:lnTo>
                    <a:pt x="25565" y="57492"/>
                  </a:lnTo>
                  <a:lnTo>
                    <a:pt x="25565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2498465" y="281263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5">
                  <a:moveTo>
                    <a:pt x="0" y="57486"/>
                  </a:moveTo>
                  <a:lnTo>
                    <a:pt x="25558" y="57486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5748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2524023" y="2716827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25558" y="0"/>
                  </a:moveTo>
                  <a:lnTo>
                    <a:pt x="0" y="0"/>
                  </a:lnTo>
                  <a:lnTo>
                    <a:pt x="0" y="153297"/>
                  </a:lnTo>
                  <a:lnTo>
                    <a:pt x="25558" y="153297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2524023" y="2716827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0" y="153297"/>
                  </a:moveTo>
                  <a:lnTo>
                    <a:pt x="25558" y="153297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5329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2805163" y="2295270"/>
              <a:ext cx="26034" cy="575310"/>
            </a:xfrm>
            <a:custGeom>
              <a:avLst/>
              <a:gdLst/>
              <a:ahLst/>
              <a:cxnLst/>
              <a:rect l="l" t="t" r="r" b="b"/>
              <a:pathLst>
                <a:path w="26035" h="575310">
                  <a:moveTo>
                    <a:pt x="25552" y="0"/>
                  </a:moveTo>
                  <a:lnTo>
                    <a:pt x="0" y="0"/>
                  </a:lnTo>
                  <a:lnTo>
                    <a:pt x="0" y="574865"/>
                  </a:lnTo>
                  <a:lnTo>
                    <a:pt x="25552" y="574865"/>
                  </a:lnTo>
                  <a:lnTo>
                    <a:pt x="25552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2805166" y="2295260"/>
              <a:ext cx="26034" cy="575310"/>
            </a:xfrm>
            <a:custGeom>
              <a:avLst/>
              <a:gdLst/>
              <a:ahLst/>
              <a:cxnLst/>
              <a:rect l="l" t="t" r="r" b="b"/>
              <a:pathLst>
                <a:path w="26035" h="575310">
                  <a:moveTo>
                    <a:pt x="0" y="574864"/>
                  </a:moveTo>
                  <a:lnTo>
                    <a:pt x="25558" y="574864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57486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2830724" y="2180287"/>
              <a:ext cx="26034" cy="690245"/>
            </a:xfrm>
            <a:custGeom>
              <a:avLst/>
              <a:gdLst/>
              <a:ahLst/>
              <a:cxnLst/>
              <a:rect l="l" t="t" r="r" b="b"/>
              <a:pathLst>
                <a:path w="26035" h="690244">
                  <a:moveTo>
                    <a:pt x="25558" y="0"/>
                  </a:moveTo>
                  <a:lnTo>
                    <a:pt x="0" y="0"/>
                  </a:lnTo>
                  <a:lnTo>
                    <a:pt x="0" y="689837"/>
                  </a:lnTo>
                  <a:lnTo>
                    <a:pt x="25558" y="689837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2830724" y="2180287"/>
              <a:ext cx="26034" cy="690245"/>
            </a:xfrm>
            <a:custGeom>
              <a:avLst/>
              <a:gdLst/>
              <a:ahLst/>
              <a:cxnLst/>
              <a:rect l="l" t="t" r="r" b="b"/>
              <a:pathLst>
                <a:path w="26035" h="690244">
                  <a:moveTo>
                    <a:pt x="0" y="689837"/>
                  </a:moveTo>
                  <a:lnTo>
                    <a:pt x="25558" y="689837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68983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3137420" y="2850972"/>
              <a:ext cx="26034" cy="19685"/>
            </a:xfrm>
            <a:custGeom>
              <a:avLst/>
              <a:gdLst/>
              <a:ahLst/>
              <a:cxnLst/>
              <a:rect l="l" t="t" r="r" b="b"/>
              <a:pathLst>
                <a:path w="26035" h="19685">
                  <a:moveTo>
                    <a:pt x="25552" y="0"/>
                  </a:moveTo>
                  <a:lnTo>
                    <a:pt x="0" y="0"/>
                  </a:lnTo>
                  <a:lnTo>
                    <a:pt x="0" y="19164"/>
                  </a:lnTo>
                  <a:lnTo>
                    <a:pt x="25552" y="19164"/>
                  </a:lnTo>
                  <a:lnTo>
                    <a:pt x="25552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3137425" y="2850962"/>
              <a:ext cx="26034" cy="19685"/>
            </a:xfrm>
            <a:custGeom>
              <a:avLst/>
              <a:gdLst/>
              <a:ahLst/>
              <a:cxnLst/>
              <a:rect l="l" t="t" r="r" b="b"/>
              <a:pathLst>
                <a:path w="26035" h="19685">
                  <a:moveTo>
                    <a:pt x="0" y="19162"/>
                  </a:moveTo>
                  <a:lnTo>
                    <a:pt x="25558" y="1916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916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3162983" y="2735989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25558" y="0"/>
                  </a:moveTo>
                  <a:lnTo>
                    <a:pt x="0" y="0"/>
                  </a:lnTo>
                  <a:lnTo>
                    <a:pt x="0" y="134135"/>
                  </a:lnTo>
                  <a:lnTo>
                    <a:pt x="25558" y="134135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3162983" y="2735989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0" y="134135"/>
                  </a:moveTo>
                  <a:lnTo>
                    <a:pt x="25558" y="134135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3413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3188542" y="2870124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>
                  <a:moveTo>
                    <a:pt x="25558" y="0"/>
                  </a:moveTo>
                  <a:lnTo>
                    <a:pt x="0" y="0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7" name="object 327"/>
          <p:cNvSpPr txBox="1"/>
          <p:nvPr/>
        </p:nvSpPr>
        <p:spPr>
          <a:xfrm>
            <a:off x="2609138" y="2858909"/>
            <a:ext cx="440055" cy="18732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65"/>
              </a:spcBef>
            </a:pPr>
            <a:r>
              <a:rPr sz="2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365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2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r>
              <a:rPr sz="250" spc="380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spc="-10" dirty="0">
                <a:latin typeface="Tahoma"/>
                <a:cs typeface="Tahoma"/>
              </a:rPr>
              <a:t>training</a:t>
            </a:r>
            <a:r>
              <a:rPr sz="600" spc="-3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error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28" name="object 328"/>
          <p:cNvSpPr/>
          <p:nvPr/>
        </p:nvSpPr>
        <p:spPr>
          <a:xfrm>
            <a:off x="3992468" y="2103639"/>
            <a:ext cx="767080" cy="767080"/>
          </a:xfrm>
          <a:custGeom>
            <a:avLst/>
            <a:gdLst/>
            <a:ahLst/>
            <a:cxnLst/>
            <a:rect l="l" t="t" r="r" b="b"/>
            <a:pathLst>
              <a:path w="767079" h="767080">
                <a:moveTo>
                  <a:pt x="766752" y="0"/>
                </a:moveTo>
                <a:lnTo>
                  <a:pt x="0" y="0"/>
                </a:lnTo>
                <a:lnTo>
                  <a:pt x="0" y="766485"/>
                </a:lnTo>
                <a:lnTo>
                  <a:pt x="766752" y="766485"/>
                </a:lnTo>
                <a:lnTo>
                  <a:pt x="766752" y="0"/>
                </a:lnTo>
                <a:close/>
              </a:path>
            </a:pathLst>
          </a:custGeom>
          <a:solidFill>
            <a:srgbClr val="E9E9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 txBox="1"/>
          <p:nvPr/>
        </p:nvSpPr>
        <p:spPr>
          <a:xfrm>
            <a:off x="3980173" y="286851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330" name="object 330"/>
          <p:cNvGrpSpPr/>
          <p:nvPr/>
        </p:nvGrpSpPr>
        <p:grpSpPr>
          <a:xfrm>
            <a:off x="3977245" y="2102051"/>
            <a:ext cx="144780" cy="800735"/>
            <a:chOff x="3977245" y="2102051"/>
            <a:chExt cx="144780" cy="800735"/>
          </a:xfrm>
        </p:grpSpPr>
        <p:sp>
          <p:nvSpPr>
            <p:cNvPr id="331" name="object 331"/>
            <p:cNvSpPr/>
            <p:nvPr/>
          </p:nvSpPr>
          <p:spPr>
            <a:xfrm>
              <a:off x="3977245" y="2900363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70" h="2539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4120260" y="2103639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3" name="object 333"/>
          <p:cNvSpPr txBox="1"/>
          <p:nvPr/>
        </p:nvSpPr>
        <p:spPr>
          <a:xfrm>
            <a:off x="4107965" y="286851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334" name="object 334"/>
          <p:cNvGrpSpPr/>
          <p:nvPr/>
        </p:nvGrpSpPr>
        <p:grpSpPr>
          <a:xfrm>
            <a:off x="4105037" y="2102051"/>
            <a:ext cx="528320" cy="800735"/>
            <a:chOff x="4105037" y="2102051"/>
            <a:chExt cx="528320" cy="800735"/>
          </a:xfrm>
        </p:grpSpPr>
        <p:sp>
          <p:nvSpPr>
            <p:cNvPr id="335" name="object 335"/>
            <p:cNvSpPr/>
            <p:nvPr/>
          </p:nvSpPr>
          <p:spPr>
            <a:xfrm>
              <a:off x="4105037" y="2900363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70" h="2539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4248052" y="2103639"/>
              <a:ext cx="0" cy="767080"/>
            </a:xfrm>
            <a:custGeom>
              <a:avLst/>
              <a:gdLst/>
              <a:ahLst/>
              <a:cxnLst/>
              <a:rect l="l" t="t" r="r" b="b"/>
              <a:pathLst>
                <a:path h="767080">
                  <a:moveTo>
                    <a:pt x="0" y="766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4232829" y="2900363"/>
              <a:ext cx="13970" cy="2540"/>
            </a:xfrm>
            <a:custGeom>
              <a:avLst/>
              <a:gdLst/>
              <a:ahLst/>
              <a:cxnLst/>
              <a:rect l="l" t="t" r="r" b="b"/>
              <a:pathLst>
                <a:path w="13970" h="2539">
                  <a:moveTo>
                    <a:pt x="13970" y="0"/>
                  </a:moveTo>
                  <a:lnTo>
                    <a:pt x="0" y="0"/>
                  </a:lnTo>
                  <a:lnTo>
                    <a:pt x="0" y="2427"/>
                  </a:lnTo>
                  <a:lnTo>
                    <a:pt x="13970" y="2427"/>
                  </a:lnTo>
                  <a:lnTo>
                    <a:pt x="1397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4375844" y="2103639"/>
              <a:ext cx="255904" cy="767080"/>
            </a:xfrm>
            <a:custGeom>
              <a:avLst/>
              <a:gdLst/>
              <a:ahLst/>
              <a:cxnLst/>
              <a:rect l="l" t="t" r="r" b="b"/>
              <a:pathLst>
                <a:path w="255904" h="767080">
                  <a:moveTo>
                    <a:pt x="0" y="766485"/>
                  </a:moveTo>
                  <a:lnTo>
                    <a:pt x="0" y="0"/>
                  </a:lnTo>
                </a:path>
                <a:path w="255904" h="767080">
                  <a:moveTo>
                    <a:pt x="127792" y="766485"/>
                  </a:moveTo>
                  <a:lnTo>
                    <a:pt x="127792" y="0"/>
                  </a:lnTo>
                </a:path>
                <a:path w="255904" h="767080">
                  <a:moveTo>
                    <a:pt x="255584" y="766485"/>
                  </a:moveTo>
                  <a:lnTo>
                    <a:pt x="255584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9" name="object 339"/>
          <p:cNvSpPr txBox="1"/>
          <p:nvPr/>
        </p:nvSpPr>
        <p:spPr>
          <a:xfrm>
            <a:off x="4610496" y="286851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40" name="object 340"/>
          <p:cNvSpPr txBox="1"/>
          <p:nvPr/>
        </p:nvSpPr>
        <p:spPr>
          <a:xfrm>
            <a:off x="4738288" y="286851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41" name="object 341"/>
          <p:cNvSpPr txBox="1"/>
          <p:nvPr/>
        </p:nvSpPr>
        <p:spPr>
          <a:xfrm>
            <a:off x="3942585" y="2837206"/>
            <a:ext cx="41910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42" name="object 342"/>
          <p:cNvSpPr/>
          <p:nvPr/>
        </p:nvSpPr>
        <p:spPr>
          <a:xfrm>
            <a:off x="3992468" y="2774314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 txBox="1"/>
          <p:nvPr/>
        </p:nvSpPr>
        <p:spPr>
          <a:xfrm>
            <a:off x="3942585" y="2741395"/>
            <a:ext cx="4254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44" name="object 344"/>
          <p:cNvSpPr/>
          <p:nvPr/>
        </p:nvSpPr>
        <p:spPr>
          <a:xfrm>
            <a:off x="3992468" y="2678503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 txBox="1"/>
          <p:nvPr/>
        </p:nvSpPr>
        <p:spPr>
          <a:xfrm>
            <a:off x="3926121" y="2645585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46" name="object 346"/>
          <p:cNvSpPr/>
          <p:nvPr/>
        </p:nvSpPr>
        <p:spPr>
          <a:xfrm>
            <a:off x="3992468" y="2582692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 txBox="1"/>
          <p:nvPr/>
        </p:nvSpPr>
        <p:spPr>
          <a:xfrm>
            <a:off x="3926121" y="2549774"/>
            <a:ext cx="5905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55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48" name="object 348"/>
          <p:cNvSpPr/>
          <p:nvPr/>
        </p:nvSpPr>
        <p:spPr>
          <a:xfrm>
            <a:off x="3992468" y="2486882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 txBox="1"/>
          <p:nvPr/>
        </p:nvSpPr>
        <p:spPr>
          <a:xfrm>
            <a:off x="3926121" y="2453963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20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50" name="object 350"/>
          <p:cNvSpPr/>
          <p:nvPr/>
        </p:nvSpPr>
        <p:spPr>
          <a:xfrm>
            <a:off x="3992468" y="2391071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 txBox="1"/>
          <p:nvPr/>
        </p:nvSpPr>
        <p:spPr>
          <a:xfrm>
            <a:off x="3926121" y="2358152"/>
            <a:ext cx="59055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25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52" name="object 352"/>
          <p:cNvSpPr/>
          <p:nvPr/>
        </p:nvSpPr>
        <p:spPr>
          <a:xfrm>
            <a:off x="3992468" y="2295260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 txBox="1"/>
          <p:nvPr/>
        </p:nvSpPr>
        <p:spPr>
          <a:xfrm>
            <a:off x="3926121" y="2262342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30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54" name="object 354"/>
          <p:cNvSpPr/>
          <p:nvPr/>
        </p:nvSpPr>
        <p:spPr>
          <a:xfrm>
            <a:off x="3992468" y="2199449"/>
            <a:ext cx="767080" cy="0"/>
          </a:xfrm>
          <a:custGeom>
            <a:avLst/>
            <a:gdLst/>
            <a:ahLst/>
            <a:cxnLst/>
            <a:rect l="l" t="t" r="r" b="b"/>
            <a:pathLst>
              <a:path w="767079">
                <a:moveTo>
                  <a:pt x="0" y="0"/>
                </a:moveTo>
                <a:lnTo>
                  <a:pt x="766752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 txBox="1"/>
          <p:nvPr/>
        </p:nvSpPr>
        <p:spPr>
          <a:xfrm>
            <a:off x="3926121" y="2166531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35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56" name="object 356"/>
          <p:cNvSpPr txBox="1"/>
          <p:nvPr/>
        </p:nvSpPr>
        <p:spPr>
          <a:xfrm>
            <a:off x="3926121" y="2070720"/>
            <a:ext cx="58419" cy="62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" spc="-25" dirty="0">
                <a:solidFill>
                  <a:srgbClr val="262626"/>
                </a:solidFill>
                <a:latin typeface="Arial MT"/>
                <a:cs typeface="Arial MT"/>
              </a:rPr>
              <a:t>40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357" name="object 357"/>
          <p:cNvGrpSpPr/>
          <p:nvPr/>
        </p:nvGrpSpPr>
        <p:grpSpPr>
          <a:xfrm>
            <a:off x="3992468" y="2179843"/>
            <a:ext cx="767080" cy="690880"/>
            <a:chOff x="3992468" y="2179843"/>
            <a:chExt cx="767080" cy="690880"/>
          </a:xfrm>
        </p:grpSpPr>
        <p:sp>
          <p:nvSpPr>
            <p:cNvPr id="358" name="object 358"/>
            <p:cNvSpPr/>
            <p:nvPr/>
          </p:nvSpPr>
          <p:spPr>
            <a:xfrm>
              <a:off x="4043578" y="2812643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5">
                  <a:moveTo>
                    <a:pt x="25565" y="0"/>
                  </a:moveTo>
                  <a:lnTo>
                    <a:pt x="0" y="0"/>
                  </a:lnTo>
                  <a:lnTo>
                    <a:pt x="0" y="57492"/>
                  </a:lnTo>
                  <a:lnTo>
                    <a:pt x="25565" y="57492"/>
                  </a:lnTo>
                  <a:lnTo>
                    <a:pt x="25565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4043585" y="2812638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5">
                  <a:moveTo>
                    <a:pt x="0" y="57486"/>
                  </a:moveTo>
                  <a:lnTo>
                    <a:pt x="25558" y="57486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5748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4069143" y="2716827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25558" y="0"/>
                  </a:moveTo>
                  <a:lnTo>
                    <a:pt x="0" y="0"/>
                  </a:lnTo>
                  <a:lnTo>
                    <a:pt x="0" y="153297"/>
                  </a:lnTo>
                  <a:lnTo>
                    <a:pt x="25558" y="153297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4069143" y="2716827"/>
              <a:ext cx="26034" cy="153670"/>
            </a:xfrm>
            <a:custGeom>
              <a:avLst/>
              <a:gdLst/>
              <a:ahLst/>
              <a:cxnLst/>
              <a:rect l="l" t="t" r="r" b="b"/>
              <a:pathLst>
                <a:path w="26035" h="153669">
                  <a:moveTo>
                    <a:pt x="0" y="153297"/>
                  </a:moveTo>
                  <a:lnTo>
                    <a:pt x="25558" y="153297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5329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4350283" y="2295270"/>
              <a:ext cx="26034" cy="575310"/>
            </a:xfrm>
            <a:custGeom>
              <a:avLst/>
              <a:gdLst/>
              <a:ahLst/>
              <a:cxnLst/>
              <a:rect l="l" t="t" r="r" b="b"/>
              <a:pathLst>
                <a:path w="26035" h="575310">
                  <a:moveTo>
                    <a:pt x="25552" y="0"/>
                  </a:moveTo>
                  <a:lnTo>
                    <a:pt x="0" y="0"/>
                  </a:lnTo>
                  <a:lnTo>
                    <a:pt x="0" y="574865"/>
                  </a:lnTo>
                  <a:lnTo>
                    <a:pt x="25552" y="574865"/>
                  </a:lnTo>
                  <a:lnTo>
                    <a:pt x="25552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4350286" y="2295260"/>
              <a:ext cx="26034" cy="575310"/>
            </a:xfrm>
            <a:custGeom>
              <a:avLst/>
              <a:gdLst/>
              <a:ahLst/>
              <a:cxnLst/>
              <a:rect l="l" t="t" r="r" b="b"/>
              <a:pathLst>
                <a:path w="26035" h="575310">
                  <a:moveTo>
                    <a:pt x="0" y="574864"/>
                  </a:moveTo>
                  <a:lnTo>
                    <a:pt x="25558" y="574864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57486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4375844" y="2180287"/>
              <a:ext cx="26034" cy="690245"/>
            </a:xfrm>
            <a:custGeom>
              <a:avLst/>
              <a:gdLst/>
              <a:ahLst/>
              <a:cxnLst/>
              <a:rect l="l" t="t" r="r" b="b"/>
              <a:pathLst>
                <a:path w="26035" h="690244">
                  <a:moveTo>
                    <a:pt x="25558" y="0"/>
                  </a:moveTo>
                  <a:lnTo>
                    <a:pt x="0" y="0"/>
                  </a:lnTo>
                  <a:lnTo>
                    <a:pt x="0" y="689837"/>
                  </a:lnTo>
                  <a:lnTo>
                    <a:pt x="25558" y="689837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4375844" y="2180287"/>
              <a:ext cx="26034" cy="690245"/>
            </a:xfrm>
            <a:custGeom>
              <a:avLst/>
              <a:gdLst/>
              <a:ahLst/>
              <a:cxnLst/>
              <a:rect l="l" t="t" r="r" b="b"/>
              <a:pathLst>
                <a:path w="26035" h="690244">
                  <a:moveTo>
                    <a:pt x="0" y="689837"/>
                  </a:moveTo>
                  <a:lnTo>
                    <a:pt x="25558" y="689837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689837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4682541" y="2850972"/>
              <a:ext cx="26034" cy="19685"/>
            </a:xfrm>
            <a:custGeom>
              <a:avLst/>
              <a:gdLst/>
              <a:ahLst/>
              <a:cxnLst/>
              <a:rect l="l" t="t" r="r" b="b"/>
              <a:pathLst>
                <a:path w="26035" h="19685">
                  <a:moveTo>
                    <a:pt x="25552" y="0"/>
                  </a:moveTo>
                  <a:lnTo>
                    <a:pt x="0" y="0"/>
                  </a:lnTo>
                  <a:lnTo>
                    <a:pt x="0" y="19164"/>
                  </a:lnTo>
                  <a:lnTo>
                    <a:pt x="25552" y="19164"/>
                  </a:lnTo>
                  <a:lnTo>
                    <a:pt x="25552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4682545" y="2850962"/>
              <a:ext cx="26034" cy="19685"/>
            </a:xfrm>
            <a:custGeom>
              <a:avLst/>
              <a:gdLst/>
              <a:ahLst/>
              <a:cxnLst/>
              <a:rect l="l" t="t" r="r" b="b"/>
              <a:pathLst>
                <a:path w="26035" h="19685">
                  <a:moveTo>
                    <a:pt x="0" y="19162"/>
                  </a:moveTo>
                  <a:lnTo>
                    <a:pt x="25558" y="19162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9162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4708104" y="2735989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25558" y="0"/>
                  </a:moveTo>
                  <a:lnTo>
                    <a:pt x="0" y="0"/>
                  </a:lnTo>
                  <a:lnTo>
                    <a:pt x="0" y="134135"/>
                  </a:lnTo>
                  <a:lnTo>
                    <a:pt x="25558" y="134135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4708104" y="2735989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0" y="134135"/>
                  </a:moveTo>
                  <a:lnTo>
                    <a:pt x="25558" y="134135"/>
                  </a:lnTo>
                  <a:lnTo>
                    <a:pt x="25558" y="0"/>
                  </a:lnTo>
                  <a:lnTo>
                    <a:pt x="0" y="0"/>
                  </a:lnTo>
                  <a:lnTo>
                    <a:pt x="0" y="13413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4733662" y="2870124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>
                  <a:moveTo>
                    <a:pt x="25558" y="0"/>
                  </a:moveTo>
                  <a:lnTo>
                    <a:pt x="0" y="0"/>
                  </a:lnTo>
                  <a:lnTo>
                    <a:pt x="2555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1" name="object 371"/>
          <p:cNvSpPr txBox="1"/>
          <p:nvPr/>
        </p:nvSpPr>
        <p:spPr>
          <a:xfrm>
            <a:off x="4216679" y="2858909"/>
            <a:ext cx="315595" cy="18732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65"/>
              </a:spcBef>
            </a:pPr>
            <a:r>
              <a:rPr sz="2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r>
              <a:rPr sz="250" spc="365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250" dirty="0">
                <a:solidFill>
                  <a:srgbClr val="262626"/>
                </a:solidFill>
                <a:latin typeface="Arial MT"/>
                <a:cs typeface="Arial MT"/>
              </a:rPr>
              <a:t>0</a:t>
            </a:r>
            <a:r>
              <a:rPr sz="250" spc="380" dirty="0">
                <a:solidFill>
                  <a:srgbClr val="262626"/>
                </a:solidFill>
                <a:latin typeface="Arial MT"/>
                <a:cs typeface="Arial MT"/>
              </a:rPr>
              <a:t>  </a:t>
            </a:r>
            <a:r>
              <a:rPr sz="250" spc="-50" dirty="0">
                <a:solidFill>
                  <a:srgbClr val="262626"/>
                </a:solidFill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600" spc="-10" dirty="0">
                <a:latin typeface="Tahoma"/>
                <a:cs typeface="Tahoma"/>
              </a:rPr>
              <a:t>test </a:t>
            </a:r>
            <a:r>
              <a:rPr sz="600" spc="-20" dirty="0">
                <a:latin typeface="Tahoma"/>
                <a:cs typeface="Tahoma"/>
              </a:rPr>
              <a:t>error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72" name="object 3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05" y="71378"/>
            <a:ext cx="9227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724" y="1062332"/>
            <a:ext cx="4963376" cy="1261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900" spc="-50" dirty="0">
                <a:latin typeface="Arial MT"/>
                <a:cs typeface="Arial MT"/>
              </a:rPr>
              <a:t>loss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function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often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65" dirty="0">
                <a:latin typeface="Arial MT"/>
                <a:cs typeface="Arial MT"/>
              </a:rPr>
              <a:t>expressed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as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penalty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function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residual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75" dirty="0">
                <a:latin typeface="Lucida Sans Unicode"/>
                <a:cs typeface="Lucida Sans Unicode"/>
              </a:rPr>
              <a:t>r</a:t>
            </a:r>
            <a:r>
              <a:rPr sz="900" spc="-55" dirty="0">
                <a:latin typeface="Lucida Sans Unicode"/>
                <a:cs typeface="Lucida Sans Unicode"/>
              </a:rPr>
              <a:t> </a:t>
            </a:r>
            <a:r>
              <a:rPr sz="900" spc="-160" dirty="0">
                <a:latin typeface="Times New Roman"/>
                <a:cs typeface="Times New Roman"/>
              </a:rPr>
              <a:t>==</a:t>
            </a:r>
            <a:r>
              <a:rPr lang="en-US" sz="900" spc="-160" dirty="0">
                <a:latin typeface="Times New Roman"/>
                <a:cs typeface="Times New Roman"/>
              </a:rPr>
              <a:t>    y   ^       </a:t>
            </a:r>
            <a:r>
              <a:rPr sz="900" spc="160" dirty="0">
                <a:latin typeface="Microsoft Sans Serif"/>
                <a:cs typeface="Microsoft Sans Serif"/>
              </a:rPr>
              <a:t>—</a:t>
            </a:r>
            <a:r>
              <a:rPr sz="900" spc="-40" dirty="0">
                <a:latin typeface="Microsoft Sans Serif"/>
                <a:cs typeface="Microsoft Sans Serif"/>
              </a:rPr>
              <a:t> </a:t>
            </a:r>
            <a:r>
              <a:rPr sz="900" spc="-50" dirty="0">
                <a:latin typeface="Lucida Sans Unicode"/>
                <a:cs typeface="Lucida Sans Unicode"/>
              </a:rPr>
              <a:t>y</a:t>
            </a:r>
            <a:endParaRPr sz="900" dirty="0">
              <a:latin typeface="Lucida Sans Unicode"/>
              <a:cs typeface="Lucida Sans Unicode"/>
            </a:endParaRPr>
          </a:p>
          <a:p>
            <a:pPr marL="152400" indent="-139700">
              <a:lnSpc>
                <a:spcPct val="100000"/>
              </a:lnSpc>
              <a:spcBef>
                <a:spcPts val="860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900" dirty="0">
                <a:latin typeface="Arial MT"/>
                <a:cs typeface="Arial MT"/>
              </a:rPr>
              <a:t>the loss function expresses how we object to different values of residual</a:t>
            </a:r>
            <a:r>
              <a:rPr lang="en-US" sz="900" dirty="0">
                <a:latin typeface="Arial MT"/>
                <a:cs typeface="Arial MT"/>
              </a:rPr>
              <a:t> </a:t>
            </a:r>
            <a:endParaRPr sz="900" dirty="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spcBef>
                <a:spcPts val="865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900" dirty="0">
                <a:latin typeface="Arial MT"/>
                <a:cs typeface="Arial MT"/>
              </a:rPr>
              <a:t>different choices of loss function lead to different ERM predictors</a:t>
            </a:r>
          </a:p>
          <a:p>
            <a:pPr marL="152400" indent="-139700">
              <a:lnSpc>
                <a:spcPct val="100000"/>
              </a:lnSpc>
              <a:spcBef>
                <a:spcPts val="710"/>
              </a:spcBef>
              <a:buClr>
                <a:srgbClr val="000099"/>
              </a:buClr>
              <a:buSzPct val="72222"/>
              <a:buFont typeface="Verdana"/>
              <a:buChar char="*"/>
              <a:tabLst>
                <a:tab pos="152400" algn="l"/>
              </a:tabLst>
            </a:pPr>
            <a:r>
              <a:rPr sz="900" dirty="0">
                <a:latin typeface="Arial MT"/>
                <a:cs typeface="Arial MT"/>
              </a:rPr>
              <a:t>specific applications include</a:t>
            </a:r>
          </a:p>
          <a:p>
            <a:pPr marL="409575" lvl="1" indent="-139700">
              <a:lnSpc>
                <a:spcPct val="100000"/>
              </a:lnSpc>
              <a:spcBef>
                <a:spcPts val="615"/>
              </a:spcBef>
              <a:buClr>
                <a:srgbClr val="000099"/>
              </a:buClr>
              <a:buSzPct val="81250"/>
              <a:buFont typeface="Verdana"/>
              <a:buChar char="*"/>
              <a:tabLst>
                <a:tab pos="409575" algn="l"/>
              </a:tabLst>
            </a:pPr>
            <a:r>
              <a:rPr sz="800" dirty="0">
                <a:latin typeface="Tahoma"/>
                <a:cs typeface="Tahoma"/>
              </a:rPr>
              <a:t>robust fitting: fitting data with some outliers</a:t>
            </a:r>
          </a:p>
          <a:p>
            <a:pPr marL="409575" lvl="1" indent="-139700">
              <a:lnSpc>
                <a:spcPct val="100000"/>
              </a:lnSpc>
              <a:spcBef>
                <a:spcPts val="434"/>
              </a:spcBef>
              <a:buClr>
                <a:srgbClr val="000099"/>
              </a:buClr>
              <a:buSzPct val="81250"/>
              <a:buFont typeface="Verdana"/>
              <a:buChar char="*"/>
              <a:tabLst>
                <a:tab pos="409575" algn="l"/>
              </a:tabLst>
            </a:pPr>
            <a:r>
              <a:rPr sz="800" dirty="0">
                <a:latin typeface="Tahoma"/>
                <a:cs typeface="Tahoma"/>
              </a:rPr>
              <a:t>quantile regression: fitting data with a specified fraction of over-estimation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2168</TotalTime>
  <Words>3092</Words>
  <Application>Microsoft Office PowerPoint</Application>
  <PresentationFormat>Custom</PresentationFormat>
  <Paragraphs>740</Paragraphs>
  <Slides>43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5" baseType="lpstr">
      <vt:lpstr>Aptos</vt:lpstr>
      <vt:lpstr>Arial</vt:lpstr>
      <vt:lpstr>Arial MT</vt:lpstr>
      <vt:lpstr>Cambria Math</vt:lpstr>
      <vt:lpstr>Franklin Gothic Medium</vt:lpstr>
      <vt:lpstr>Georgia</vt:lpstr>
      <vt:lpstr>Lucida Sans Unicode</vt:lpstr>
      <vt:lpstr>Microsoft Sans Serif</vt:lpstr>
      <vt:lpstr>Tahoma</vt:lpstr>
      <vt:lpstr>Times New Roman</vt:lpstr>
      <vt:lpstr>Verdana</vt:lpstr>
      <vt:lpstr>Office Theme</vt:lpstr>
      <vt:lpstr>Machine Learning</vt:lpstr>
      <vt:lpstr>PowerPoint Presentation</vt:lpstr>
      <vt:lpstr>Constant predictors</vt:lpstr>
      <vt:lpstr>PowerPoint Presentation</vt:lpstr>
      <vt:lpstr>PowerPoint Presentation</vt:lpstr>
      <vt:lpstr>Convexity</vt:lpstr>
      <vt:lpstr>Minimizing convex functions — optimality conditions</vt:lpstr>
      <vt:lpstr>ERM and convexity</vt:lpstr>
      <vt:lpstr>PowerPoint Presentation</vt:lpstr>
      <vt:lpstr>ERM with square loss</vt:lpstr>
      <vt:lpstr>PowerPoint Presentation</vt:lpstr>
      <vt:lpstr>ERM with absolute loss</vt:lpstr>
      <vt:lpstr>ERM with absolute loss</vt:lpstr>
      <vt:lpstr>Median</vt:lpstr>
      <vt:lpstr>Median</vt:lpstr>
      <vt:lpstr>Medians minimize empirical risk with absolute loss</vt:lpstr>
      <vt:lpstr>PowerPoint Presentation</vt:lpstr>
      <vt:lpstr>Tilted absolute value function</vt:lpstr>
      <vt:lpstr>ERM with tilted absolute value loss</vt:lpstr>
      <vt:lpstr>Quantiles</vt:lpstr>
      <vt:lpstr>Quantiles</vt:lpstr>
      <vt:lpstr>τ-quantile​ minimizes empirical risk with tilted absolute loss</vt:lpstr>
      <vt:lpstr>PowerPoint Presentation</vt:lpstr>
      <vt:lpstr>ERM with fractional loss</vt:lpstr>
      <vt:lpstr>ERM with fractional loss</vt:lpstr>
      <vt:lpstr>ERM with fractional loss</vt:lpstr>
      <vt:lpstr>PowerPoint Presentation</vt:lpstr>
      <vt:lpstr>PowerPoint Presentation</vt:lpstr>
      <vt:lpstr>Loss and penalty functions</vt:lpstr>
      <vt:lpstr>Penalty functions</vt:lpstr>
      <vt:lpstr>Square versus absolute value penalty</vt:lpstr>
      <vt:lpstr>Tilted absolute penalty function</vt:lpstr>
      <vt:lpstr>Predictors and choice of penalty function</vt:lpstr>
      <vt:lpstr>Histogram of residuals</vt:lpstr>
      <vt:lpstr>PowerPoint Presentation</vt:lpstr>
      <vt:lpstr>Outliers</vt:lpstr>
      <vt:lpstr>Robust penalty functions</vt:lpstr>
      <vt:lpstr>Huber loss</vt:lpstr>
      <vt:lpstr>Huber loss</vt:lpstr>
      <vt:lpstr>Log Huber</vt:lpstr>
      <vt:lpstr>Log Huber</vt:lpstr>
      <vt:lpstr>Error histogram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 Ihsan Ullah Khalil</cp:lastModifiedBy>
  <cp:revision>14</cp:revision>
  <dcterms:created xsi:type="dcterms:W3CDTF">2026-06-27T17:54:34Z</dcterms:created>
  <dcterms:modified xsi:type="dcterms:W3CDTF">2026-09-28T14:58:56Z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2020-04-24T00:00:00Z</vt:filetime>
  </property>
  <property fmtid="{D5CDD505-2E9C-101B-9397-08002B2CF9AE}" pid="4" name="Creator">
    <vt:lpwstr>LaTeX with hyperref</vt:lpwstr>
  </property>
  <property fmtid="{D5CDD505-2E9C-101B-9397-08002B2CF9AE}" pid="5" name="LastSaved">
    <vt:filetime>2026-06-27T00:00:00Z</vt:filetime>
  </property>
  <property fmtid="{D5CDD505-2E9C-101B-9397-08002B2CF9AE}" pid="6" name="PTEX.Fullbanner">
    <vt:lpwstr>This is pdfTeX, Version 3.14159265-2.6-1.40.20 (TeX Live 2019 Gentoo Linux) kpathsea version 6.3.1</vt:lpwstr>
  </property>
  <property fmtid="{D5CDD505-2E9C-101B-9397-08002B2CF9AE}" pid="7" name="Producer">
    <vt:lpwstr>pdfTeX-1.40.20</vt:lpwstr>
  </property>
</Properties>
</file>